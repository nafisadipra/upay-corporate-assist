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d4bce8335b4d68" /><Relationship Type="http://schemas.openxmlformats.org/officeDocument/2006/relationships/extended-properties" Target="/docProps/app.xml" Id="Rf5e0f1d4fbd94964" /><Relationship Type="http://schemas.openxmlformats.org/officeDocument/2006/relationships/officeDocument" Target="/ppt/presentation.xml" Id="Rbea307ab70c9497d" /></Relationships>
</file>

<file path=ppt/presentation.xml><?xml version="1.0" encoding="utf-8"?>
<p:presentation xmlns:p="http://schemas.openxmlformats.org/presentationml/2006/main">
  <p:sldMasterIdLst>
    <p:sldMasterId xmlns:r="http://schemas.openxmlformats.org/officeDocument/2006/relationships" id="2147483648" r:id="R9fdd34923c194ba9"/>
  </p:sldMasterIdLst>
  <p:notesMasterIdLst>
    <p:notesMasterId xmlns:r="http://schemas.openxmlformats.org/officeDocument/2006/relationships" r:id="R15a24600c9994fda"/>
  </p:notesMasterIdLst>
  <p:sldIdLst>
    <p:sldId xmlns:r="http://schemas.openxmlformats.org/officeDocument/2006/relationships" id="256" r:id="R367aa5e0271c49b8"/>
    <p:sldId xmlns:r="http://schemas.openxmlformats.org/officeDocument/2006/relationships" id="257" r:id="R0a68a8a57b734f70"/>
    <p:sldId xmlns:r="http://schemas.openxmlformats.org/officeDocument/2006/relationships" id="258" r:id="Rad981357d7a1402c"/>
    <p:sldId xmlns:r="http://schemas.openxmlformats.org/officeDocument/2006/relationships" id="259" r:id="R5c6a9f7245b54476"/>
    <p:sldId xmlns:r="http://schemas.openxmlformats.org/officeDocument/2006/relationships" id="260" r:id="Ra9f491c32113486e"/>
    <p:sldId xmlns:r="http://schemas.openxmlformats.org/officeDocument/2006/relationships" id="261" r:id="R2ea204c403374f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a104f8a10641ff" /><Relationship Type="http://schemas.openxmlformats.org/officeDocument/2006/relationships/slideMaster" Target="/ppt/slideMasters/slideMaster1.xml" Id="R9fdd34923c194ba9" /><Relationship Type="http://schemas.openxmlformats.org/officeDocument/2006/relationships/notesMaster" Target="/ppt/notesMasters/notesMaster1.xml" Id="R15a24600c9994fda" /><Relationship Type="http://schemas.openxmlformats.org/officeDocument/2006/relationships/presProps" Target="/ppt/presProps.xml" Id="R6298e3d77802486f" /><Relationship Type="http://schemas.openxmlformats.org/officeDocument/2006/relationships/tableStyles" Target="/ppt/tableStyles.xml" Id="Re065c067d06a437e" /><Relationship Type="http://schemas.openxmlformats.org/officeDocument/2006/relationships/slide" Target="/ppt/slides/slide1.xml" Id="R367aa5e0271c49b8" /><Relationship Type="http://schemas.openxmlformats.org/officeDocument/2006/relationships/slide" Target="/ppt/slides/slide2.xml" Id="R0a68a8a57b734f70" /><Relationship Type="http://schemas.openxmlformats.org/officeDocument/2006/relationships/slide" Target="/ppt/slides/slide3.xml" Id="Rad981357d7a1402c" /><Relationship Type="http://schemas.openxmlformats.org/officeDocument/2006/relationships/slide" Target="/ppt/slides/slide4.xml" Id="R5c6a9f7245b54476" /><Relationship Type="http://schemas.openxmlformats.org/officeDocument/2006/relationships/slide" Target="/ppt/slides/slide5.xml" Id="Ra9f491c32113486e" /><Relationship Type="http://schemas.openxmlformats.org/officeDocument/2006/relationships/slide" Target="/ppt/slides/slide6.xml" Id="R2ea204c403374f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e74d751bf746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be0f862cc5465e" /><Relationship Type="http://schemas.openxmlformats.org/officeDocument/2006/relationships/notesMaster" Target="/ppt/notesMasters/notesMaster1.xml" Id="Rfee2f434a97940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b46c5c69c04424" /><Relationship Type="http://schemas.openxmlformats.org/officeDocument/2006/relationships/notesMaster" Target="/ppt/notesMasters/notesMaster1.xml" Id="R1dfab3eb0e4a41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f9efb566964e73" /><Relationship Type="http://schemas.openxmlformats.org/officeDocument/2006/relationships/notesMaster" Target="/ppt/notesMasters/notesMaster1.xml" Id="R2ecf91dd3d3545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23e2b7b9cb4708" /><Relationship Type="http://schemas.openxmlformats.org/officeDocument/2006/relationships/notesMaster" Target="/ppt/notesMasters/notesMaster1.xml" Id="Rc9a12326623146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ca61b84ebd41e2" /><Relationship Type="http://schemas.openxmlformats.org/officeDocument/2006/relationships/notesMaster" Target="/ppt/notesMasters/notesMaster1.xml" Id="R4a7e3ccaf0e242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69823c1cf14065" /><Relationship Type="http://schemas.openxmlformats.org/officeDocument/2006/relationships/notesMaster" Target="/ppt/notesMasters/notesMaster1.xml" Id="Rc06337d30c694d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Introduce upay Corporate Assist as a proposed platform for safer and more visible corporate payroll operations. Explain that the presentation covers the business problem, the solution, the main features, the workflow, and the delivery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Explain that payroll risk does not come from one single issue. It comes from file quality, approval control, wallet readiness, and audit evidence. The proposal addresses all four in one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Introduce the three user groups. HR prepares the payroll, finance independently reviews it, and upay operations manages the corporate relationship and wallet. All interfaces use the same backend rules and tenant-scoped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Focus on the first four capabilities as the operational core. Then position the audit trail as evidence for support and compliance, and forecasting as a planning feature that uses only each company’s own payroll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Walk left to right. Validation happens before submission. Finance provides the independent decision. HR can execute only after approval. Successful execution updates the wallet and payroll history, which then supports future forecasting.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Close with a practical request: approve a pilot involving one corporate client and named users for each role. The pilot should validate file quality, approval timing, wallet operations, and reporting before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82b41b328c47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32ab0e277d4996" /><Relationship Type="http://schemas.openxmlformats.org/officeDocument/2006/relationships/slideLayout" Target="/ppt/slideLayouts/slideLayout1.xml" Id="R4762f36c8bf149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62f36c8bf149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f5a1df3e514331" /><Relationship Type="http://schemas.openxmlformats.org/officeDocument/2006/relationships/notesSlide" Target="/ppt/notesSlides/notesSlide1.xml" Id="R0b2997fad99641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c81eb7cc9144d6" /><Relationship Type="http://schemas.openxmlformats.org/officeDocument/2006/relationships/notesSlide" Target="/ppt/notesSlides/notesSlide2.xml" Id="R9cb9dbf63e6f4f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1bc4fbd0114f02" /><Relationship Type="http://schemas.openxmlformats.org/officeDocument/2006/relationships/notesSlide" Target="/ppt/notesSlides/notesSlide3.xml" Id="R45a805c9682f45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63559b7ef04873" /><Relationship Type="http://schemas.openxmlformats.org/officeDocument/2006/relationships/notesSlide" Target="/ppt/notesSlides/notesSlide4.xml" Id="Reebb99c2f52e4c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e679b4f5654f87" /><Relationship Type="http://schemas.openxmlformats.org/officeDocument/2006/relationships/notesSlide" Target="/ppt/notesSlides/notesSlide5.xml" Id="R6ba4051764f945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9a7cb104f74498" /><Relationship Type="http://schemas.openxmlformats.org/officeDocument/2006/relationships/notesSlide" Target="/ppt/notesSlides/notesSlide6.xml" Id="R1c2a9ce187a74631" /></Relationships>
</file>

<file path=ppt/slides/slide1.xml><?xml version="1.0" encoding="utf-8"?>
<p:sld xmlns:p="http://schemas.openxmlformats.org/presentationml/2006/main">
  <p:cSld>
    <p:bg>
      <p:bgPr>
        <a:solidFill xmlns:a="http://schemas.openxmlformats.org/drawingml/2006/main">
          <a:srgbClr val="0A192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6B9A256-6F79-4816-AE50-2430F617FBB5}"/>
              </a:ext>
            </a:extLst>
          </p:cNvPr>
          <p:cNvSpPr>
            <a:spLocks xmlns:a="http://schemas.openxmlformats.org/drawingml/2006/main" noGrp="1"/>
          </p:cNvSpPr>
          <p:nvPr/>
        </p:nvSpPr>
        <p:spPr>
          <a:xfrm xmlns:a="http://schemas.openxmlformats.org/drawingml/2006/main">
            <a:off x="11239500" y="62865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AFC2DA"/>
                </a:solidFill>
                <a:latin typeface="Aptos"/>
                <a:ea typeface="Aptos"/>
                <a:cs typeface="Aptos"/>
              </a:defRPr>
            </a:pPr>
            <a:r>
              <a:rPr sz="900" b="1">
                <a:solidFill>
                  <a:srgbClr val="AFC2DA"/>
                </a:solidFill>
                <a:latin typeface="Aptos"/>
                <a:ea typeface="Aptos"/>
                <a:cs typeface="Aptos"/>
              </a:rPr>
              <a:t>01</a:t>
            </a:r>
          </a:p>
        </p:txBody>
      </p:sp>
      <p:sp>
        <p:nvSpPr>
          <p:cNvPr id="2" name="">
            <a:extLst xmlns:a="http://schemas.openxmlformats.org/drawingml/2006/main">
              <a:ext uri="{FF2B5EF4-FFF2-40B4-BE49-F238E27FC236}">
                <a16:creationId xmlns:a16="http://schemas.microsoft.com/office/drawing/2014/main" id="{E6958C02-3ACD-4F14-905B-3BD3E95959C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9AB377-5864-4361-BD4C-4E4BC5A25265}"/>
              </a:ext>
            </a:extLst>
          </p:cNvPr>
          <p:cNvSpPr>
            <a:spLocks xmlns:a="http://schemas.openxmlformats.org/drawingml/2006/main" noGrp="1"/>
          </p:cNvSpPr>
          <p:nvPr/>
        </p:nvSpPr>
        <p:spPr>
          <a:xfrm xmlns:a="http://schemas.openxmlformats.org/drawingml/2006/main">
            <a:off x="742950" y="70485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C700"/>
                </a:solidFill>
                <a:latin typeface="Aptos"/>
                <a:ea typeface="Aptos"/>
                <a:cs typeface="Aptos"/>
              </a:defRPr>
            </a:pPr>
            <a:r>
              <a:rPr sz="2550" b="1">
                <a:solidFill>
                  <a:srgbClr val="FFC700"/>
                </a:solidFill>
                <a:latin typeface="Aptos"/>
                <a:ea typeface="Aptos"/>
                <a:cs typeface="Aptos"/>
              </a:rPr>
              <a:t>upay</a:t>
            </a:r>
          </a:p>
        </p:txBody>
      </p:sp>
      <p:sp>
        <p:nvSpPr>
          <p:cNvPr id="4" name="">
            <a:extLst xmlns:a="http://schemas.openxmlformats.org/drawingml/2006/main">
              <a:ext uri="{FF2B5EF4-FFF2-40B4-BE49-F238E27FC236}">
                <a16:creationId xmlns:a16="http://schemas.microsoft.com/office/drawing/2014/main" id="{6BC7C061-A585-46FF-91C2-89ECDB52ABFB}"/>
              </a:ext>
            </a:extLst>
          </p:cNvPr>
          <p:cNvSpPr>
            <a:spLocks xmlns:a="http://schemas.openxmlformats.org/drawingml/2006/main" noGrp="1"/>
          </p:cNvSpPr>
          <p:nvPr/>
        </p:nvSpPr>
        <p:spPr>
          <a:xfrm xmlns:a="http://schemas.openxmlformats.org/drawingml/2006/main">
            <a:off x="723900" y="1714500"/>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1">
                <a:solidFill>
                  <a:srgbClr val="FFFFFF"/>
                </a:solidFill>
                <a:latin typeface="Aptos"/>
                <a:ea typeface="Aptos"/>
                <a:cs typeface="Aptos"/>
              </a:defRPr>
            </a:pPr>
            <a:r>
              <a:rPr sz="4050" b="1">
                <a:solidFill>
                  <a:srgbClr val="FFFFFF"/>
                </a:solidFill>
                <a:latin typeface="Aptos"/>
                <a:ea typeface="Aptos"/>
                <a:cs typeface="Aptos"/>
              </a:rPr>
              <a:t>Corporate Assist</a:t>
            </a:r>
          </a:p>
        </p:txBody>
      </p:sp>
      <p:sp>
        <p:nvSpPr>
          <p:cNvPr id="5" name="">
            <a:extLst xmlns:a="http://schemas.openxmlformats.org/drawingml/2006/main">
              <a:ext uri="{FF2B5EF4-FFF2-40B4-BE49-F238E27FC236}">
                <a16:creationId xmlns:a16="http://schemas.microsoft.com/office/drawing/2014/main" id="{2C1D80CC-9238-491E-88F0-6981BD941DA5}"/>
              </a:ext>
            </a:extLst>
          </p:cNvPr>
          <p:cNvSpPr>
            <a:spLocks xmlns:a="http://schemas.openxmlformats.org/drawingml/2006/main" noGrp="1"/>
          </p:cNvSpPr>
          <p:nvPr/>
        </p:nvSpPr>
        <p:spPr>
          <a:xfrm xmlns:a="http://schemas.openxmlformats.org/drawingml/2006/main">
            <a:off x="742950" y="2724150"/>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C7D4E4"/>
                </a:solidFill>
                <a:latin typeface="Aptos"/>
                <a:ea typeface="Aptos"/>
                <a:cs typeface="Aptos"/>
              </a:defRPr>
            </a:pPr>
            <a:r>
              <a:rPr sz="1875" b="0">
                <a:solidFill>
                  <a:srgbClr val="C7D4E4"/>
                </a:solidFill>
                <a:latin typeface="Aptos"/>
                <a:ea typeface="Aptos"/>
                <a:cs typeface="Aptos"/>
              </a:rPr>
              <a:t>A controlled payroll-disbursement platform for corporate teams</a:t>
            </a:r>
          </a:p>
        </p:txBody>
      </p:sp>
      <p:sp>
        <p:nvSpPr>
          <p:cNvPr id="6" name="">
            <a:extLst xmlns:a="http://schemas.openxmlformats.org/drawingml/2006/main">
              <a:ext uri="{FF2B5EF4-FFF2-40B4-BE49-F238E27FC236}">
                <a16:creationId xmlns:a16="http://schemas.microsoft.com/office/drawing/2014/main" id="{88282F04-D4D7-495B-8CAE-7F0E170CA5C0}"/>
              </a:ext>
            </a:extLst>
          </p:cNvPr>
          <p:cNvSpPr>
            <a:spLocks xmlns:a="http://schemas.openxmlformats.org/drawingml/2006/main" noGrp="1"/>
          </p:cNvSpPr>
          <p:nvPr/>
        </p:nvSpPr>
        <p:spPr>
          <a:xfrm xmlns:a="http://schemas.openxmlformats.org/drawingml/2006/main">
            <a:off x="742950" y="3810000"/>
            <a:ext cx="1666875" cy="47625"/>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39C67F1-5337-4437-933C-F21459487989}"/>
              </a:ext>
            </a:extLst>
          </p:cNvPr>
          <p:cNvSpPr>
            <a:spLocks xmlns:a="http://schemas.openxmlformats.org/drawingml/2006/main" noGrp="1"/>
          </p:cNvSpPr>
          <p:nvPr/>
        </p:nvSpPr>
        <p:spPr>
          <a:xfrm xmlns:a="http://schemas.openxmlformats.org/drawingml/2006/main">
            <a:off x="742950" y="4095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C700"/>
                </a:solidFill>
                <a:latin typeface="Aptos"/>
                <a:ea typeface="Aptos"/>
                <a:cs typeface="Aptos"/>
              </a:defRPr>
            </a:pPr>
            <a:r>
              <a:rPr sz="1125" b="1">
                <a:solidFill>
                  <a:srgbClr val="FFC700"/>
                </a:solidFill>
                <a:latin typeface="Aptos"/>
                <a:ea typeface="Aptos"/>
                <a:cs typeface="Aptos"/>
              </a:rPr>
              <a:t>PROJECT PROPOSAL</a:t>
            </a:r>
          </a:p>
        </p:txBody>
      </p:sp>
      <p:sp>
        <p:nvSpPr>
          <p:cNvPr id="8" name="">
            <a:extLst xmlns:a="http://schemas.openxmlformats.org/drawingml/2006/main">
              <a:ext uri="{FF2B5EF4-FFF2-40B4-BE49-F238E27FC236}">
                <a16:creationId xmlns:a16="http://schemas.microsoft.com/office/drawing/2014/main" id="{87FB7962-3A11-43A4-B6D8-3F1EDF846B9B}"/>
              </a:ext>
            </a:extLst>
          </p:cNvPr>
          <p:cNvSpPr>
            <a:spLocks xmlns:a="http://schemas.openxmlformats.org/drawingml/2006/main" noGrp="1"/>
          </p:cNvSpPr>
          <p:nvPr/>
        </p:nvSpPr>
        <p:spPr>
          <a:xfrm xmlns:a="http://schemas.openxmlformats.org/drawingml/2006/main">
            <a:off x="742950" y="44577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C7D4E4"/>
                </a:solidFill>
                <a:latin typeface="Aptos"/>
                <a:ea typeface="Aptos"/>
                <a:cs typeface="Aptos"/>
              </a:defRPr>
            </a:pPr>
            <a:r>
              <a:rPr sz="1275" b="0">
                <a:solidFill>
                  <a:srgbClr val="C7D4E4"/>
                </a:solidFill>
                <a:latin typeface="Aptos"/>
                <a:ea typeface="Aptos"/>
                <a:cs typeface="Aptos"/>
              </a:rPr>
              <a:t>5-minute overview</a:t>
            </a:r>
          </a:p>
        </p:txBody>
      </p:sp>
      <p:sp>
        <p:nvSpPr>
          <p:cNvPr id="9" name="">
            <a:extLst xmlns:a="http://schemas.openxmlformats.org/drawingml/2006/main">
              <a:ext uri="{FF2B5EF4-FFF2-40B4-BE49-F238E27FC236}">
                <a16:creationId xmlns:a16="http://schemas.microsoft.com/office/drawing/2014/main" id="{64F4AF55-27F1-4D6C-A03D-FF265A5AFBA2}"/>
              </a:ext>
            </a:extLst>
          </p:cNvPr>
          <p:cNvSpPr>
            <a:spLocks xmlns:a="http://schemas.openxmlformats.org/drawingml/2006/main" noGrp="1"/>
          </p:cNvSpPr>
          <p:nvPr/>
        </p:nvSpPr>
        <p:spPr>
          <a:xfrm xmlns:a="http://schemas.openxmlformats.org/drawingml/2006/main">
            <a:off x="8477250" y="1285875"/>
            <a:ext cx="2381250" cy="3905250"/>
          </a:xfrm>
          <a:prstGeom xmlns:a="http://schemas.openxmlformats.org/drawingml/2006/main" prst="roundRect">
            <a:avLst>
              <a:gd name="adj" fmla="val 3200"/>
            </a:avLst>
          </a:prstGeom>
          <a:solidFill xmlns:a="http://schemas.openxmlformats.org/drawingml/2006/main">
            <a:srgbClr val="102945"/>
          </a:solidFill>
          <a:ln xmlns:a="http://schemas.openxmlformats.org/drawingml/2006/main" w="9525">
            <a:solidFill>
              <a:srgbClr val="254566"/>
            </a:solidFill>
          </a:ln>
        </p:spPr>
      </p:sp>
      <p:sp>
        <p:nvSpPr>
          <p:cNvPr id="10" name="">
            <a:extLst xmlns:a="http://schemas.openxmlformats.org/drawingml/2006/main">
              <a:ext uri="{FF2B5EF4-FFF2-40B4-BE49-F238E27FC236}">
                <a16:creationId xmlns:a16="http://schemas.microsoft.com/office/drawing/2014/main" id="{8B28E1AA-4074-4DEF-B033-29084E9A49D6}"/>
              </a:ext>
            </a:extLst>
          </p:cNvPr>
          <p:cNvSpPr>
            <a:spLocks xmlns:a="http://schemas.openxmlformats.org/drawingml/2006/main" noGrp="1"/>
          </p:cNvSpPr>
          <p:nvPr/>
        </p:nvSpPr>
        <p:spPr>
          <a:xfrm xmlns:a="http://schemas.openxmlformats.org/drawingml/2006/main">
            <a:off x="8858250" y="1809750"/>
            <a:ext cx="323850" cy="323850"/>
          </a:xfrm>
          <a:prstGeom xmlns:a="http://schemas.openxmlformats.org/drawingml/2006/main" prst="roundRect">
            <a:avLst>
              <a:gd name="adj" fmla="val 23529"/>
            </a:avLst>
          </a:prstGeom>
          <a:solidFill xmlns:a="http://schemas.openxmlformats.org/drawingml/2006/main">
            <a:srgbClr val="004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B9A0E4-99F7-4BBE-9A5C-9C2DEC319A02}"/>
              </a:ext>
            </a:extLst>
          </p:cNvPr>
          <p:cNvSpPr>
            <a:spLocks xmlns:a="http://schemas.openxmlformats.org/drawingml/2006/main" noGrp="1"/>
          </p:cNvSpPr>
          <p:nvPr/>
        </p:nvSpPr>
        <p:spPr>
          <a:xfrm xmlns:a="http://schemas.openxmlformats.org/drawingml/2006/main">
            <a:off x="9429750" y="1866900"/>
            <a:ext cx="1000125" cy="76200"/>
          </a:xfrm>
          <a:prstGeom xmlns:a="http://schemas.openxmlformats.org/drawingml/2006/main" prst="roundRect">
            <a:avLst>
              <a:gd name="adj" fmla="val 50000"/>
            </a:avLst>
          </a:prstGeom>
          <a:solidFill xmlns:a="http://schemas.openxmlformats.org/drawingml/2006/main">
            <a:srgbClr val="5E789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78EE32D-3BD8-4831-A9F1-F5EBE2BEE3EB}"/>
              </a:ext>
            </a:extLst>
          </p:cNvPr>
          <p:cNvSpPr>
            <a:spLocks xmlns:a="http://schemas.openxmlformats.org/drawingml/2006/main" noGrp="1"/>
          </p:cNvSpPr>
          <p:nvPr/>
        </p:nvSpPr>
        <p:spPr>
          <a:xfrm xmlns:a="http://schemas.openxmlformats.org/drawingml/2006/main">
            <a:off x="9429750" y="2038350"/>
            <a:ext cx="714375" cy="57150"/>
          </a:xfrm>
          <a:prstGeom xmlns:a="http://schemas.openxmlformats.org/drawingml/2006/main" prst="roundRect">
            <a:avLst>
              <a:gd name="adj" fmla="val 50000"/>
            </a:avLst>
          </a:prstGeom>
          <a:solidFill xmlns:a="http://schemas.openxmlformats.org/drawingml/2006/main">
            <a:srgbClr val="2845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B133A7-300D-4CA4-B837-48DAF2C1D156}"/>
              </a:ext>
            </a:extLst>
          </p:cNvPr>
          <p:cNvSpPr>
            <a:spLocks xmlns:a="http://schemas.openxmlformats.org/drawingml/2006/main" noGrp="1"/>
          </p:cNvSpPr>
          <p:nvPr/>
        </p:nvSpPr>
        <p:spPr>
          <a:xfrm xmlns:a="http://schemas.openxmlformats.org/drawingml/2006/main">
            <a:off x="8858250" y="2381250"/>
            <a:ext cx="323850" cy="323850"/>
          </a:xfrm>
          <a:prstGeom xmlns:a="http://schemas.openxmlformats.org/drawingml/2006/main" prst="roundRect">
            <a:avLst>
              <a:gd name="adj" fmla="val 23529"/>
            </a:avLst>
          </a:prstGeom>
          <a:solidFill xmlns:a="http://schemas.openxmlformats.org/drawingml/2006/main">
            <a:srgbClr val="0047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645BD7C-DDC9-4042-8898-17B62FED2F50}"/>
              </a:ext>
            </a:extLst>
          </p:cNvPr>
          <p:cNvSpPr>
            <a:spLocks xmlns:a="http://schemas.openxmlformats.org/drawingml/2006/main" noGrp="1"/>
          </p:cNvSpPr>
          <p:nvPr/>
        </p:nvSpPr>
        <p:spPr>
          <a:xfrm xmlns:a="http://schemas.openxmlformats.org/drawingml/2006/main">
            <a:off x="9429750" y="2438400"/>
            <a:ext cx="1428750" cy="76200"/>
          </a:xfrm>
          <a:prstGeom xmlns:a="http://schemas.openxmlformats.org/drawingml/2006/main" prst="roundRect">
            <a:avLst>
              <a:gd name="adj" fmla="val 50000"/>
            </a:avLst>
          </a:prstGeom>
          <a:solidFill xmlns:a="http://schemas.openxmlformats.org/drawingml/2006/main">
            <a:srgbClr val="5E789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CE39FC-29B4-4912-94D3-9648BB6F7E93}"/>
              </a:ext>
            </a:extLst>
          </p:cNvPr>
          <p:cNvSpPr>
            <a:spLocks xmlns:a="http://schemas.openxmlformats.org/drawingml/2006/main" noGrp="1"/>
          </p:cNvSpPr>
          <p:nvPr/>
        </p:nvSpPr>
        <p:spPr>
          <a:xfrm xmlns:a="http://schemas.openxmlformats.org/drawingml/2006/main">
            <a:off x="9429750" y="2609850"/>
            <a:ext cx="952500" cy="57150"/>
          </a:xfrm>
          <a:prstGeom xmlns:a="http://schemas.openxmlformats.org/drawingml/2006/main" prst="roundRect">
            <a:avLst>
              <a:gd name="adj" fmla="val 50000"/>
            </a:avLst>
          </a:prstGeom>
          <a:solidFill xmlns:a="http://schemas.openxmlformats.org/drawingml/2006/main">
            <a:srgbClr val="284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4A656AF-9287-4A82-ABF2-A56160A5D191}"/>
              </a:ext>
            </a:extLst>
          </p:cNvPr>
          <p:cNvSpPr>
            <a:spLocks xmlns:a="http://schemas.openxmlformats.org/drawingml/2006/main" noGrp="1"/>
          </p:cNvSpPr>
          <p:nvPr/>
        </p:nvSpPr>
        <p:spPr>
          <a:xfrm xmlns:a="http://schemas.openxmlformats.org/drawingml/2006/main">
            <a:off x="8858250" y="2952750"/>
            <a:ext cx="323850" cy="323850"/>
          </a:xfrm>
          <a:prstGeom xmlns:a="http://schemas.openxmlformats.org/drawingml/2006/main" prst="roundRect">
            <a:avLst>
              <a:gd name="adj" fmla="val 23529"/>
            </a:avLst>
          </a:prstGeom>
          <a:solidFill xmlns:a="http://schemas.openxmlformats.org/drawingml/2006/main">
            <a:srgbClr val="0047B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EEB3EE-21B4-42DB-8A45-E5169A0E42F8}"/>
              </a:ext>
            </a:extLst>
          </p:cNvPr>
          <p:cNvSpPr>
            <a:spLocks xmlns:a="http://schemas.openxmlformats.org/drawingml/2006/main" noGrp="1"/>
          </p:cNvSpPr>
          <p:nvPr/>
        </p:nvSpPr>
        <p:spPr>
          <a:xfrm xmlns:a="http://schemas.openxmlformats.org/drawingml/2006/main">
            <a:off x="9429750" y="3009900"/>
            <a:ext cx="1000125" cy="76200"/>
          </a:xfrm>
          <a:prstGeom xmlns:a="http://schemas.openxmlformats.org/drawingml/2006/main" prst="roundRect">
            <a:avLst>
              <a:gd name="adj" fmla="val 50000"/>
            </a:avLst>
          </a:prstGeom>
          <a:solidFill xmlns:a="http://schemas.openxmlformats.org/drawingml/2006/main">
            <a:srgbClr val="5E789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B981EBC-301A-4662-B65C-7A5358E7826F}"/>
              </a:ext>
            </a:extLst>
          </p:cNvPr>
          <p:cNvSpPr>
            <a:spLocks xmlns:a="http://schemas.openxmlformats.org/drawingml/2006/main" noGrp="1"/>
          </p:cNvSpPr>
          <p:nvPr/>
        </p:nvSpPr>
        <p:spPr>
          <a:xfrm xmlns:a="http://schemas.openxmlformats.org/drawingml/2006/main">
            <a:off x="9429750" y="3181350"/>
            <a:ext cx="1190625" cy="57150"/>
          </a:xfrm>
          <a:prstGeom xmlns:a="http://schemas.openxmlformats.org/drawingml/2006/main" prst="roundRect">
            <a:avLst>
              <a:gd name="adj" fmla="val 50000"/>
            </a:avLst>
          </a:prstGeom>
          <a:solidFill xmlns:a="http://schemas.openxmlformats.org/drawingml/2006/main">
            <a:srgbClr val="28456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04783A1-1916-4792-8A82-35CE8F19811E}"/>
              </a:ext>
            </a:extLst>
          </p:cNvPr>
          <p:cNvSpPr>
            <a:spLocks xmlns:a="http://schemas.openxmlformats.org/drawingml/2006/main" noGrp="1"/>
          </p:cNvSpPr>
          <p:nvPr/>
        </p:nvSpPr>
        <p:spPr>
          <a:xfrm xmlns:a="http://schemas.openxmlformats.org/drawingml/2006/main">
            <a:off x="8858250" y="3524250"/>
            <a:ext cx="323850" cy="323850"/>
          </a:xfrm>
          <a:prstGeom xmlns:a="http://schemas.openxmlformats.org/drawingml/2006/main" prst="roundRect">
            <a:avLst>
              <a:gd name="adj" fmla="val 23529"/>
            </a:avLst>
          </a:prstGeom>
          <a:solidFill xmlns:a="http://schemas.openxmlformats.org/drawingml/2006/main">
            <a:srgbClr val="0047B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2381DA3-8582-4813-A7AD-A57FA75EC428}"/>
              </a:ext>
            </a:extLst>
          </p:cNvPr>
          <p:cNvSpPr>
            <a:spLocks xmlns:a="http://schemas.openxmlformats.org/drawingml/2006/main" noGrp="1"/>
          </p:cNvSpPr>
          <p:nvPr/>
        </p:nvSpPr>
        <p:spPr>
          <a:xfrm xmlns:a="http://schemas.openxmlformats.org/drawingml/2006/main">
            <a:off x="9429750" y="3581400"/>
            <a:ext cx="1428750" cy="76200"/>
          </a:xfrm>
          <a:prstGeom xmlns:a="http://schemas.openxmlformats.org/drawingml/2006/main" prst="roundRect">
            <a:avLst>
              <a:gd name="adj" fmla="val 50000"/>
            </a:avLst>
          </a:prstGeom>
          <a:solidFill xmlns:a="http://schemas.openxmlformats.org/drawingml/2006/main">
            <a:srgbClr val="5E789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767C982-EC31-43D3-9575-6F71DCB7A0E6}"/>
              </a:ext>
            </a:extLst>
          </p:cNvPr>
          <p:cNvSpPr>
            <a:spLocks xmlns:a="http://schemas.openxmlformats.org/drawingml/2006/main" noGrp="1"/>
          </p:cNvSpPr>
          <p:nvPr/>
        </p:nvSpPr>
        <p:spPr>
          <a:xfrm xmlns:a="http://schemas.openxmlformats.org/drawingml/2006/main">
            <a:off x="9429750" y="3752850"/>
            <a:ext cx="714375" cy="57150"/>
          </a:xfrm>
          <a:prstGeom xmlns:a="http://schemas.openxmlformats.org/drawingml/2006/main" prst="roundRect">
            <a:avLst>
              <a:gd name="adj" fmla="val 50000"/>
            </a:avLst>
          </a:prstGeom>
          <a:solidFill xmlns:a="http://schemas.openxmlformats.org/drawingml/2006/main">
            <a:srgbClr val="284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24501AA-BC1D-452D-806C-8FBA2DC4B98A}"/>
              </a:ext>
            </a:extLst>
          </p:cNvPr>
          <p:cNvSpPr>
            <a:spLocks xmlns:a="http://schemas.openxmlformats.org/drawingml/2006/main" noGrp="1"/>
          </p:cNvSpPr>
          <p:nvPr/>
        </p:nvSpPr>
        <p:spPr>
          <a:xfrm xmlns:a="http://schemas.openxmlformats.org/drawingml/2006/main">
            <a:off x="8858250" y="4095750"/>
            <a:ext cx="323850" cy="323850"/>
          </a:xfrm>
          <a:prstGeom xmlns:a="http://schemas.openxmlformats.org/drawingml/2006/main" prst="roundRect">
            <a:avLst>
              <a:gd name="adj" fmla="val 23529"/>
            </a:avLst>
          </a:prstGeom>
          <a:solidFill xmlns:a="http://schemas.openxmlformats.org/drawingml/2006/main">
            <a:srgbClr val="FFC70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2000B07-8E20-497D-A8AD-7E0C7914DAF4}"/>
              </a:ext>
            </a:extLst>
          </p:cNvPr>
          <p:cNvSpPr>
            <a:spLocks xmlns:a="http://schemas.openxmlformats.org/drawingml/2006/main" noGrp="1"/>
          </p:cNvSpPr>
          <p:nvPr/>
        </p:nvSpPr>
        <p:spPr>
          <a:xfrm xmlns:a="http://schemas.openxmlformats.org/drawingml/2006/main">
            <a:off x="9429750" y="4152900"/>
            <a:ext cx="1000125" cy="76200"/>
          </a:xfrm>
          <a:prstGeom xmlns:a="http://schemas.openxmlformats.org/drawingml/2006/main" prst="roundRect">
            <a:avLst>
              <a:gd name="adj" fmla="val 50000"/>
            </a:avLst>
          </a:prstGeom>
          <a:solidFill xmlns:a="http://schemas.openxmlformats.org/drawingml/2006/main">
            <a:srgbClr val="5E789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784CFCD-F468-4EB0-BD46-3D26B52855EB}"/>
              </a:ext>
            </a:extLst>
          </p:cNvPr>
          <p:cNvSpPr>
            <a:spLocks xmlns:a="http://schemas.openxmlformats.org/drawingml/2006/main" noGrp="1"/>
          </p:cNvSpPr>
          <p:nvPr/>
        </p:nvSpPr>
        <p:spPr>
          <a:xfrm xmlns:a="http://schemas.openxmlformats.org/drawingml/2006/main">
            <a:off x="9429750" y="4324350"/>
            <a:ext cx="952500" cy="57150"/>
          </a:xfrm>
          <a:prstGeom xmlns:a="http://schemas.openxmlformats.org/drawingml/2006/main" prst="roundRect">
            <a:avLst>
              <a:gd name="adj" fmla="val 50000"/>
            </a:avLst>
          </a:prstGeom>
          <a:solidFill xmlns:a="http://schemas.openxmlformats.org/drawingml/2006/main">
            <a:srgbClr val="28456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38430E4-FB80-41E9-8515-D1276E28B32F}"/>
              </a:ext>
            </a:extLst>
          </p:cNvPr>
          <p:cNvSpPr>
            <a:spLocks xmlns:a="http://schemas.openxmlformats.org/drawingml/2006/main" noGrp="1"/>
          </p:cNvSpPr>
          <p:nvPr/>
        </p:nvSpPr>
        <p:spPr>
          <a:xfrm xmlns:a="http://schemas.openxmlformats.org/drawingml/2006/main">
            <a:off x="8782050" y="4524375"/>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0A192F"/>
                </a:solidFill>
                <a:latin typeface="Aptos"/>
                <a:ea typeface="Aptos"/>
                <a:cs typeface="Aptos"/>
              </a:defRPr>
            </a:pPr>
            <a:r>
              <a:rPr sz="2250" b="1">
                <a:solidFill>
                  <a:srgbClr val="0A192F"/>
                </a:solidFill>
                <a:latin typeface="Aptos"/>
                <a:ea typeface="Aptos"/>
                <a:cs typeface="Aptos"/>
              </a:rPr>
              <a:t>✓</a:t>
            </a:r>
          </a:p>
        </p:txBody>
      </p:sp>
    </p:spTree>
    <p:extLst>
      <p:ext uri="{BB962C8B-B14F-4D97-AF65-F5344CB8AC3E}">
        <p14:creationId xmlns:p14="http://schemas.microsoft.com/office/powerpoint/2010/main" val="954232670"/>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25C7255-810B-42EC-BD06-1603948869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0022F4-3A45-4B9B-837B-CBE39AF9742B}"/>
              </a:ext>
            </a:extLst>
          </p:cNvPr>
          <p:cNvSpPr>
            <a:spLocks xmlns:a="http://schemas.openxmlformats.org/drawingml/2006/main" noGrp="1"/>
          </p:cNvSpPr>
          <p:nvPr/>
        </p:nvSpPr>
        <p:spPr>
          <a:xfrm xmlns:a="http://schemas.openxmlformats.org/drawingml/2006/main">
            <a:off x="11239500" y="62865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64748B"/>
                </a:solidFill>
                <a:latin typeface="Aptos"/>
                <a:ea typeface="Aptos"/>
                <a:cs typeface="Aptos"/>
              </a:defRPr>
            </a:pPr>
            <a:r>
              <a:rPr sz="900" b="1">
                <a:solidFill>
                  <a:srgbClr val="64748B"/>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533D21BD-A06D-4F06-B32E-2E162782C6F7}"/>
              </a:ext>
            </a:extLst>
          </p:cNvPr>
          <p:cNvSpPr>
            <a:spLocks xmlns:a="http://schemas.openxmlformats.org/drawingml/2006/main" noGrp="1"/>
          </p:cNvSpPr>
          <p:nvPr/>
        </p:nvSpPr>
        <p:spPr>
          <a:xfrm xmlns:a="http://schemas.openxmlformats.org/drawingml/2006/main">
            <a:off x="685800" y="4286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A192F"/>
                </a:solidFill>
                <a:latin typeface="Aptos"/>
                <a:ea typeface="Aptos"/>
                <a:cs typeface="Aptos"/>
              </a:defRPr>
            </a:pPr>
            <a:r>
              <a:rPr sz="2550" b="1">
                <a:solidFill>
                  <a:srgbClr val="0A192F"/>
                </a:solidFill>
                <a:latin typeface="Aptos"/>
                <a:ea typeface="Aptos"/>
                <a:cs typeface="Aptos"/>
              </a:rPr>
              <a:t>The payroll operations gap</a:t>
            </a:r>
          </a:p>
        </p:txBody>
      </p:sp>
      <p:sp>
        <p:nvSpPr>
          <p:cNvPr id="4" name="">
            <a:extLst xmlns:a="http://schemas.openxmlformats.org/drawingml/2006/main">
              <a:ext uri="{FF2B5EF4-FFF2-40B4-BE49-F238E27FC236}">
                <a16:creationId xmlns:a16="http://schemas.microsoft.com/office/drawing/2014/main" id="{B480B34C-FF31-4095-AABC-7CFEE8BB34EB}"/>
              </a:ext>
            </a:extLst>
          </p:cNvPr>
          <p:cNvSpPr>
            <a:spLocks xmlns:a="http://schemas.openxmlformats.org/drawingml/2006/main" noGrp="1"/>
          </p:cNvSpPr>
          <p:nvPr/>
        </p:nvSpPr>
        <p:spPr>
          <a:xfrm xmlns:a="http://schemas.openxmlformats.org/drawingml/2006/main">
            <a:off x="685800" y="100012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Corporate payroll involves sensitive data, multiple approvals, and strict timing</a:t>
            </a:r>
          </a:p>
        </p:txBody>
      </p:sp>
      <p:sp>
        <p:nvSpPr>
          <p:cNvPr id="5" name="">
            <a:extLst xmlns:a="http://schemas.openxmlformats.org/drawingml/2006/main">
              <a:ext uri="{FF2B5EF4-FFF2-40B4-BE49-F238E27FC236}">
                <a16:creationId xmlns:a16="http://schemas.microsoft.com/office/drawing/2014/main" id="{373A8269-E7E9-4DF7-8A31-FBA357114426}"/>
              </a:ext>
            </a:extLst>
          </p:cNvPr>
          <p:cNvSpPr>
            <a:spLocks xmlns:a="http://schemas.openxmlformats.org/drawingml/2006/main" noGrp="1"/>
          </p:cNvSpPr>
          <p:nvPr/>
        </p:nvSpPr>
        <p:spPr>
          <a:xfrm xmlns:a="http://schemas.openxmlformats.org/drawingml/2006/main">
            <a:off x="685800" y="15716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047BA"/>
                </a:solidFill>
                <a:latin typeface="Aptos"/>
                <a:ea typeface="Aptos"/>
                <a:cs typeface="Aptos"/>
              </a:defRPr>
            </a:pPr>
            <a:r>
              <a:rPr sz="1650" b="1">
                <a:solidFill>
                  <a:srgbClr val="0047BA"/>
                </a:solidFill>
                <a:latin typeface="Aptos"/>
                <a:ea typeface="Aptos"/>
                <a:cs typeface="Aptos"/>
              </a:rPr>
              <a:t>Today’s process can break at four points</a:t>
            </a:r>
          </a:p>
        </p:txBody>
      </p:sp>
      <p:sp>
        <p:nvSpPr>
          <p:cNvPr id="6" name="">
            <a:extLst xmlns:a="http://schemas.openxmlformats.org/drawingml/2006/main">
              <a:ext uri="{FF2B5EF4-FFF2-40B4-BE49-F238E27FC236}">
                <a16:creationId xmlns:a16="http://schemas.microsoft.com/office/drawing/2014/main" id="{63F6ADF3-7866-44DB-858B-71D9CE6257FF}"/>
              </a:ext>
            </a:extLst>
          </p:cNvPr>
          <p:cNvSpPr>
            <a:spLocks xmlns:a="http://schemas.openxmlformats.org/drawingml/2006/main" noGrp="1"/>
          </p:cNvSpPr>
          <p:nvPr/>
        </p:nvSpPr>
        <p:spPr>
          <a:xfrm xmlns:a="http://schemas.openxmlformats.org/drawingml/2006/main">
            <a:off x="723900" y="214312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047BA"/>
                </a:solidFill>
                <a:latin typeface="Aptos"/>
                <a:ea typeface="Aptos"/>
                <a:cs typeface="Aptos"/>
              </a:defRPr>
            </a:pPr>
            <a:r>
              <a:rPr sz="1350" b="1">
                <a:solidFill>
                  <a:srgbClr val="0047BA"/>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1F5F63FB-D0DF-4798-8D22-339EB7854CC3}"/>
              </a:ext>
            </a:extLst>
          </p:cNvPr>
          <p:cNvSpPr>
            <a:spLocks xmlns:a="http://schemas.openxmlformats.org/drawingml/2006/main" noGrp="1"/>
          </p:cNvSpPr>
          <p:nvPr/>
        </p:nvSpPr>
        <p:spPr>
          <a:xfrm xmlns:a="http://schemas.openxmlformats.org/drawingml/2006/main">
            <a:off x="1381125" y="2209800"/>
            <a:ext cx="38100" cy="52387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FC508CC-5E4E-453D-A662-090878050C42}"/>
              </a:ext>
            </a:extLst>
          </p:cNvPr>
          <p:cNvSpPr>
            <a:spLocks xmlns:a="http://schemas.openxmlformats.org/drawingml/2006/main" noGrp="1"/>
          </p:cNvSpPr>
          <p:nvPr/>
        </p:nvSpPr>
        <p:spPr>
          <a:xfrm xmlns:a="http://schemas.openxmlformats.org/drawingml/2006/main">
            <a:off x="1666875" y="21431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File errors</a:t>
            </a:r>
          </a:p>
        </p:txBody>
      </p:sp>
      <p:sp>
        <p:nvSpPr>
          <p:cNvPr id="9" name="">
            <a:extLst xmlns:a="http://schemas.openxmlformats.org/drawingml/2006/main">
              <a:ext uri="{FF2B5EF4-FFF2-40B4-BE49-F238E27FC236}">
                <a16:creationId xmlns:a16="http://schemas.microsoft.com/office/drawing/2014/main" id="{A7572CB0-4EF6-4752-B667-0FB07B8E0A06}"/>
              </a:ext>
            </a:extLst>
          </p:cNvPr>
          <p:cNvSpPr>
            <a:spLocks xmlns:a="http://schemas.openxmlformats.org/drawingml/2006/main" noGrp="1"/>
          </p:cNvSpPr>
          <p:nvPr/>
        </p:nvSpPr>
        <p:spPr>
          <a:xfrm xmlns:a="http://schemas.openxmlformats.org/drawingml/2006/main">
            <a:off x="4238625" y="21431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475569"/>
                </a:solidFill>
                <a:latin typeface="Aptos"/>
                <a:ea typeface="Aptos"/>
                <a:cs typeface="Aptos"/>
              </a:defRPr>
            </a:pPr>
            <a:r>
              <a:rPr sz="1275" b="0">
                <a:solidFill>
                  <a:srgbClr val="475569"/>
                </a:solidFill>
                <a:latin typeface="Aptos"/>
                <a:ea typeface="Aptos"/>
                <a:cs typeface="Aptos"/>
              </a:rPr>
              <a:t>Invalid accounts, duplicate rows, or typing mistakes delay payroll.</a:t>
            </a:r>
          </a:p>
        </p:txBody>
      </p:sp>
      <p:sp>
        <p:nvSpPr>
          <p:cNvPr id="10" name="">
            <a:extLst xmlns:a="http://schemas.openxmlformats.org/drawingml/2006/main">
              <a:ext uri="{FF2B5EF4-FFF2-40B4-BE49-F238E27FC236}">
                <a16:creationId xmlns:a16="http://schemas.microsoft.com/office/drawing/2014/main" id="{05C8E364-FD3D-470F-9983-C7A55F03CCF4}"/>
              </a:ext>
            </a:extLst>
          </p:cNvPr>
          <p:cNvSpPr>
            <a:spLocks xmlns:a="http://schemas.openxmlformats.org/drawingml/2006/main" noGrp="1"/>
          </p:cNvSpPr>
          <p:nvPr/>
        </p:nvSpPr>
        <p:spPr>
          <a:xfrm xmlns:a="http://schemas.openxmlformats.org/drawingml/2006/main">
            <a:off x="723900" y="298132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047BA"/>
                </a:solidFill>
                <a:latin typeface="Aptos"/>
                <a:ea typeface="Aptos"/>
                <a:cs typeface="Aptos"/>
              </a:defRPr>
            </a:pPr>
            <a:r>
              <a:rPr sz="1350" b="1">
                <a:solidFill>
                  <a:srgbClr val="0047BA"/>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D3D1C5A4-AEA7-474C-887B-429E8FDECB76}"/>
              </a:ext>
            </a:extLst>
          </p:cNvPr>
          <p:cNvSpPr>
            <a:spLocks xmlns:a="http://schemas.openxmlformats.org/drawingml/2006/main" noGrp="1"/>
          </p:cNvSpPr>
          <p:nvPr/>
        </p:nvSpPr>
        <p:spPr>
          <a:xfrm xmlns:a="http://schemas.openxmlformats.org/drawingml/2006/main">
            <a:off x="1381125" y="3048000"/>
            <a:ext cx="38100" cy="52387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9838EAC-CE47-4ED3-88E0-293ECB123B5D}"/>
              </a:ext>
            </a:extLst>
          </p:cNvPr>
          <p:cNvSpPr>
            <a:spLocks xmlns:a="http://schemas.openxmlformats.org/drawingml/2006/main" noGrp="1"/>
          </p:cNvSpPr>
          <p:nvPr/>
        </p:nvSpPr>
        <p:spPr>
          <a:xfrm xmlns:a="http://schemas.openxmlformats.org/drawingml/2006/main">
            <a:off x="1666875" y="29813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50"/>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Weak separation of duties</a:t>
            </a:r>
          </a:p>
        </p:txBody>
      </p:sp>
      <p:sp>
        <p:nvSpPr>
          <p:cNvPr id="13" name="">
            <a:extLst xmlns:a="http://schemas.openxmlformats.org/drawingml/2006/main">
              <a:ext uri="{FF2B5EF4-FFF2-40B4-BE49-F238E27FC236}">
                <a16:creationId xmlns:a16="http://schemas.microsoft.com/office/drawing/2014/main" id="{A8F3C004-5173-494B-A67E-0EA0D3EE32CA}"/>
              </a:ext>
            </a:extLst>
          </p:cNvPr>
          <p:cNvSpPr>
            <a:spLocks xmlns:a="http://schemas.openxmlformats.org/drawingml/2006/main" noGrp="1"/>
          </p:cNvSpPr>
          <p:nvPr/>
        </p:nvSpPr>
        <p:spPr>
          <a:xfrm xmlns:a="http://schemas.openxmlformats.org/drawingml/2006/main">
            <a:off x="4238625" y="29813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475569"/>
                </a:solidFill>
                <a:latin typeface="Aptos"/>
                <a:ea typeface="Aptos"/>
                <a:cs typeface="Aptos"/>
              </a:defRPr>
            </a:pPr>
            <a:r>
              <a:rPr sz="1275" b="0">
                <a:solidFill>
                  <a:srgbClr val="475569"/>
                </a:solidFill>
                <a:latin typeface="Aptos"/>
                <a:ea typeface="Aptos"/>
                <a:cs typeface="Aptos"/>
              </a:rPr>
              <a:t>One person may prepare and release a payment without an independent check.</a:t>
            </a:r>
          </a:p>
        </p:txBody>
      </p:sp>
      <p:sp>
        <p:nvSpPr>
          <p:cNvPr id="14" name="">
            <a:extLst xmlns:a="http://schemas.openxmlformats.org/drawingml/2006/main">
              <a:ext uri="{FF2B5EF4-FFF2-40B4-BE49-F238E27FC236}">
                <a16:creationId xmlns:a16="http://schemas.microsoft.com/office/drawing/2014/main" id="{79CE7641-44D5-4E04-BF99-124CBA087109}"/>
              </a:ext>
            </a:extLst>
          </p:cNvPr>
          <p:cNvSpPr>
            <a:spLocks xmlns:a="http://schemas.openxmlformats.org/drawingml/2006/main" noGrp="1"/>
          </p:cNvSpPr>
          <p:nvPr/>
        </p:nvSpPr>
        <p:spPr>
          <a:xfrm xmlns:a="http://schemas.openxmlformats.org/drawingml/2006/main">
            <a:off x="723900" y="381952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047BA"/>
                </a:solidFill>
                <a:latin typeface="Aptos"/>
                <a:ea typeface="Aptos"/>
                <a:cs typeface="Aptos"/>
              </a:defRPr>
            </a:pPr>
            <a:r>
              <a:rPr sz="1350" b="1">
                <a:solidFill>
                  <a:srgbClr val="0047BA"/>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5147EE14-01C2-4AF4-AA87-99C692D799D4}"/>
              </a:ext>
            </a:extLst>
          </p:cNvPr>
          <p:cNvSpPr>
            <a:spLocks xmlns:a="http://schemas.openxmlformats.org/drawingml/2006/main" noGrp="1"/>
          </p:cNvSpPr>
          <p:nvPr/>
        </p:nvSpPr>
        <p:spPr>
          <a:xfrm xmlns:a="http://schemas.openxmlformats.org/drawingml/2006/main">
            <a:off x="1381125" y="3886200"/>
            <a:ext cx="38100" cy="523875"/>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375CC5-0E4C-4DBA-9343-91B0B8D03857}"/>
              </a:ext>
            </a:extLst>
          </p:cNvPr>
          <p:cNvSpPr>
            <a:spLocks xmlns:a="http://schemas.openxmlformats.org/drawingml/2006/main" noGrp="1"/>
          </p:cNvSpPr>
          <p:nvPr/>
        </p:nvSpPr>
        <p:spPr>
          <a:xfrm xmlns:a="http://schemas.openxmlformats.org/drawingml/2006/main">
            <a:off x="1666875" y="38195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Funding uncertainty</a:t>
            </a:r>
          </a:p>
        </p:txBody>
      </p:sp>
      <p:sp>
        <p:nvSpPr>
          <p:cNvPr id="17" name="">
            <a:extLst xmlns:a="http://schemas.openxmlformats.org/drawingml/2006/main">
              <a:ext uri="{FF2B5EF4-FFF2-40B4-BE49-F238E27FC236}">
                <a16:creationId xmlns:a16="http://schemas.microsoft.com/office/drawing/2014/main" id="{0EACB7AD-4714-4944-A66F-12ABDAF3BB49}"/>
              </a:ext>
            </a:extLst>
          </p:cNvPr>
          <p:cNvSpPr>
            <a:spLocks xmlns:a="http://schemas.openxmlformats.org/drawingml/2006/main" noGrp="1"/>
          </p:cNvSpPr>
          <p:nvPr/>
        </p:nvSpPr>
        <p:spPr>
          <a:xfrm xmlns:a="http://schemas.openxmlformats.org/drawingml/2006/main">
            <a:off x="4238625" y="38195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475569"/>
                </a:solidFill>
                <a:latin typeface="Aptos"/>
                <a:ea typeface="Aptos"/>
                <a:cs typeface="Aptos"/>
              </a:defRPr>
            </a:pPr>
            <a:r>
              <a:rPr sz="1275" b="0">
                <a:solidFill>
                  <a:srgbClr val="475569"/>
                </a:solidFill>
                <a:latin typeface="Aptos"/>
                <a:ea typeface="Aptos"/>
                <a:cs typeface="Aptos"/>
              </a:rPr>
              <a:t>Teams can discover a wallet shortfall too close to payday.</a:t>
            </a:r>
          </a:p>
        </p:txBody>
      </p:sp>
      <p:sp>
        <p:nvSpPr>
          <p:cNvPr id="18" name="">
            <a:extLst xmlns:a="http://schemas.openxmlformats.org/drawingml/2006/main">
              <a:ext uri="{FF2B5EF4-FFF2-40B4-BE49-F238E27FC236}">
                <a16:creationId xmlns:a16="http://schemas.microsoft.com/office/drawing/2014/main" id="{5654AD57-93EB-4256-80AA-A15051BCE63A}"/>
              </a:ext>
            </a:extLst>
          </p:cNvPr>
          <p:cNvSpPr>
            <a:spLocks xmlns:a="http://schemas.openxmlformats.org/drawingml/2006/main" noGrp="1"/>
          </p:cNvSpPr>
          <p:nvPr/>
        </p:nvSpPr>
        <p:spPr>
          <a:xfrm xmlns:a="http://schemas.openxmlformats.org/drawingml/2006/main">
            <a:off x="723900" y="465772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047BA"/>
                </a:solidFill>
                <a:latin typeface="Aptos"/>
                <a:ea typeface="Aptos"/>
                <a:cs typeface="Aptos"/>
              </a:defRPr>
            </a:pPr>
            <a:r>
              <a:rPr sz="1350" b="1">
                <a:solidFill>
                  <a:srgbClr val="0047BA"/>
                </a:solidFill>
                <a:latin typeface="Aptos"/>
                <a:ea typeface="Aptos"/>
                <a:cs typeface="Aptos"/>
              </a:rPr>
              <a:t>04</a:t>
            </a:r>
          </a:p>
        </p:txBody>
      </p:sp>
      <p:sp>
        <p:nvSpPr>
          <p:cNvPr id="19" name="">
            <a:extLst xmlns:a="http://schemas.openxmlformats.org/drawingml/2006/main">
              <a:ext uri="{FF2B5EF4-FFF2-40B4-BE49-F238E27FC236}">
                <a16:creationId xmlns:a16="http://schemas.microsoft.com/office/drawing/2014/main" id="{FD29DA10-E994-4904-9EB1-7C7D467012AB}"/>
              </a:ext>
            </a:extLst>
          </p:cNvPr>
          <p:cNvSpPr>
            <a:spLocks xmlns:a="http://schemas.openxmlformats.org/drawingml/2006/main" noGrp="1"/>
          </p:cNvSpPr>
          <p:nvPr/>
        </p:nvSpPr>
        <p:spPr>
          <a:xfrm xmlns:a="http://schemas.openxmlformats.org/drawingml/2006/main">
            <a:off x="1381125" y="4724400"/>
            <a:ext cx="38100" cy="52387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FBC1B00-35A1-4577-B3F8-353812F81B9F}"/>
              </a:ext>
            </a:extLst>
          </p:cNvPr>
          <p:cNvSpPr>
            <a:spLocks xmlns:a="http://schemas.openxmlformats.org/drawingml/2006/main" noGrp="1"/>
          </p:cNvSpPr>
          <p:nvPr/>
        </p:nvSpPr>
        <p:spPr>
          <a:xfrm xmlns:a="http://schemas.openxmlformats.org/drawingml/2006/main">
            <a:off x="1666875" y="46577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Limited traceability</a:t>
            </a:r>
          </a:p>
        </p:txBody>
      </p:sp>
      <p:sp>
        <p:nvSpPr>
          <p:cNvPr id="21" name="">
            <a:extLst xmlns:a="http://schemas.openxmlformats.org/drawingml/2006/main">
              <a:ext uri="{FF2B5EF4-FFF2-40B4-BE49-F238E27FC236}">
                <a16:creationId xmlns:a16="http://schemas.microsoft.com/office/drawing/2014/main" id="{21D92865-77DF-4ABA-8B53-A032233D7307}"/>
              </a:ext>
            </a:extLst>
          </p:cNvPr>
          <p:cNvSpPr>
            <a:spLocks xmlns:a="http://schemas.openxmlformats.org/drawingml/2006/main" noGrp="1"/>
          </p:cNvSpPr>
          <p:nvPr/>
        </p:nvSpPr>
        <p:spPr>
          <a:xfrm xmlns:a="http://schemas.openxmlformats.org/drawingml/2006/main">
            <a:off x="4238625" y="46577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475569"/>
                </a:solidFill>
                <a:latin typeface="Aptos"/>
                <a:ea typeface="Aptos"/>
                <a:cs typeface="Aptos"/>
              </a:defRPr>
            </a:pPr>
            <a:r>
              <a:rPr sz="1275" b="0">
                <a:solidFill>
                  <a:srgbClr val="475569"/>
                </a:solidFill>
                <a:latin typeface="Aptos"/>
                <a:ea typeface="Aptos"/>
                <a:cs typeface="Aptos"/>
              </a:rPr>
              <a:t>Scattered approvals and corrections make audit review difficult.</a:t>
            </a:r>
          </a:p>
        </p:txBody>
      </p:sp>
      <p:sp>
        <p:nvSpPr>
          <p:cNvPr id="22" name="">
            <a:extLst xmlns:a="http://schemas.openxmlformats.org/drawingml/2006/main">
              <a:ext uri="{FF2B5EF4-FFF2-40B4-BE49-F238E27FC236}">
                <a16:creationId xmlns:a16="http://schemas.microsoft.com/office/drawing/2014/main" id="{5DC58005-DC11-411E-91A6-5AE325A9F10E}"/>
              </a:ext>
            </a:extLst>
          </p:cNvPr>
          <p:cNvSpPr>
            <a:spLocks xmlns:a="http://schemas.openxmlformats.org/drawingml/2006/main" noGrp="1"/>
          </p:cNvSpPr>
          <p:nvPr/>
        </p:nvSpPr>
        <p:spPr>
          <a:xfrm xmlns:a="http://schemas.openxmlformats.org/drawingml/2006/main">
            <a:off x="685800" y="57721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64748B"/>
                </a:solidFill>
                <a:latin typeface="Aptos"/>
                <a:ea typeface="Aptos"/>
                <a:cs typeface="Aptos"/>
              </a:defRPr>
            </a:pPr>
            <a:r>
              <a:rPr sz="1200" b="1">
                <a:solidFill>
                  <a:srgbClr val="64748B"/>
                </a:solidFill>
                <a:latin typeface="Aptos"/>
                <a:ea typeface="Aptos"/>
                <a:cs typeface="Aptos"/>
              </a:rPr>
              <a:t>Proposal goal</a:t>
            </a:r>
          </a:p>
        </p:txBody>
      </p:sp>
      <p:sp>
        <p:nvSpPr>
          <p:cNvPr id="23" name="">
            <a:extLst xmlns:a="http://schemas.openxmlformats.org/drawingml/2006/main">
              <a:ext uri="{FF2B5EF4-FFF2-40B4-BE49-F238E27FC236}">
                <a16:creationId xmlns:a16="http://schemas.microsoft.com/office/drawing/2014/main" id="{2EECAF4B-D4B4-43C7-8EB5-7CEBF9F94675}"/>
              </a:ext>
            </a:extLst>
          </p:cNvPr>
          <p:cNvSpPr>
            <a:spLocks xmlns:a="http://schemas.openxmlformats.org/drawingml/2006/main" noGrp="1"/>
          </p:cNvSpPr>
          <p:nvPr/>
        </p:nvSpPr>
        <p:spPr>
          <a:xfrm xmlns:a="http://schemas.openxmlformats.org/drawingml/2006/main">
            <a:off x="2571750" y="56959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760"/>
          </a:bodyPr>
          <a:lstStyle xmlns:a="http://schemas.openxmlformats.org/drawingml/2006/main"/>
          <a:p xmlns:a="http://schemas.openxmlformats.org/drawingml/2006/main">
            <a:pPr algn="l">
              <a:defRPr sz="1800" b="1">
                <a:solidFill>
                  <a:srgbClr val="0A192F"/>
                </a:solidFill>
                <a:latin typeface="Aptos"/>
                <a:ea typeface="Aptos"/>
                <a:cs typeface="Aptos"/>
              </a:defRPr>
            </a:pPr>
            <a:r>
              <a:rPr sz="1800" b="1">
                <a:solidFill>
                  <a:srgbClr val="0A192F"/>
                </a:solidFill>
                <a:latin typeface="Aptos"/>
                <a:ea typeface="Aptos"/>
                <a:cs typeface="Aptos"/>
              </a:rPr>
              <a:t>Move payroll from spreadsheet handoffs to a controlled, trackable workflow.</a:t>
            </a:r>
          </a:p>
        </p:txBody>
      </p:sp>
    </p:spTree>
    <p:extLst>
      <p:ext uri="{BB962C8B-B14F-4D97-AF65-F5344CB8AC3E}">
        <p14:creationId xmlns:p14="http://schemas.microsoft.com/office/powerpoint/2010/main" val="1327770897"/>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99B67D1-8421-43F0-88DE-160476186E6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84ED49-2423-4BB7-A337-B7E65ABEC040}"/>
              </a:ext>
            </a:extLst>
          </p:cNvPr>
          <p:cNvSpPr>
            <a:spLocks xmlns:a="http://schemas.openxmlformats.org/drawingml/2006/main" noGrp="1"/>
          </p:cNvSpPr>
          <p:nvPr/>
        </p:nvSpPr>
        <p:spPr>
          <a:xfrm xmlns:a="http://schemas.openxmlformats.org/drawingml/2006/main">
            <a:off x="11239500" y="62865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64748B"/>
                </a:solidFill>
                <a:latin typeface="Aptos"/>
                <a:ea typeface="Aptos"/>
                <a:cs typeface="Aptos"/>
              </a:defRPr>
            </a:pPr>
            <a:r>
              <a:rPr sz="900" b="1">
                <a:solidFill>
                  <a:srgbClr val="64748B"/>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5809E27A-697E-4351-8E73-AB66E101252D}"/>
              </a:ext>
            </a:extLst>
          </p:cNvPr>
          <p:cNvSpPr>
            <a:spLocks xmlns:a="http://schemas.openxmlformats.org/drawingml/2006/main" noGrp="1"/>
          </p:cNvSpPr>
          <p:nvPr/>
        </p:nvSpPr>
        <p:spPr>
          <a:xfrm xmlns:a="http://schemas.openxmlformats.org/drawingml/2006/main">
            <a:off x="685800" y="4286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A192F"/>
                </a:solidFill>
                <a:latin typeface="Aptos"/>
                <a:ea typeface="Aptos"/>
                <a:cs typeface="Aptos"/>
              </a:defRPr>
            </a:pPr>
            <a:r>
              <a:rPr sz="2550" b="1">
                <a:solidFill>
                  <a:srgbClr val="0A192F"/>
                </a:solidFill>
                <a:latin typeface="Aptos"/>
                <a:ea typeface="Aptos"/>
                <a:cs typeface="Aptos"/>
              </a:rPr>
              <a:t>Proposed solution</a:t>
            </a:r>
          </a:p>
        </p:txBody>
      </p:sp>
      <p:sp>
        <p:nvSpPr>
          <p:cNvPr id="4" name="">
            <a:extLst xmlns:a="http://schemas.openxmlformats.org/drawingml/2006/main">
              <a:ext uri="{FF2B5EF4-FFF2-40B4-BE49-F238E27FC236}">
                <a16:creationId xmlns:a16="http://schemas.microsoft.com/office/drawing/2014/main" id="{BB6D0F39-9DD5-4A4D-9036-17B88BA20ED1}"/>
              </a:ext>
            </a:extLst>
          </p:cNvPr>
          <p:cNvSpPr>
            <a:spLocks xmlns:a="http://schemas.openxmlformats.org/drawingml/2006/main" noGrp="1"/>
          </p:cNvSpPr>
          <p:nvPr/>
        </p:nvSpPr>
        <p:spPr>
          <a:xfrm xmlns:a="http://schemas.openxmlformats.org/drawingml/2006/main">
            <a:off x="685800" y="100012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One shared platform with role-specific workspaces</a:t>
            </a:r>
          </a:p>
        </p:txBody>
      </p:sp>
      <p:sp>
        <p:nvSpPr>
          <p:cNvPr id="5" name="">
            <a:extLst xmlns:a="http://schemas.openxmlformats.org/drawingml/2006/main">
              <a:ext uri="{FF2B5EF4-FFF2-40B4-BE49-F238E27FC236}">
                <a16:creationId xmlns:a16="http://schemas.microsoft.com/office/drawing/2014/main" id="{44EE0E91-D185-4E27-AE93-098E276F09B2}"/>
              </a:ext>
            </a:extLst>
          </p:cNvPr>
          <p:cNvSpPr>
            <a:spLocks xmlns:a="http://schemas.openxmlformats.org/drawingml/2006/main" noGrp="1"/>
          </p:cNvSpPr>
          <p:nvPr/>
        </p:nvSpPr>
        <p:spPr>
          <a:xfrm xmlns:a="http://schemas.openxmlformats.org/drawingml/2006/main">
            <a:off x="685800" y="1666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A192F"/>
                </a:solidFill>
                <a:latin typeface="Aptos"/>
                <a:ea typeface="Aptos"/>
                <a:cs typeface="Aptos"/>
              </a:defRPr>
            </a:pPr>
            <a:r>
              <a:rPr sz="1800" b="1">
                <a:solidFill>
                  <a:srgbClr val="0A192F"/>
                </a:solidFill>
                <a:latin typeface="Aptos"/>
                <a:ea typeface="Aptos"/>
                <a:cs typeface="Aptos"/>
              </a:rPr>
              <a:t>Corporate HR</a:t>
            </a:r>
          </a:p>
        </p:txBody>
      </p:sp>
      <p:sp>
        <p:nvSpPr>
          <p:cNvPr id="6" name="">
            <a:extLst xmlns:a="http://schemas.openxmlformats.org/drawingml/2006/main">
              <a:ext uri="{FF2B5EF4-FFF2-40B4-BE49-F238E27FC236}">
                <a16:creationId xmlns:a16="http://schemas.microsoft.com/office/drawing/2014/main" id="{5FBB1372-F905-41C4-9A5C-C5AA266CCAEA}"/>
              </a:ext>
            </a:extLst>
          </p:cNvPr>
          <p:cNvSpPr>
            <a:spLocks xmlns:a="http://schemas.openxmlformats.org/drawingml/2006/main" noGrp="1"/>
          </p:cNvSpPr>
          <p:nvPr/>
        </p:nvSpPr>
        <p:spPr>
          <a:xfrm xmlns:a="http://schemas.openxmlformats.org/drawingml/2006/main">
            <a:off x="685800" y="21145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47BA"/>
                </a:solidFill>
                <a:latin typeface="Aptos"/>
                <a:ea typeface="Aptos"/>
                <a:cs typeface="Aptos"/>
              </a:defRPr>
            </a:pPr>
            <a:r>
              <a:rPr sz="1050" b="1">
                <a:solidFill>
                  <a:srgbClr val="0047BA"/>
                </a:solidFill>
                <a:latin typeface="Aptos"/>
                <a:ea typeface="Aptos"/>
                <a:cs typeface="Aptos"/>
              </a:rPr>
              <a:t>MAKER</a:t>
            </a:r>
          </a:p>
        </p:txBody>
      </p:sp>
      <p:sp>
        <p:nvSpPr>
          <p:cNvPr id="7" name="">
            <a:extLst xmlns:a="http://schemas.openxmlformats.org/drawingml/2006/main">
              <a:ext uri="{FF2B5EF4-FFF2-40B4-BE49-F238E27FC236}">
                <a16:creationId xmlns:a16="http://schemas.microsoft.com/office/drawing/2014/main" id="{5EC9DF8C-280E-487A-AD1D-B1D13C14EAD2}"/>
              </a:ext>
            </a:extLst>
          </p:cNvPr>
          <p:cNvSpPr>
            <a:spLocks xmlns:a="http://schemas.openxmlformats.org/drawingml/2006/main" noGrp="1"/>
          </p:cNvSpPr>
          <p:nvPr/>
        </p:nvSpPr>
        <p:spPr>
          <a:xfrm xmlns:a="http://schemas.openxmlformats.org/drawingml/2006/main">
            <a:off x="685800" y="2543175"/>
            <a:ext cx="3143250" cy="47625"/>
          </a:xfrm>
          <a:prstGeom xmlns:a="http://schemas.openxmlformats.org/drawingml/2006/main" prst="rect">
            <a:avLst/>
          </a:prstGeom>
          <a:solidFill xmlns:a="http://schemas.openxmlformats.org/drawingml/2006/main">
            <a:srgbClr val="0047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62AB62-B694-40EC-BC79-492D33FCCDC8}"/>
              </a:ext>
            </a:extLst>
          </p:cNvPr>
          <p:cNvSpPr>
            <a:spLocks xmlns:a="http://schemas.openxmlformats.org/drawingml/2006/main" noGrp="1"/>
          </p:cNvSpPr>
          <p:nvPr/>
        </p:nvSpPr>
        <p:spPr>
          <a:xfrm xmlns:a="http://schemas.openxmlformats.org/drawingml/2006/main">
            <a:off x="685800" y="2781300"/>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Registers employees</a:t>
            </a:r>
          </a:p>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Uploads payroll</a:t>
            </a:r>
          </a:p>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Corrects invalid records</a:t>
            </a:r>
          </a:p>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Executes approved batches</a:t>
            </a:r>
          </a:p>
        </p:txBody>
      </p:sp>
      <p:sp>
        <p:nvSpPr>
          <p:cNvPr id="9" name="">
            <a:extLst xmlns:a="http://schemas.openxmlformats.org/drawingml/2006/main">
              <a:ext uri="{FF2B5EF4-FFF2-40B4-BE49-F238E27FC236}">
                <a16:creationId xmlns:a16="http://schemas.microsoft.com/office/drawing/2014/main" id="{8EB457E3-16D9-431B-9B0E-281214E70D65}"/>
              </a:ext>
            </a:extLst>
          </p:cNvPr>
          <p:cNvSpPr>
            <a:spLocks xmlns:a="http://schemas.openxmlformats.org/drawingml/2006/main" noGrp="1"/>
          </p:cNvSpPr>
          <p:nvPr/>
        </p:nvSpPr>
        <p:spPr>
          <a:xfrm xmlns:a="http://schemas.openxmlformats.org/drawingml/2006/main">
            <a:off x="4457700" y="1666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A192F"/>
                </a:solidFill>
                <a:latin typeface="Aptos"/>
                <a:ea typeface="Aptos"/>
                <a:cs typeface="Aptos"/>
              </a:defRPr>
            </a:pPr>
            <a:r>
              <a:rPr sz="1800" b="1">
                <a:solidFill>
                  <a:srgbClr val="0A192F"/>
                </a:solidFill>
                <a:latin typeface="Aptos"/>
                <a:ea typeface="Aptos"/>
                <a:cs typeface="Aptos"/>
              </a:rPr>
              <a:t>Corporate Finance</a:t>
            </a:r>
          </a:p>
        </p:txBody>
      </p:sp>
      <p:sp>
        <p:nvSpPr>
          <p:cNvPr id="10" name="">
            <a:extLst xmlns:a="http://schemas.openxmlformats.org/drawingml/2006/main">
              <a:ext uri="{FF2B5EF4-FFF2-40B4-BE49-F238E27FC236}">
                <a16:creationId xmlns:a16="http://schemas.microsoft.com/office/drawing/2014/main" id="{2B902A9C-B235-449D-87F8-3733341C3B28}"/>
              </a:ext>
            </a:extLst>
          </p:cNvPr>
          <p:cNvSpPr>
            <a:spLocks xmlns:a="http://schemas.openxmlformats.org/drawingml/2006/main" noGrp="1"/>
          </p:cNvSpPr>
          <p:nvPr/>
        </p:nvSpPr>
        <p:spPr>
          <a:xfrm xmlns:a="http://schemas.openxmlformats.org/drawingml/2006/main">
            <a:off x="4457700" y="21145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47BA"/>
                </a:solidFill>
                <a:latin typeface="Aptos"/>
                <a:ea typeface="Aptos"/>
                <a:cs typeface="Aptos"/>
              </a:defRPr>
            </a:pPr>
            <a:r>
              <a:rPr sz="1050" b="1">
                <a:solidFill>
                  <a:srgbClr val="0047BA"/>
                </a:solidFill>
                <a:latin typeface="Aptos"/>
                <a:ea typeface="Aptos"/>
                <a:cs typeface="Aptos"/>
              </a:rPr>
              <a:t>CHECKER</a:t>
            </a:r>
          </a:p>
        </p:txBody>
      </p:sp>
      <p:sp>
        <p:nvSpPr>
          <p:cNvPr id="11" name="">
            <a:extLst xmlns:a="http://schemas.openxmlformats.org/drawingml/2006/main">
              <a:ext uri="{FF2B5EF4-FFF2-40B4-BE49-F238E27FC236}">
                <a16:creationId xmlns:a16="http://schemas.microsoft.com/office/drawing/2014/main" id="{5ABC3159-59D8-4605-BB5E-DDF021D8AA85}"/>
              </a:ext>
            </a:extLst>
          </p:cNvPr>
          <p:cNvSpPr>
            <a:spLocks xmlns:a="http://schemas.openxmlformats.org/drawingml/2006/main" noGrp="1"/>
          </p:cNvSpPr>
          <p:nvPr/>
        </p:nvSpPr>
        <p:spPr>
          <a:xfrm xmlns:a="http://schemas.openxmlformats.org/drawingml/2006/main">
            <a:off x="4457700" y="2543175"/>
            <a:ext cx="3143250" cy="47625"/>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576B97-DACC-4A0F-92FD-693E376E0699}"/>
              </a:ext>
            </a:extLst>
          </p:cNvPr>
          <p:cNvSpPr>
            <a:spLocks xmlns:a="http://schemas.openxmlformats.org/drawingml/2006/main" noGrp="1"/>
          </p:cNvSpPr>
          <p:nvPr/>
        </p:nvSpPr>
        <p:spPr>
          <a:xfrm xmlns:a="http://schemas.openxmlformats.org/drawingml/2006/main">
            <a:off x="4457700" y="2781300"/>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Reviews totals and exceptions</a:t>
            </a:r>
          </a:p>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Approves or rejects batches</a:t>
            </a:r>
          </a:p>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Records review notes</a:t>
            </a:r>
          </a:p>
        </p:txBody>
      </p:sp>
      <p:sp>
        <p:nvSpPr>
          <p:cNvPr id="13" name="">
            <a:extLst xmlns:a="http://schemas.openxmlformats.org/drawingml/2006/main">
              <a:ext uri="{FF2B5EF4-FFF2-40B4-BE49-F238E27FC236}">
                <a16:creationId xmlns:a16="http://schemas.microsoft.com/office/drawing/2014/main" id="{27AF2E68-D5B1-4BEA-AD88-0DEBC3F8CD43}"/>
              </a:ext>
            </a:extLst>
          </p:cNvPr>
          <p:cNvSpPr>
            <a:spLocks xmlns:a="http://schemas.openxmlformats.org/drawingml/2006/main" noGrp="1"/>
          </p:cNvSpPr>
          <p:nvPr/>
        </p:nvSpPr>
        <p:spPr>
          <a:xfrm xmlns:a="http://schemas.openxmlformats.org/drawingml/2006/main">
            <a:off x="8229600" y="1666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A192F"/>
                </a:solidFill>
                <a:latin typeface="Aptos"/>
                <a:ea typeface="Aptos"/>
                <a:cs typeface="Aptos"/>
              </a:defRPr>
            </a:pPr>
            <a:r>
              <a:rPr sz="1800" b="1">
                <a:solidFill>
                  <a:srgbClr val="0A192F"/>
                </a:solidFill>
                <a:latin typeface="Aptos"/>
                <a:ea typeface="Aptos"/>
                <a:cs typeface="Aptos"/>
              </a:rPr>
              <a:t>upay Operations</a:t>
            </a:r>
          </a:p>
        </p:txBody>
      </p:sp>
      <p:sp>
        <p:nvSpPr>
          <p:cNvPr id="14" name="">
            <a:extLst xmlns:a="http://schemas.openxmlformats.org/drawingml/2006/main">
              <a:ext uri="{FF2B5EF4-FFF2-40B4-BE49-F238E27FC236}">
                <a16:creationId xmlns:a16="http://schemas.microsoft.com/office/drawing/2014/main" id="{DEBC0190-C5D4-4FEF-97B8-7E9FD9EFC8CA}"/>
              </a:ext>
            </a:extLst>
          </p:cNvPr>
          <p:cNvSpPr>
            <a:spLocks xmlns:a="http://schemas.openxmlformats.org/drawingml/2006/main" noGrp="1"/>
          </p:cNvSpPr>
          <p:nvPr/>
        </p:nvSpPr>
        <p:spPr>
          <a:xfrm xmlns:a="http://schemas.openxmlformats.org/drawingml/2006/main">
            <a:off x="8229600" y="21145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47BA"/>
                </a:solidFill>
                <a:latin typeface="Aptos"/>
                <a:ea typeface="Aptos"/>
                <a:cs typeface="Aptos"/>
              </a:defRPr>
            </a:pPr>
            <a:r>
              <a:rPr sz="1050" b="1">
                <a:solidFill>
                  <a:srgbClr val="0047BA"/>
                </a:solidFill>
                <a:latin typeface="Aptos"/>
                <a:ea typeface="Aptos"/>
                <a:cs typeface="Aptos"/>
              </a:rPr>
              <a:t>ADMIN</a:t>
            </a:r>
          </a:p>
        </p:txBody>
      </p:sp>
      <p:sp>
        <p:nvSpPr>
          <p:cNvPr id="15" name="">
            <a:extLst xmlns:a="http://schemas.openxmlformats.org/drawingml/2006/main">
              <a:ext uri="{FF2B5EF4-FFF2-40B4-BE49-F238E27FC236}">
                <a16:creationId xmlns:a16="http://schemas.microsoft.com/office/drawing/2014/main" id="{6BC4591A-8B71-4370-B35E-4F78E8FDFFCC}"/>
              </a:ext>
            </a:extLst>
          </p:cNvPr>
          <p:cNvSpPr>
            <a:spLocks xmlns:a="http://schemas.openxmlformats.org/drawingml/2006/main" noGrp="1"/>
          </p:cNvSpPr>
          <p:nvPr/>
        </p:nvSpPr>
        <p:spPr>
          <a:xfrm xmlns:a="http://schemas.openxmlformats.org/drawingml/2006/main">
            <a:off x="8229600" y="2543175"/>
            <a:ext cx="3143250" cy="47625"/>
          </a:xfrm>
          <a:prstGeom xmlns:a="http://schemas.openxmlformats.org/drawingml/2006/main" prst="rect">
            <a:avLst/>
          </a:prstGeom>
          <a:solidFill xmlns:a="http://schemas.openxmlformats.org/drawingml/2006/main">
            <a:srgbClr val="0047B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17D4648-6EBC-410D-A178-C29B0BDA144F}"/>
              </a:ext>
            </a:extLst>
          </p:cNvPr>
          <p:cNvSpPr>
            <a:spLocks xmlns:a="http://schemas.openxmlformats.org/drawingml/2006/main" noGrp="1"/>
          </p:cNvSpPr>
          <p:nvPr/>
        </p:nvSpPr>
        <p:spPr>
          <a:xfrm xmlns:a="http://schemas.openxmlformats.org/drawingml/2006/main">
            <a:off x="8229600" y="2781300"/>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Onboards companies</a:t>
            </a:r>
          </a:p>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Manages wallets</a:t>
            </a:r>
          </a:p>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Approves registrations</a:t>
            </a:r>
          </a:p>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Monitors activity and forecasts</a:t>
            </a:r>
          </a:p>
        </p:txBody>
      </p:sp>
      <p:sp>
        <p:nvSpPr>
          <p:cNvPr id="17" name="">
            <a:extLst xmlns:a="http://schemas.openxmlformats.org/drawingml/2006/main">
              <a:ext uri="{FF2B5EF4-FFF2-40B4-BE49-F238E27FC236}">
                <a16:creationId xmlns:a16="http://schemas.microsoft.com/office/drawing/2014/main" id="{B068CBD5-1544-44F8-BAE7-DB2F858D8BBD}"/>
              </a:ext>
            </a:extLst>
          </p:cNvPr>
          <p:cNvSpPr>
            <a:spLocks xmlns:a="http://schemas.openxmlformats.org/drawingml/2006/main" noGrp="1"/>
          </p:cNvSpPr>
          <p:nvPr/>
        </p:nvSpPr>
        <p:spPr>
          <a:xfrm xmlns:a="http://schemas.openxmlformats.org/drawingml/2006/main">
            <a:off x="685800" y="5095875"/>
            <a:ext cx="10744200" cy="952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F42DAA3-B82E-4B81-AFE7-3B8708A3DF5E}"/>
              </a:ext>
            </a:extLst>
          </p:cNvPr>
          <p:cNvSpPr>
            <a:spLocks xmlns:a="http://schemas.openxmlformats.org/drawingml/2006/main" noGrp="1"/>
          </p:cNvSpPr>
          <p:nvPr/>
        </p:nvSpPr>
        <p:spPr>
          <a:xfrm xmlns:a="http://schemas.openxmlformats.org/drawingml/2006/main">
            <a:off x="685800" y="5334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047BA"/>
                </a:solidFill>
                <a:latin typeface="Aptos"/>
                <a:ea typeface="Aptos"/>
                <a:cs typeface="Aptos"/>
              </a:defRPr>
            </a:pPr>
            <a:r>
              <a:rPr sz="1425" b="1">
                <a:solidFill>
                  <a:srgbClr val="0047BA"/>
                </a:solidFill>
                <a:latin typeface="Aptos"/>
                <a:ea typeface="Aptos"/>
                <a:cs typeface="Aptos"/>
              </a:rPr>
              <a:t>Shared control layer</a:t>
            </a:r>
          </a:p>
        </p:txBody>
      </p:sp>
      <p:sp>
        <p:nvSpPr>
          <p:cNvPr id="19" name="">
            <a:extLst xmlns:a="http://schemas.openxmlformats.org/drawingml/2006/main">
              <a:ext uri="{FF2B5EF4-FFF2-40B4-BE49-F238E27FC236}">
                <a16:creationId xmlns:a16="http://schemas.microsoft.com/office/drawing/2014/main" id="{473A17B2-DDE2-4A4B-AA32-CC2BBEB650D1}"/>
              </a:ext>
            </a:extLst>
          </p:cNvPr>
          <p:cNvSpPr>
            <a:spLocks xmlns:a="http://schemas.openxmlformats.org/drawingml/2006/main" noGrp="1"/>
          </p:cNvSpPr>
          <p:nvPr/>
        </p:nvSpPr>
        <p:spPr>
          <a:xfrm xmlns:a="http://schemas.openxmlformats.org/drawingml/2006/main">
            <a:off x="3143250" y="52578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lgn="l">
              <a:defRPr sz="1500" b="1">
                <a:solidFill>
                  <a:srgbClr val="0A192F"/>
                </a:solidFill>
                <a:latin typeface="Aptos"/>
                <a:ea typeface="Aptos"/>
                <a:cs typeface="Aptos"/>
              </a:defRPr>
            </a:pPr>
            <a:r>
              <a:rPr sz="1500" b="1">
                <a:solidFill>
                  <a:srgbClr val="0A192F"/>
                </a:solidFill>
                <a:latin typeface="Aptos"/>
                <a:ea typeface="Aptos"/>
                <a:cs typeface="Aptos"/>
              </a:rPr>
              <a:t>Flask API + PostgreSQL enforce authentication, tenant isolation, workflow rules, and audit records.</a:t>
            </a:r>
          </a:p>
        </p:txBody>
      </p:sp>
    </p:spTree>
    <p:extLst>
      <p:ext uri="{BB962C8B-B14F-4D97-AF65-F5344CB8AC3E}">
        <p14:creationId xmlns:p14="http://schemas.microsoft.com/office/powerpoint/2010/main" val="1414245446"/>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9B54E74-495F-45D9-B9A6-A26E1F659E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B404C3-D430-42AC-AA12-16007C3836DC}"/>
              </a:ext>
            </a:extLst>
          </p:cNvPr>
          <p:cNvSpPr>
            <a:spLocks xmlns:a="http://schemas.openxmlformats.org/drawingml/2006/main" noGrp="1"/>
          </p:cNvSpPr>
          <p:nvPr/>
        </p:nvSpPr>
        <p:spPr>
          <a:xfrm xmlns:a="http://schemas.openxmlformats.org/drawingml/2006/main">
            <a:off x="11239500" y="62865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64748B"/>
                </a:solidFill>
                <a:latin typeface="Aptos"/>
                <a:ea typeface="Aptos"/>
                <a:cs typeface="Aptos"/>
              </a:defRPr>
            </a:pPr>
            <a:r>
              <a:rPr sz="900" b="1">
                <a:solidFill>
                  <a:srgbClr val="64748B"/>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FE48EF61-5705-47A1-8997-3BAACC883938}"/>
              </a:ext>
            </a:extLst>
          </p:cNvPr>
          <p:cNvSpPr>
            <a:spLocks xmlns:a="http://schemas.openxmlformats.org/drawingml/2006/main" noGrp="1"/>
          </p:cNvSpPr>
          <p:nvPr/>
        </p:nvSpPr>
        <p:spPr>
          <a:xfrm xmlns:a="http://schemas.openxmlformats.org/drawingml/2006/main">
            <a:off x="685800" y="4286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A192F"/>
                </a:solidFill>
                <a:latin typeface="Aptos"/>
                <a:ea typeface="Aptos"/>
                <a:cs typeface="Aptos"/>
              </a:defRPr>
            </a:pPr>
            <a:r>
              <a:rPr sz="2550" b="1">
                <a:solidFill>
                  <a:srgbClr val="0A192F"/>
                </a:solidFill>
                <a:latin typeface="Aptos"/>
                <a:ea typeface="Aptos"/>
                <a:cs typeface="Aptos"/>
              </a:rPr>
              <a:t>Main product features</a:t>
            </a:r>
          </a:p>
        </p:txBody>
      </p:sp>
      <p:sp>
        <p:nvSpPr>
          <p:cNvPr id="4" name="">
            <a:extLst xmlns:a="http://schemas.openxmlformats.org/drawingml/2006/main">
              <a:ext uri="{FF2B5EF4-FFF2-40B4-BE49-F238E27FC236}">
                <a16:creationId xmlns:a16="http://schemas.microsoft.com/office/drawing/2014/main" id="{04660364-0622-42BE-AB3A-C2888FE91AC7}"/>
              </a:ext>
            </a:extLst>
          </p:cNvPr>
          <p:cNvSpPr>
            <a:spLocks xmlns:a="http://schemas.openxmlformats.org/drawingml/2006/main" noGrp="1"/>
          </p:cNvSpPr>
          <p:nvPr/>
        </p:nvSpPr>
        <p:spPr>
          <a:xfrm xmlns:a="http://schemas.openxmlformats.org/drawingml/2006/main">
            <a:off x="685800" y="100012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Controls are embedded from employee onboarding through payment execution</a:t>
            </a:r>
          </a:p>
        </p:txBody>
      </p:sp>
      <p:sp>
        <p:nvSpPr>
          <p:cNvPr id="5" name="">
            <a:extLst xmlns:a="http://schemas.openxmlformats.org/drawingml/2006/main">
              <a:ext uri="{FF2B5EF4-FFF2-40B4-BE49-F238E27FC236}">
                <a16:creationId xmlns:a16="http://schemas.microsoft.com/office/drawing/2014/main" id="{CF7AADA0-6CD5-4475-BEB1-ABC970692198}"/>
              </a:ext>
            </a:extLst>
          </p:cNvPr>
          <p:cNvSpPr>
            <a:spLocks xmlns:a="http://schemas.openxmlformats.org/drawingml/2006/main" noGrp="1"/>
          </p:cNvSpPr>
          <p:nvPr/>
        </p:nvSpPr>
        <p:spPr>
          <a:xfrm xmlns:a="http://schemas.openxmlformats.org/drawingml/2006/main">
            <a:off x="685800" y="15716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047BA"/>
                </a:solidFill>
                <a:latin typeface="Aptos"/>
                <a:ea typeface="Aptos"/>
                <a:cs typeface="Aptos"/>
              </a:defRPr>
            </a:pPr>
            <a:r>
              <a:rPr sz="1125" b="1">
                <a:solidFill>
                  <a:srgbClr val="0047BA"/>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ECE52F45-5A5F-421F-ACEA-D5C780A61866}"/>
              </a:ext>
            </a:extLst>
          </p:cNvPr>
          <p:cNvSpPr>
            <a:spLocks xmlns:a="http://schemas.openxmlformats.org/drawingml/2006/main" noGrp="1"/>
          </p:cNvSpPr>
          <p:nvPr/>
        </p:nvSpPr>
        <p:spPr>
          <a:xfrm xmlns:a="http://schemas.openxmlformats.org/drawingml/2006/main">
            <a:off x="1238250" y="1571625"/>
            <a:ext cx="433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Payroll upload and validation</a:t>
            </a:r>
          </a:p>
        </p:txBody>
      </p:sp>
      <p:sp>
        <p:nvSpPr>
          <p:cNvPr id="7" name="">
            <a:extLst xmlns:a="http://schemas.openxmlformats.org/drawingml/2006/main">
              <a:ext uri="{FF2B5EF4-FFF2-40B4-BE49-F238E27FC236}">
                <a16:creationId xmlns:a16="http://schemas.microsoft.com/office/drawing/2014/main" id="{3CD0B594-3ED3-46A9-8466-894257C4363F}"/>
              </a:ext>
            </a:extLst>
          </p:cNvPr>
          <p:cNvSpPr>
            <a:spLocks xmlns:a="http://schemas.openxmlformats.org/drawingml/2006/main" noGrp="1"/>
          </p:cNvSpPr>
          <p:nvPr/>
        </p:nvSpPr>
        <p:spPr>
          <a:xfrm xmlns:a="http://schemas.openxmlformats.org/drawingml/2006/main">
            <a:off x="1238250" y="1971675"/>
            <a:ext cx="4333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Excel or CSV upload, roster matching, duplicate checks, and inline correction.</a:t>
            </a:r>
          </a:p>
        </p:txBody>
      </p:sp>
      <p:sp>
        <p:nvSpPr>
          <p:cNvPr id="8" name="">
            <a:extLst xmlns:a="http://schemas.openxmlformats.org/drawingml/2006/main">
              <a:ext uri="{FF2B5EF4-FFF2-40B4-BE49-F238E27FC236}">
                <a16:creationId xmlns:a16="http://schemas.microsoft.com/office/drawing/2014/main" id="{E996AE26-4478-4624-9A53-FA6222142C71}"/>
              </a:ext>
            </a:extLst>
          </p:cNvPr>
          <p:cNvSpPr>
            <a:spLocks xmlns:a="http://schemas.openxmlformats.org/drawingml/2006/main" noGrp="1"/>
          </p:cNvSpPr>
          <p:nvPr/>
        </p:nvSpPr>
        <p:spPr>
          <a:xfrm xmlns:a="http://schemas.openxmlformats.org/drawingml/2006/main">
            <a:off x="685800" y="2705100"/>
            <a:ext cx="4762500" cy="952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DDA7563-459D-4D7E-A45B-42BF3907F265}"/>
              </a:ext>
            </a:extLst>
          </p:cNvPr>
          <p:cNvSpPr>
            <a:spLocks xmlns:a="http://schemas.openxmlformats.org/drawingml/2006/main" noGrp="1"/>
          </p:cNvSpPr>
          <p:nvPr/>
        </p:nvSpPr>
        <p:spPr>
          <a:xfrm xmlns:a="http://schemas.openxmlformats.org/drawingml/2006/main">
            <a:off x="6067425" y="15716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047BA"/>
                </a:solidFill>
                <a:latin typeface="Aptos"/>
                <a:ea typeface="Aptos"/>
                <a:cs typeface="Aptos"/>
              </a:defRPr>
            </a:pPr>
            <a:r>
              <a:rPr sz="1125" b="1">
                <a:solidFill>
                  <a:srgbClr val="0047BA"/>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8286FF1D-F811-491F-8989-70C4BA9538B7}"/>
              </a:ext>
            </a:extLst>
          </p:cNvPr>
          <p:cNvSpPr>
            <a:spLocks xmlns:a="http://schemas.openxmlformats.org/drawingml/2006/main" noGrp="1"/>
          </p:cNvSpPr>
          <p:nvPr/>
        </p:nvSpPr>
        <p:spPr>
          <a:xfrm xmlns:a="http://schemas.openxmlformats.org/drawingml/2006/main">
            <a:off x="6619875" y="1571625"/>
            <a:ext cx="433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Maker-checker approval</a:t>
            </a:r>
          </a:p>
        </p:txBody>
      </p:sp>
      <p:sp>
        <p:nvSpPr>
          <p:cNvPr id="11" name="">
            <a:extLst xmlns:a="http://schemas.openxmlformats.org/drawingml/2006/main">
              <a:ext uri="{FF2B5EF4-FFF2-40B4-BE49-F238E27FC236}">
                <a16:creationId xmlns:a16="http://schemas.microsoft.com/office/drawing/2014/main" id="{B0555D18-9B4E-496B-8873-5384095E648C}"/>
              </a:ext>
            </a:extLst>
          </p:cNvPr>
          <p:cNvSpPr>
            <a:spLocks xmlns:a="http://schemas.openxmlformats.org/drawingml/2006/main" noGrp="1"/>
          </p:cNvSpPr>
          <p:nvPr/>
        </p:nvSpPr>
        <p:spPr>
          <a:xfrm xmlns:a="http://schemas.openxmlformats.org/drawingml/2006/main">
            <a:off x="6619875" y="1971675"/>
            <a:ext cx="4333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HR submits a batch. Finance reviews exceptions and approves or rejects it.</a:t>
            </a:r>
          </a:p>
        </p:txBody>
      </p:sp>
      <p:sp>
        <p:nvSpPr>
          <p:cNvPr id="12" name="">
            <a:extLst xmlns:a="http://schemas.openxmlformats.org/drawingml/2006/main">
              <a:ext uri="{FF2B5EF4-FFF2-40B4-BE49-F238E27FC236}">
                <a16:creationId xmlns:a16="http://schemas.microsoft.com/office/drawing/2014/main" id="{4C4505C1-CB4B-4C43-BCBF-2DC82AC7CF65}"/>
              </a:ext>
            </a:extLst>
          </p:cNvPr>
          <p:cNvSpPr>
            <a:spLocks xmlns:a="http://schemas.openxmlformats.org/drawingml/2006/main" noGrp="1"/>
          </p:cNvSpPr>
          <p:nvPr/>
        </p:nvSpPr>
        <p:spPr>
          <a:xfrm xmlns:a="http://schemas.openxmlformats.org/drawingml/2006/main">
            <a:off x="6067425" y="2705100"/>
            <a:ext cx="4762500" cy="952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C4C318-F512-4866-8521-1C7197614B40}"/>
              </a:ext>
            </a:extLst>
          </p:cNvPr>
          <p:cNvSpPr>
            <a:spLocks xmlns:a="http://schemas.openxmlformats.org/drawingml/2006/main" noGrp="1"/>
          </p:cNvSpPr>
          <p:nvPr/>
        </p:nvSpPr>
        <p:spPr>
          <a:xfrm xmlns:a="http://schemas.openxmlformats.org/drawingml/2006/main">
            <a:off x="685800" y="29813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047BA"/>
                </a:solidFill>
                <a:latin typeface="Aptos"/>
                <a:ea typeface="Aptos"/>
                <a:cs typeface="Aptos"/>
              </a:defRPr>
            </a:pPr>
            <a:r>
              <a:rPr sz="1125" b="1">
                <a:solidFill>
                  <a:srgbClr val="0047BA"/>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701718F5-D500-440C-96F0-B42F1632EAEF}"/>
              </a:ext>
            </a:extLst>
          </p:cNvPr>
          <p:cNvSpPr>
            <a:spLocks xmlns:a="http://schemas.openxmlformats.org/drawingml/2006/main" noGrp="1"/>
          </p:cNvSpPr>
          <p:nvPr/>
        </p:nvSpPr>
        <p:spPr>
          <a:xfrm xmlns:a="http://schemas.openxmlformats.org/drawingml/2006/main">
            <a:off x="1238250" y="2981325"/>
            <a:ext cx="433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Risk and anomaly review</a:t>
            </a:r>
          </a:p>
        </p:txBody>
      </p:sp>
      <p:sp>
        <p:nvSpPr>
          <p:cNvPr id="15" name="">
            <a:extLst xmlns:a="http://schemas.openxmlformats.org/drawingml/2006/main">
              <a:ext uri="{FF2B5EF4-FFF2-40B4-BE49-F238E27FC236}">
                <a16:creationId xmlns:a16="http://schemas.microsoft.com/office/drawing/2014/main" id="{7DE988DA-BC29-4B1C-9585-B4D76E574AFE}"/>
              </a:ext>
            </a:extLst>
          </p:cNvPr>
          <p:cNvSpPr>
            <a:spLocks xmlns:a="http://schemas.openxmlformats.org/drawingml/2006/main" noGrp="1"/>
          </p:cNvSpPr>
          <p:nvPr/>
        </p:nvSpPr>
        <p:spPr>
          <a:xfrm xmlns:a="http://schemas.openxmlformats.org/drawingml/2006/main">
            <a:off x="1238250" y="3381375"/>
            <a:ext cx="4333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Suspicious records receive clear flags for human review before payout.</a:t>
            </a:r>
          </a:p>
        </p:txBody>
      </p:sp>
      <p:sp>
        <p:nvSpPr>
          <p:cNvPr id="16" name="">
            <a:extLst xmlns:a="http://schemas.openxmlformats.org/drawingml/2006/main">
              <a:ext uri="{FF2B5EF4-FFF2-40B4-BE49-F238E27FC236}">
                <a16:creationId xmlns:a16="http://schemas.microsoft.com/office/drawing/2014/main" id="{EA3127D2-BCBB-4E88-9486-5E83319F9333}"/>
              </a:ext>
            </a:extLst>
          </p:cNvPr>
          <p:cNvSpPr>
            <a:spLocks xmlns:a="http://schemas.openxmlformats.org/drawingml/2006/main" noGrp="1"/>
          </p:cNvSpPr>
          <p:nvPr/>
        </p:nvSpPr>
        <p:spPr>
          <a:xfrm xmlns:a="http://schemas.openxmlformats.org/drawingml/2006/main">
            <a:off x="685800" y="4114800"/>
            <a:ext cx="4762500" cy="952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FE35F83-1B89-4A90-80A7-C9D20F6BC980}"/>
              </a:ext>
            </a:extLst>
          </p:cNvPr>
          <p:cNvSpPr>
            <a:spLocks xmlns:a="http://schemas.openxmlformats.org/drawingml/2006/main" noGrp="1"/>
          </p:cNvSpPr>
          <p:nvPr/>
        </p:nvSpPr>
        <p:spPr>
          <a:xfrm xmlns:a="http://schemas.openxmlformats.org/drawingml/2006/main">
            <a:off x="6067425" y="29813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047BA"/>
                </a:solidFill>
                <a:latin typeface="Aptos"/>
                <a:ea typeface="Aptos"/>
                <a:cs typeface="Aptos"/>
              </a:defRPr>
            </a:pPr>
            <a:r>
              <a:rPr sz="1125" b="1">
                <a:solidFill>
                  <a:srgbClr val="0047BA"/>
                </a:solidFill>
                <a:latin typeface="Aptos"/>
                <a:ea typeface="Aptos"/>
                <a:cs typeface="Aptos"/>
              </a:rPr>
              <a:t>04</a:t>
            </a:r>
          </a:p>
        </p:txBody>
      </p:sp>
      <p:sp>
        <p:nvSpPr>
          <p:cNvPr id="18" name="">
            <a:extLst xmlns:a="http://schemas.openxmlformats.org/drawingml/2006/main">
              <a:ext uri="{FF2B5EF4-FFF2-40B4-BE49-F238E27FC236}">
                <a16:creationId xmlns:a16="http://schemas.microsoft.com/office/drawing/2014/main" id="{E284D23F-76B7-4CC0-99AA-141BF73B35CF}"/>
              </a:ext>
            </a:extLst>
          </p:cNvPr>
          <p:cNvSpPr>
            <a:spLocks xmlns:a="http://schemas.openxmlformats.org/drawingml/2006/main" noGrp="1"/>
          </p:cNvSpPr>
          <p:nvPr/>
        </p:nvSpPr>
        <p:spPr>
          <a:xfrm xmlns:a="http://schemas.openxmlformats.org/drawingml/2006/main">
            <a:off x="6619875" y="2981325"/>
            <a:ext cx="433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Wallet and disbursement control</a:t>
            </a:r>
          </a:p>
        </p:txBody>
      </p:sp>
      <p:sp>
        <p:nvSpPr>
          <p:cNvPr id="19" name="">
            <a:extLst xmlns:a="http://schemas.openxmlformats.org/drawingml/2006/main">
              <a:ext uri="{FF2B5EF4-FFF2-40B4-BE49-F238E27FC236}">
                <a16:creationId xmlns:a16="http://schemas.microsoft.com/office/drawing/2014/main" id="{F5E1C033-4C18-43CC-A53F-BF9E2B3E45DA}"/>
              </a:ext>
            </a:extLst>
          </p:cNvPr>
          <p:cNvSpPr>
            <a:spLocks xmlns:a="http://schemas.openxmlformats.org/drawingml/2006/main" noGrp="1"/>
          </p:cNvSpPr>
          <p:nvPr/>
        </p:nvSpPr>
        <p:spPr>
          <a:xfrm xmlns:a="http://schemas.openxmlformats.org/drawingml/2006/main">
            <a:off x="6619875" y="3381375"/>
            <a:ext cx="4333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The platform checks funds, records execution, and protects the approved amount.</a:t>
            </a:r>
          </a:p>
        </p:txBody>
      </p:sp>
      <p:sp>
        <p:nvSpPr>
          <p:cNvPr id="20" name="">
            <a:extLst xmlns:a="http://schemas.openxmlformats.org/drawingml/2006/main">
              <a:ext uri="{FF2B5EF4-FFF2-40B4-BE49-F238E27FC236}">
                <a16:creationId xmlns:a16="http://schemas.microsoft.com/office/drawing/2014/main" id="{70F991A4-FD7F-4AA1-9A01-D5C6B462222C}"/>
              </a:ext>
            </a:extLst>
          </p:cNvPr>
          <p:cNvSpPr>
            <a:spLocks xmlns:a="http://schemas.openxmlformats.org/drawingml/2006/main" noGrp="1"/>
          </p:cNvSpPr>
          <p:nvPr/>
        </p:nvSpPr>
        <p:spPr>
          <a:xfrm xmlns:a="http://schemas.openxmlformats.org/drawingml/2006/main">
            <a:off x="6067425" y="4114800"/>
            <a:ext cx="4762500" cy="952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F835765-13DA-479E-8179-93A962862A86}"/>
              </a:ext>
            </a:extLst>
          </p:cNvPr>
          <p:cNvSpPr>
            <a:spLocks xmlns:a="http://schemas.openxmlformats.org/drawingml/2006/main" noGrp="1"/>
          </p:cNvSpPr>
          <p:nvPr/>
        </p:nvSpPr>
        <p:spPr>
          <a:xfrm xmlns:a="http://schemas.openxmlformats.org/drawingml/2006/main">
            <a:off x="685800" y="4391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047BA"/>
                </a:solidFill>
                <a:latin typeface="Aptos"/>
                <a:ea typeface="Aptos"/>
                <a:cs typeface="Aptos"/>
              </a:defRPr>
            </a:pPr>
            <a:r>
              <a:rPr sz="1125" b="1">
                <a:solidFill>
                  <a:srgbClr val="0047BA"/>
                </a:solidFill>
                <a:latin typeface="Aptos"/>
                <a:ea typeface="Aptos"/>
                <a:cs typeface="Aptos"/>
              </a:rPr>
              <a:t>05</a:t>
            </a:r>
          </a:p>
        </p:txBody>
      </p:sp>
      <p:sp>
        <p:nvSpPr>
          <p:cNvPr id="22" name="">
            <a:extLst xmlns:a="http://schemas.openxmlformats.org/drawingml/2006/main">
              <a:ext uri="{FF2B5EF4-FFF2-40B4-BE49-F238E27FC236}">
                <a16:creationId xmlns:a16="http://schemas.microsoft.com/office/drawing/2014/main" id="{3642D071-7C44-4A6D-AC8D-7C967CD9F1F7}"/>
              </a:ext>
            </a:extLst>
          </p:cNvPr>
          <p:cNvSpPr>
            <a:spLocks xmlns:a="http://schemas.openxmlformats.org/drawingml/2006/main" noGrp="1"/>
          </p:cNvSpPr>
          <p:nvPr/>
        </p:nvSpPr>
        <p:spPr>
          <a:xfrm xmlns:a="http://schemas.openxmlformats.org/drawingml/2006/main">
            <a:off x="1238250" y="4391025"/>
            <a:ext cx="433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Audit trail</a:t>
            </a:r>
          </a:p>
        </p:txBody>
      </p:sp>
      <p:sp>
        <p:nvSpPr>
          <p:cNvPr id="23" name="">
            <a:extLst xmlns:a="http://schemas.openxmlformats.org/drawingml/2006/main">
              <a:ext uri="{FF2B5EF4-FFF2-40B4-BE49-F238E27FC236}">
                <a16:creationId xmlns:a16="http://schemas.microsoft.com/office/drawing/2014/main" id="{F8DE0929-DDCE-499E-B221-77D3761B7A21}"/>
              </a:ext>
            </a:extLst>
          </p:cNvPr>
          <p:cNvSpPr>
            <a:spLocks xmlns:a="http://schemas.openxmlformats.org/drawingml/2006/main" noGrp="1"/>
          </p:cNvSpPr>
          <p:nvPr/>
        </p:nvSpPr>
        <p:spPr>
          <a:xfrm xmlns:a="http://schemas.openxmlformats.org/drawingml/2006/main">
            <a:off x="1238250" y="4791075"/>
            <a:ext cx="4333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User actions, review notes, status changes, and payroll history remain traceable.</a:t>
            </a:r>
          </a:p>
        </p:txBody>
      </p:sp>
      <p:sp>
        <p:nvSpPr>
          <p:cNvPr id="24" name="">
            <a:extLst xmlns:a="http://schemas.openxmlformats.org/drawingml/2006/main">
              <a:ext uri="{FF2B5EF4-FFF2-40B4-BE49-F238E27FC236}">
                <a16:creationId xmlns:a16="http://schemas.microsoft.com/office/drawing/2014/main" id="{EC3F4E2E-8194-4C1F-B902-0B51C8F74108}"/>
              </a:ext>
            </a:extLst>
          </p:cNvPr>
          <p:cNvSpPr>
            <a:spLocks xmlns:a="http://schemas.openxmlformats.org/drawingml/2006/main" noGrp="1"/>
          </p:cNvSpPr>
          <p:nvPr/>
        </p:nvSpPr>
        <p:spPr>
          <a:xfrm xmlns:a="http://schemas.openxmlformats.org/drawingml/2006/main">
            <a:off x="685800" y="5524500"/>
            <a:ext cx="4762500" cy="9525"/>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6DDF7D4-BBB5-43E3-84A9-9DD842FD809B}"/>
              </a:ext>
            </a:extLst>
          </p:cNvPr>
          <p:cNvSpPr>
            <a:spLocks xmlns:a="http://schemas.openxmlformats.org/drawingml/2006/main" noGrp="1"/>
          </p:cNvSpPr>
          <p:nvPr/>
        </p:nvSpPr>
        <p:spPr>
          <a:xfrm xmlns:a="http://schemas.openxmlformats.org/drawingml/2006/main">
            <a:off x="6067425" y="4391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047BA"/>
                </a:solidFill>
                <a:latin typeface="Aptos"/>
                <a:ea typeface="Aptos"/>
                <a:cs typeface="Aptos"/>
              </a:defRPr>
            </a:pPr>
            <a:r>
              <a:rPr sz="1125" b="1">
                <a:solidFill>
                  <a:srgbClr val="0047BA"/>
                </a:solidFill>
                <a:latin typeface="Aptos"/>
                <a:ea typeface="Aptos"/>
                <a:cs typeface="Aptos"/>
              </a:rPr>
              <a:t>06</a:t>
            </a:r>
          </a:p>
        </p:txBody>
      </p:sp>
      <p:sp>
        <p:nvSpPr>
          <p:cNvPr id="26" name="">
            <a:extLst xmlns:a="http://schemas.openxmlformats.org/drawingml/2006/main">
              <a:ext uri="{FF2B5EF4-FFF2-40B4-BE49-F238E27FC236}">
                <a16:creationId xmlns:a16="http://schemas.microsoft.com/office/drawing/2014/main" id="{5FE62C88-0382-4044-9200-437EB8FFCAE9}"/>
              </a:ext>
            </a:extLst>
          </p:cNvPr>
          <p:cNvSpPr>
            <a:spLocks xmlns:a="http://schemas.openxmlformats.org/drawingml/2006/main" noGrp="1"/>
          </p:cNvSpPr>
          <p:nvPr/>
        </p:nvSpPr>
        <p:spPr>
          <a:xfrm xmlns:a="http://schemas.openxmlformats.org/drawingml/2006/main">
            <a:off x="6619875" y="4391025"/>
            <a:ext cx="433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Liquidity forecasting</a:t>
            </a:r>
          </a:p>
        </p:txBody>
      </p:sp>
      <p:sp>
        <p:nvSpPr>
          <p:cNvPr id="27" name="">
            <a:extLst xmlns:a="http://schemas.openxmlformats.org/drawingml/2006/main">
              <a:ext uri="{FF2B5EF4-FFF2-40B4-BE49-F238E27FC236}">
                <a16:creationId xmlns:a16="http://schemas.microsoft.com/office/drawing/2014/main" id="{2D207062-3CA7-43D5-93C4-91C159453377}"/>
              </a:ext>
            </a:extLst>
          </p:cNvPr>
          <p:cNvSpPr>
            <a:spLocks xmlns:a="http://schemas.openxmlformats.org/drawingml/2006/main" noGrp="1"/>
          </p:cNvSpPr>
          <p:nvPr/>
        </p:nvSpPr>
        <p:spPr>
          <a:xfrm xmlns:a="http://schemas.openxmlformats.org/drawingml/2006/main">
            <a:off x="6619875" y="4791075"/>
            <a:ext cx="4333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Company payroll history supports future funding estimates and shortfall planning.</a:t>
            </a:r>
          </a:p>
        </p:txBody>
      </p:sp>
      <p:sp>
        <p:nvSpPr>
          <p:cNvPr id="28" name="">
            <a:extLst xmlns:a="http://schemas.openxmlformats.org/drawingml/2006/main">
              <a:ext uri="{FF2B5EF4-FFF2-40B4-BE49-F238E27FC236}">
                <a16:creationId xmlns:a16="http://schemas.microsoft.com/office/drawing/2014/main" id="{3235624F-D751-4EFA-A800-461EDF22AA6E}"/>
              </a:ext>
            </a:extLst>
          </p:cNvPr>
          <p:cNvSpPr>
            <a:spLocks xmlns:a="http://schemas.openxmlformats.org/drawingml/2006/main" noGrp="1"/>
          </p:cNvSpPr>
          <p:nvPr/>
        </p:nvSpPr>
        <p:spPr>
          <a:xfrm xmlns:a="http://schemas.openxmlformats.org/drawingml/2006/main">
            <a:off x="6067425" y="5524500"/>
            <a:ext cx="4762500" cy="9525"/>
          </a:xfrm>
          <a:prstGeom xmlns:a="http://schemas.openxmlformats.org/drawingml/2006/main" prst="rect">
            <a:avLst/>
          </a:prstGeom>
          <a:solidFill xmlns:a="http://schemas.openxmlformats.org/drawingml/2006/main">
            <a:srgbClr val="D8E2EE"/>
          </a:solidFill>
          <a:ln xmlns:a="http://schemas.openxmlformats.org/drawingml/2006/main" w="0">
            <a:noFill/>
          </a:ln>
        </p:spPr>
      </p:sp>
    </p:spTree>
    <p:extLst>
      <p:ext uri="{BB962C8B-B14F-4D97-AF65-F5344CB8AC3E}">
        <p14:creationId xmlns:p14="http://schemas.microsoft.com/office/powerpoint/2010/main" val="237364778"/>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10D4637-767B-47D9-AD16-904C9A2A941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7F2A16-0D16-4CB0-A493-288E12D164AB}"/>
              </a:ext>
            </a:extLst>
          </p:cNvPr>
          <p:cNvSpPr>
            <a:spLocks xmlns:a="http://schemas.openxmlformats.org/drawingml/2006/main" noGrp="1"/>
          </p:cNvSpPr>
          <p:nvPr/>
        </p:nvSpPr>
        <p:spPr>
          <a:xfrm xmlns:a="http://schemas.openxmlformats.org/drawingml/2006/main">
            <a:off x="11239500" y="62865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64748B"/>
                </a:solidFill>
                <a:latin typeface="Aptos"/>
                <a:ea typeface="Aptos"/>
                <a:cs typeface="Aptos"/>
              </a:defRPr>
            </a:pPr>
            <a:r>
              <a:rPr sz="900" b="1">
                <a:solidFill>
                  <a:srgbClr val="64748B"/>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E78D7797-CFAB-43A7-AF04-B3B920B25A0D}"/>
              </a:ext>
            </a:extLst>
          </p:cNvPr>
          <p:cNvSpPr>
            <a:spLocks xmlns:a="http://schemas.openxmlformats.org/drawingml/2006/main" noGrp="1"/>
          </p:cNvSpPr>
          <p:nvPr/>
        </p:nvSpPr>
        <p:spPr>
          <a:xfrm xmlns:a="http://schemas.openxmlformats.org/drawingml/2006/main">
            <a:off x="685800" y="4286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A192F"/>
                </a:solidFill>
                <a:latin typeface="Aptos"/>
                <a:ea typeface="Aptos"/>
                <a:cs typeface="Aptos"/>
              </a:defRPr>
            </a:pPr>
            <a:r>
              <a:rPr sz="2550" b="1">
                <a:solidFill>
                  <a:srgbClr val="0A192F"/>
                </a:solidFill>
                <a:latin typeface="Aptos"/>
                <a:ea typeface="Aptos"/>
                <a:cs typeface="Aptos"/>
              </a:rPr>
              <a:t>End-to-end payroll workflow</a:t>
            </a:r>
          </a:p>
        </p:txBody>
      </p:sp>
      <p:sp>
        <p:nvSpPr>
          <p:cNvPr id="4" name="">
            <a:extLst xmlns:a="http://schemas.openxmlformats.org/drawingml/2006/main">
              <a:ext uri="{FF2B5EF4-FFF2-40B4-BE49-F238E27FC236}">
                <a16:creationId xmlns:a16="http://schemas.microsoft.com/office/drawing/2014/main" id="{9FCCF94D-C75E-4106-B340-FA846828D8D9}"/>
              </a:ext>
            </a:extLst>
          </p:cNvPr>
          <p:cNvSpPr>
            <a:spLocks xmlns:a="http://schemas.openxmlformats.org/drawingml/2006/main" noGrp="1"/>
          </p:cNvSpPr>
          <p:nvPr/>
        </p:nvSpPr>
        <p:spPr>
          <a:xfrm xmlns:a="http://schemas.openxmlformats.org/drawingml/2006/main">
            <a:off x="685800" y="100012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Each status change creates a clear owner and decision point</a:t>
            </a:r>
          </a:p>
        </p:txBody>
      </p:sp>
      <p:sp>
        <p:nvSpPr>
          <p:cNvPr id="5" name="">
            <a:extLst xmlns:a="http://schemas.openxmlformats.org/drawingml/2006/main">
              <a:ext uri="{FF2B5EF4-FFF2-40B4-BE49-F238E27FC236}">
                <a16:creationId xmlns:a16="http://schemas.microsoft.com/office/drawing/2014/main" id="{909EEF98-37C4-46A3-B82A-DCCDCC7FE188}"/>
              </a:ext>
            </a:extLst>
          </p:cNvPr>
          <p:cNvSpPr>
            <a:spLocks xmlns:a="http://schemas.openxmlformats.org/drawingml/2006/main" noGrp="1"/>
          </p:cNvSpPr>
          <p:nvPr/>
        </p:nvSpPr>
        <p:spPr>
          <a:xfrm xmlns:a="http://schemas.openxmlformats.org/drawingml/2006/main">
            <a:off x="1695450" y="2752725"/>
            <a:ext cx="781050" cy="57150"/>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C6AB7C-15A1-40F0-A6CE-D756893D604D}"/>
              </a:ext>
            </a:extLst>
          </p:cNvPr>
          <p:cNvSpPr>
            <a:spLocks xmlns:a="http://schemas.openxmlformats.org/drawingml/2006/main" noGrp="1"/>
          </p:cNvSpPr>
          <p:nvPr/>
        </p:nvSpPr>
        <p:spPr>
          <a:xfrm xmlns:a="http://schemas.openxmlformats.org/drawingml/2006/main">
            <a:off x="571500" y="2333625"/>
            <a:ext cx="1123950" cy="914400"/>
          </a:xfrm>
          <a:prstGeom xmlns:a="http://schemas.openxmlformats.org/drawingml/2006/main" prst="roundRect">
            <a:avLst>
              <a:gd name="adj" fmla="val 8333"/>
            </a:avLst>
          </a:prstGeom>
          <a:solidFill xmlns:a="http://schemas.openxmlformats.org/drawingml/2006/main">
            <a:srgbClr val="004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C8A574-300B-4AE9-998E-1711B5EC4DBA}"/>
              </a:ext>
            </a:extLst>
          </p:cNvPr>
          <p:cNvSpPr>
            <a:spLocks xmlns:a="http://schemas.openxmlformats.org/drawingml/2006/main" noGrp="1"/>
          </p:cNvSpPr>
          <p:nvPr/>
        </p:nvSpPr>
        <p:spPr>
          <a:xfrm xmlns:a="http://schemas.openxmlformats.org/drawingml/2006/main">
            <a:off x="647700" y="24098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8C7AC35F-B332-4FE2-9F75-A57E57071DB6}"/>
              </a:ext>
            </a:extLst>
          </p:cNvPr>
          <p:cNvSpPr>
            <a:spLocks xmlns:a="http://schemas.openxmlformats.org/drawingml/2006/main" noGrp="1"/>
          </p:cNvSpPr>
          <p:nvPr/>
        </p:nvSpPr>
        <p:spPr>
          <a:xfrm xmlns:a="http://schemas.openxmlformats.org/drawingml/2006/main">
            <a:off x="647700" y="26574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Upload</a:t>
            </a:r>
          </a:p>
        </p:txBody>
      </p:sp>
      <p:sp>
        <p:nvSpPr>
          <p:cNvPr id="9" name="">
            <a:extLst xmlns:a="http://schemas.openxmlformats.org/drawingml/2006/main">
              <a:ext uri="{FF2B5EF4-FFF2-40B4-BE49-F238E27FC236}">
                <a16:creationId xmlns:a16="http://schemas.microsoft.com/office/drawing/2014/main" id="{B8BD3823-EC93-4DCC-BC7B-5ABB3F0E966E}"/>
              </a:ext>
            </a:extLst>
          </p:cNvPr>
          <p:cNvSpPr>
            <a:spLocks xmlns:a="http://schemas.openxmlformats.org/drawingml/2006/main" noGrp="1"/>
          </p:cNvSpPr>
          <p:nvPr/>
        </p:nvSpPr>
        <p:spPr>
          <a:xfrm xmlns:a="http://schemas.openxmlformats.org/drawingml/2006/main">
            <a:off x="476250" y="3409950"/>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4748B"/>
                </a:solidFill>
                <a:latin typeface="Aptos"/>
                <a:ea typeface="Aptos"/>
                <a:cs typeface="Aptos"/>
              </a:defRPr>
            </a:pPr>
            <a:r>
              <a:rPr sz="1050" b="1">
                <a:solidFill>
                  <a:srgbClr val="64748B"/>
                </a:solidFill>
                <a:latin typeface="Aptos"/>
                <a:ea typeface="Aptos"/>
                <a:cs typeface="Aptos"/>
              </a:rPr>
              <a:t>HR Maker</a:t>
            </a:r>
          </a:p>
        </p:txBody>
      </p:sp>
      <p:sp>
        <p:nvSpPr>
          <p:cNvPr id="10" name="">
            <a:extLst xmlns:a="http://schemas.openxmlformats.org/drawingml/2006/main">
              <a:ext uri="{FF2B5EF4-FFF2-40B4-BE49-F238E27FC236}">
                <a16:creationId xmlns:a16="http://schemas.microsoft.com/office/drawing/2014/main" id="{272155AA-0376-48BE-8F1A-828BE034E1F7}"/>
              </a:ext>
            </a:extLst>
          </p:cNvPr>
          <p:cNvSpPr>
            <a:spLocks xmlns:a="http://schemas.openxmlformats.org/drawingml/2006/main" noGrp="1"/>
          </p:cNvSpPr>
          <p:nvPr/>
        </p:nvSpPr>
        <p:spPr>
          <a:xfrm xmlns:a="http://schemas.openxmlformats.org/drawingml/2006/main">
            <a:off x="3600450" y="2752725"/>
            <a:ext cx="781050" cy="57150"/>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1631E3-A929-4297-A780-F32A5F532825}"/>
              </a:ext>
            </a:extLst>
          </p:cNvPr>
          <p:cNvSpPr>
            <a:spLocks xmlns:a="http://schemas.openxmlformats.org/drawingml/2006/main" noGrp="1"/>
          </p:cNvSpPr>
          <p:nvPr/>
        </p:nvSpPr>
        <p:spPr>
          <a:xfrm xmlns:a="http://schemas.openxmlformats.org/drawingml/2006/main">
            <a:off x="2476500" y="2333625"/>
            <a:ext cx="1123950" cy="914400"/>
          </a:xfrm>
          <a:prstGeom xmlns:a="http://schemas.openxmlformats.org/drawingml/2006/main" prst="roundRect">
            <a:avLst>
              <a:gd name="adj" fmla="val 8333"/>
            </a:avLst>
          </a:prstGeom>
          <a:solidFill xmlns:a="http://schemas.openxmlformats.org/drawingml/2006/main">
            <a:srgbClr val="0047B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5C9295-7D20-4920-A749-1C7E4BB898A7}"/>
              </a:ext>
            </a:extLst>
          </p:cNvPr>
          <p:cNvSpPr>
            <a:spLocks xmlns:a="http://schemas.openxmlformats.org/drawingml/2006/main" noGrp="1"/>
          </p:cNvSpPr>
          <p:nvPr/>
        </p:nvSpPr>
        <p:spPr>
          <a:xfrm xmlns:a="http://schemas.openxmlformats.org/drawingml/2006/main">
            <a:off x="2552700" y="24098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4944CDF-71D7-4500-BC42-42476926AE94}"/>
              </a:ext>
            </a:extLst>
          </p:cNvPr>
          <p:cNvSpPr>
            <a:spLocks xmlns:a="http://schemas.openxmlformats.org/drawingml/2006/main" noGrp="1"/>
          </p:cNvSpPr>
          <p:nvPr/>
        </p:nvSpPr>
        <p:spPr>
          <a:xfrm xmlns:a="http://schemas.openxmlformats.org/drawingml/2006/main">
            <a:off x="2552700" y="26574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Validate</a:t>
            </a:r>
          </a:p>
        </p:txBody>
      </p:sp>
      <p:sp>
        <p:nvSpPr>
          <p:cNvPr id="14" name="">
            <a:extLst xmlns:a="http://schemas.openxmlformats.org/drawingml/2006/main">
              <a:ext uri="{FF2B5EF4-FFF2-40B4-BE49-F238E27FC236}">
                <a16:creationId xmlns:a16="http://schemas.microsoft.com/office/drawing/2014/main" id="{585CADA0-DB39-4DD0-9BBD-69F94C7C5E85}"/>
              </a:ext>
            </a:extLst>
          </p:cNvPr>
          <p:cNvSpPr>
            <a:spLocks xmlns:a="http://schemas.openxmlformats.org/drawingml/2006/main" noGrp="1"/>
          </p:cNvSpPr>
          <p:nvPr/>
        </p:nvSpPr>
        <p:spPr>
          <a:xfrm xmlns:a="http://schemas.openxmlformats.org/drawingml/2006/main">
            <a:off x="2381250" y="3409950"/>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4748B"/>
                </a:solidFill>
                <a:latin typeface="Aptos"/>
                <a:ea typeface="Aptos"/>
                <a:cs typeface="Aptos"/>
              </a:defRPr>
            </a:pPr>
            <a:r>
              <a:rPr sz="1050" b="1">
                <a:solidFill>
                  <a:srgbClr val="64748B"/>
                </a:solidFill>
                <a:latin typeface="Aptos"/>
                <a:ea typeface="Aptos"/>
                <a:cs typeface="Aptos"/>
              </a:rPr>
              <a:t>System</a:t>
            </a:r>
          </a:p>
        </p:txBody>
      </p:sp>
      <p:sp>
        <p:nvSpPr>
          <p:cNvPr id="15" name="">
            <a:extLst xmlns:a="http://schemas.openxmlformats.org/drawingml/2006/main">
              <a:ext uri="{FF2B5EF4-FFF2-40B4-BE49-F238E27FC236}">
                <a16:creationId xmlns:a16="http://schemas.microsoft.com/office/drawing/2014/main" id="{572C1266-D116-4D1C-9A9A-E625CD953FAC}"/>
              </a:ext>
            </a:extLst>
          </p:cNvPr>
          <p:cNvSpPr>
            <a:spLocks xmlns:a="http://schemas.openxmlformats.org/drawingml/2006/main" noGrp="1"/>
          </p:cNvSpPr>
          <p:nvPr/>
        </p:nvSpPr>
        <p:spPr>
          <a:xfrm xmlns:a="http://schemas.openxmlformats.org/drawingml/2006/main">
            <a:off x="5505450" y="2752725"/>
            <a:ext cx="781050" cy="57150"/>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1FC5DC9-871A-457F-A708-CC89FEBC3AC1}"/>
              </a:ext>
            </a:extLst>
          </p:cNvPr>
          <p:cNvSpPr>
            <a:spLocks xmlns:a="http://schemas.openxmlformats.org/drawingml/2006/main" noGrp="1"/>
          </p:cNvSpPr>
          <p:nvPr/>
        </p:nvSpPr>
        <p:spPr>
          <a:xfrm xmlns:a="http://schemas.openxmlformats.org/drawingml/2006/main">
            <a:off x="4381500" y="2333625"/>
            <a:ext cx="1123950" cy="914400"/>
          </a:xfrm>
          <a:prstGeom xmlns:a="http://schemas.openxmlformats.org/drawingml/2006/main" prst="roundRect">
            <a:avLst>
              <a:gd name="adj" fmla="val 8333"/>
            </a:avLst>
          </a:prstGeom>
          <a:solidFill xmlns:a="http://schemas.openxmlformats.org/drawingml/2006/main">
            <a:srgbClr val="0047B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DDEB532-CC32-4121-9C87-242E9364D364}"/>
              </a:ext>
            </a:extLst>
          </p:cNvPr>
          <p:cNvSpPr>
            <a:spLocks xmlns:a="http://schemas.openxmlformats.org/drawingml/2006/main" noGrp="1"/>
          </p:cNvSpPr>
          <p:nvPr/>
        </p:nvSpPr>
        <p:spPr>
          <a:xfrm xmlns:a="http://schemas.openxmlformats.org/drawingml/2006/main">
            <a:off x="4457700" y="24098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B2799227-8A8C-4EA0-8DC1-E0F161568359}"/>
              </a:ext>
            </a:extLst>
          </p:cNvPr>
          <p:cNvSpPr>
            <a:spLocks xmlns:a="http://schemas.openxmlformats.org/drawingml/2006/main" noGrp="1"/>
          </p:cNvSpPr>
          <p:nvPr/>
        </p:nvSpPr>
        <p:spPr>
          <a:xfrm xmlns:a="http://schemas.openxmlformats.org/drawingml/2006/main">
            <a:off x="4457700" y="26574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Correct</a:t>
            </a:r>
          </a:p>
        </p:txBody>
      </p:sp>
      <p:sp>
        <p:nvSpPr>
          <p:cNvPr id="19" name="">
            <a:extLst xmlns:a="http://schemas.openxmlformats.org/drawingml/2006/main">
              <a:ext uri="{FF2B5EF4-FFF2-40B4-BE49-F238E27FC236}">
                <a16:creationId xmlns:a16="http://schemas.microsoft.com/office/drawing/2014/main" id="{DF7E84AB-5D92-41D2-B2C2-FDCDF2BD021E}"/>
              </a:ext>
            </a:extLst>
          </p:cNvPr>
          <p:cNvSpPr>
            <a:spLocks xmlns:a="http://schemas.openxmlformats.org/drawingml/2006/main" noGrp="1"/>
          </p:cNvSpPr>
          <p:nvPr/>
        </p:nvSpPr>
        <p:spPr>
          <a:xfrm xmlns:a="http://schemas.openxmlformats.org/drawingml/2006/main">
            <a:off x="4286250" y="3409950"/>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4748B"/>
                </a:solidFill>
                <a:latin typeface="Aptos"/>
                <a:ea typeface="Aptos"/>
                <a:cs typeface="Aptos"/>
              </a:defRPr>
            </a:pPr>
            <a:r>
              <a:rPr sz="1050" b="1">
                <a:solidFill>
                  <a:srgbClr val="64748B"/>
                </a:solidFill>
                <a:latin typeface="Aptos"/>
                <a:ea typeface="Aptos"/>
                <a:cs typeface="Aptos"/>
              </a:rPr>
              <a:t>HR Maker</a:t>
            </a:r>
          </a:p>
        </p:txBody>
      </p:sp>
      <p:sp>
        <p:nvSpPr>
          <p:cNvPr id="20" name="">
            <a:extLst xmlns:a="http://schemas.openxmlformats.org/drawingml/2006/main">
              <a:ext uri="{FF2B5EF4-FFF2-40B4-BE49-F238E27FC236}">
                <a16:creationId xmlns:a16="http://schemas.microsoft.com/office/drawing/2014/main" id="{2678895D-486C-4575-99D3-1402A104C013}"/>
              </a:ext>
            </a:extLst>
          </p:cNvPr>
          <p:cNvSpPr>
            <a:spLocks xmlns:a="http://schemas.openxmlformats.org/drawingml/2006/main" noGrp="1"/>
          </p:cNvSpPr>
          <p:nvPr/>
        </p:nvSpPr>
        <p:spPr>
          <a:xfrm xmlns:a="http://schemas.openxmlformats.org/drawingml/2006/main">
            <a:off x="7410450" y="2752725"/>
            <a:ext cx="781050" cy="57150"/>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CA07EF7-8431-4243-BCAE-18F7B16EAA74}"/>
              </a:ext>
            </a:extLst>
          </p:cNvPr>
          <p:cNvSpPr>
            <a:spLocks xmlns:a="http://schemas.openxmlformats.org/drawingml/2006/main" noGrp="1"/>
          </p:cNvSpPr>
          <p:nvPr/>
        </p:nvSpPr>
        <p:spPr>
          <a:xfrm xmlns:a="http://schemas.openxmlformats.org/drawingml/2006/main">
            <a:off x="6286500" y="2333625"/>
            <a:ext cx="1123950" cy="914400"/>
          </a:xfrm>
          <a:prstGeom xmlns:a="http://schemas.openxmlformats.org/drawingml/2006/main" prst="roundRect">
            <a:avLst>
              <a:gd name="adj" fmla="val 8333"/>
            </a:avLst>
          </a:prstGeom>
          <a:solidFill xmlns:a="http://schemas.openxmlformats.org/drawingml/2006/main">
            <a:srgbClr val="FFC70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B1E95EB-C3A6-488A-8206-A390217FAA7D}"/>
              </a:ext>
            </a:extLst>
          </p:cNvPr>
          <p:cNvSpPr>
            <a:spLocks xmlns:a="http://schemas.openxmlformats.org/drawingml/2006/main" noGrp="1"/>
          </p:cNvSpPr>
          <p:nvPr/>
        </p:nvSpPr>
        <p:spPr>
          <a:xfrm xmlns:a="http://schemas.openxmlformats.org/drawingml/2006/main">
            <a:off x="6362700" y="24098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A192F"/>
                </a:solidFill>
                <a:latin typeface="Aptos"/>
                <a:ea typeface="Aptos"/>
                <a:cs typeface="Aptos"/>
              </a:defRPr>
            </a:pPr>
            <a:r>
              <a:rPr sz="1125" b="1">
                <a:solidFill>
                  <a:srgbClr val="0A192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4997478D-3EB6-4C5B-82CF-FF24D62EBECA}"/>
              </a:ext>
            </a:extLst>
          </p:cNvPr>
          <p:cNvSpPr>
            <a:spLocks xmlns:a="http://schemas.openxmlformats.org/drawingml/2006/main" noGrp="1"/>
          </p:cNvSpPr>
          <p:nvPr/>
        </p:nvSpPr>
        <p:spPr>
          <a:xfrm xmlns:a="http://schemas.openxmlformats.org/drawingml/2006/main">
            <a:off x="6362700" y="26574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0A192F"/>
                </a:solidFill>
                <a:latin typeface="Aptos"/>
                <a:ea typeface="Aptos"/>
                <a:cs typeface="Aptos"/>
              </a:defRPr>
            </a:pPr>
            <a:r>
              <a:rPr sz="1425" b="1">
                <a:solidFill>
                  <a:srgbClr val="0A192F"/>
                </a:solidFill>
                <a:latin typeface="Aptos"/>
                <a:ea typeface="Aptos"/>
                <a:cs typeface="Aptos"/>
              </a:rPr>
              <a:t>Review</a:t>
            </a:r>
          </a:p>
        </p:txBody>
      </p:sp>
      <p:sp>
        <p:nvSpPr>
          <p:cNvPr id="24" name="">
            <a:extLst xmlns:a="http://schemas.openxmlformats.org/drawingml/2006/main">
              <a:ext uri="{FF2B5EF4-FFF2-40B4-BE49-F238E27FC236}">
                <a16:creationId xmlns:a16="http://schemas.microsoft.com/office/drawing/2014/main" id="{59A1892D-12D2-4DDA-B744-1967AB63FCC3}"/>
              </a:ext>
            </a:extLst>
          </p:cNvPr>
          <p:cNvSpPr>
            <a:spLocks xmlns:a="http://schemas.openxmlformats.org/drawingml/2006/main" noGrp="1"/>
          </p:cNvSpPr>
          <p:nvPr/>
        </p:nvSpPr>
        <p:spPr>
          <a:xfrm xmlns:a="http://schemas.openxmlformats.org/drawingml/2006/main">
            <a:off x="6191250" y="3409950"/>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4748B"/>
                </a:solidFill>
                <a:latin typeface="Aptos"/>
                <a:ea typeface="Aptos"/>
                <a:cs typeface="Aptos"/>
              </a:defRPr>
            </a:pPr>
            <a:r>
              <a:rPr sz="1050" b="1">
                <a:solidFill>
                  <a:srgbClr val="64748B"/>
                </a:solidFill>
                <a:latin typeface="Aptos"/>
                <a:ea typeface="Aptos"/>
                <a:cs typeface="Aptos"/>
              </a:rPr>
              <a:t>Finance Checker</a:t>
            </a:r>
          </a:p>
        </p:txBody>
      </p:sp>
      <p:sp>
        <p:nvSpPr>
          <p:cNvPr id="25" name="">
            <a:extLst xmlns:a="http://schemas.openxmlformats.org/drawingml/2006/main">
              <a:ext uri="{FF2B5EF4-FFF2-40B4-BE49-F238E27FC236}">
                <a16:creationId xmlns:a16="http://schemas.microsoft.com/office/drawing/2014/main" id="{0F5A0405-8F56-4E36-A533-1E0DDBD36FB4}"/>
              </a:ext>
            </a:extLst>
          </p:cNvPr>
          <p:cNvSpPr>
            <a:spLocks xmlns:a="http://schemas.openxmlformats.org/drawingml/2006/main" noGrp="1"/>
          </p:cNvSpPr>
          <p:nvPr/>
        </p:nvSpPr>
        <p:spPr>
          <a:xfrm xmlns:a="http://schemas.openxmlformats.org/drawingml/2006/main">
            <a:off x="9315450" y="2752725"/>
            <a:ext cx="781050" cy="57150"/>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9385DD3-3B37-4609-AC37-0530DD9E5F6E}"/>
              </a:ext>
            </a:extLst>
          </p:cNvPr>
          <p:cNvSpPr>
            <a:spLocks xmlns:a="http://schemas.openxmlformats.org/drawingml/2006/main" noGrp="1"/>
          </p:cNvSpPr>
          <p:nvPr/>
        </p:nvSpPr>
        <p:spPr>
          <a:xfrm xmlns:a="http://schemas.openxmlformats.org/drawingml/2006/main">
            <a:off x="8191500" y="2333625"/>
            <a:ext cx="1123950" cy="914400"/>
          </a:xfrm>
          <a:prstGeom xmlns:a="http://schemas.openxmlformats.org/drawingml/2006/main" prst="roundRect">
            <a:avLst>
              <a:gd name="adj" fmla="val 8333"/>
            </a:avLst>
          </a:prstGeom>
          <a:solidFill xmlns:a="http://schemas.openxmlformats.org/drawingml/2006/main">
            <a:srgbClr val="0047B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BDEF79D-9233-41F5-8D3D-9EB0DB3B958C}"/>
              </a:ext>
            </a:extLst>
          </p:cNvPr>
          <p:cNvSpPr>
            <a:spLocks xmlns:a="http://schemas.openxmlformats.org/drawingml/2006/main" noGrp="1"/>
          </p:cNvSpPr>
          <p:nvPr/>
        </p:nvSpPr>
        <p:spPr>
          <a:xfrm xmlns:a="http://schemas.openxmlformats.org/drawingml/2006/main">
            <a:off x="8267700" y="24098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5</a:t>
            </a:r>
          </a:p>
        </p:txBody>
      </p:sp>
      <p:sp>
        <p:nvSpPr>
          <p:cNvPr id="28" name="">
            <a:extLst xmlns:a="http://schemas.openxmlformats.org/drawingml/2006/main">
              <a:ext uri="{FF2B5EF4-FFF2-40B4-BE49-F238E27FC236}">
                <a16:creationId xmlns:a16="http://schemas.microsoft.com/office/drawing/2014/main" id="{1A007CDC-A3E3-4C9D-9CEE-A4F452ADF205}"/>
              </a:ext>
            </a:extLst>
          </p:cNvPr>
          <p:cNvSpPr>
            <a:spLocks xmlns:a="http://schemas.openxmlformats.org/drawingml/2006/main" noGrp="1"/>
          </p:cNvSpPr>
          <p:nvPr/>
        </p:nvSpPr>
        <p:spPr>
          <a:xfrm xmlns:a="http://schemas.openxmlformats.org/drawingml/2006/main">
            <a:off x="8267700" y="26574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Execute</a:t>
            </a:r>
          </a:p>
        </p:txBody>
      </p:sp>
      <p:sp>
        <p:nvSpPr>
          <p:cNvPr id="29" name="">
            <a:extLst xmlns:a="http://schemas.openxmlformats.org/drawingml/2006/main">
              <a:ext uri="{FF2B5EF4-FFF2-40B4-BE49-F238E27FC236}">
                <a16:creationId xmlns:a16="http://schemas.microsoft.com/office/drawing/2014/main" id="{C03044D7-1E72-485C-A47B-5484A81BAEA0}"/>
              </a:ext>
            </a:extLst>
          </p:cNvPr>
          <p:cNvSpPr>
            <a:spLocks xmlns:a="http://schemas.openxmlformats.org/drawingml/2006/main" noGrp="1"/>
          </p:cNvSpPr>
          <p:nvPr/>
        </p:nvSpPr>
        <p:spPr>
          <a:xfrm xmlns:a="http://schemas.openxmlformats.org/drawingml/2006/main">
            <a:off x="8096250" y="3409950"/>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4748B"/>
                </a:solidFill>
                <a:latin typeface="Aptos"/>
                <a:ea typeface="Aptos"/>
                <a:cs typeface="Aptos"/>
              </a:defRPr>
            </a:pPr>
            <a:r>
              <a:rPr sz="1050" b="1">
                <a:solidFill>
                  <a:srgbClr val="64748B"/>
                </a:solidFill>
                <a:latin typeface="Aptos"/>
                <a:ea typeface="Aptos"/>
                <a:cs typeface="Aptos"/>
              </a:rPr>
              <a:t>HR Maker</a:t>
            </a:r>
          </a:p>
        </p:txBody>
      </p:sp>
      <p:sp>
        <p:nvSpPr>
          <p:cNvPr id="30" name="">
            <a:extLst xmlns:a="http://schemas.openxmlformats.org/drawingml/2006/main">
              <a:ext uri="{FF2B5EF4-FFF2-40B4-BE49-F238E27FC236}">
                <a16:creationId xmlns:a16="http://schemas.microsoft.com/office/drawing/2014/main" id="{D8425D86-26F0-4723-A6F3-D2C8D3297346}"/>
              </a:ext>
            </a:extLst>
          </p:cNvPr>
          <p:cNvSpPr>
            <a:spLocks xmlns:a="http://schemas.openxmlformats.org/drawingml/2006/main" noGrp="1"/>
          </p:cNvSpPr>
          <p:nvPr/>
        </p:nvSpPr>
        <p:spPr>
          <a:xfrm xmlns:a="http://schemas.openxmlformats.org/drawingml/2006/main">
            <a:off x="10096500" y="2333625"/>
            <a:ext cx="1123950" cy="914400"/>
          </a:xfrm>
          <a:prstGeom xmlns:a="http://schemas.openxmlformats.org/drawingml/2006/main" prst="roundRect">
            <a:avLst>
              <a:gd name="adj" fmla="val 8333"/>
            </a:avLst>
          </a:prstGeom>
          <a:solidFill xmlns:a="http://schemas.openxmlformats.org/drawingml/2006/main">
            <a:srgbClr val="0F9D7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D27918A-8A65-439D-8203-DDFDD02592FB}"/>
              </a:ext>
            </a:extLst>
          </p:cNvPr>
          <p:cNvSpPr>
            <a:spLocks xmlns:a="http://schemas.openxmlformats.org/drawingml/2006/main" noGrp="1"/>
          </p:cNvSpPr>
          <p:nvPr/>
        </p:nvSpPr>
        <p:spPr>
          <a:xfrm xmlns:a="http://schemas.openxmlformats.org/drawingml/2006/main">
            <a:off x="10172700" y="24098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2473724E-B05F-478B-ABE2-620881C2653A}"/>
              </a:ext>
            </a:extLst>
          </p:cNvPr>
          <p:cNvSpPr>
            <a:spLocks xmlns:a="http://schemas.openxmlformats.org/drawingml/2006/main" noGrp="1"/>
          </p:cNvSpPr>
          <p:nvPr/>
        </p:nvSpPr>
        <p:spPr>
          <a:xfrm xmlns:a="http://schemas.openxmlformats.org/drawingml/2006/main">
            <a:off x="10172700" y="26574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Record</a:t>
            </a:r>
          </a:p>
        </p:txBody>
      </p:sp>
      <p:sp>
        <p:nvSpPr>
          <p:cNvPr id="33" name="">
            <a:extLst xmlns:a="http://schemas.openxmlformats.org/drawingml/2006/main">
              <a:ext uri="{FF2B5EF4-FFF2-40B4-BE49-F238E27FC236}">
                <a16:creationId xmlns:a16="http://schemas.microsoft.com/office/drawing/2014/main" id="{EA2A80B8-D72C-4543-AAF5-209EEB72DC96}"/>
              </a:ext>
            </a:extLst>
          </p:cNvPr>
          <p:cNvSpPr>
            <a:spLocks xmlns:a="http://schemas.openxmlformats.org/drawingml/2006/main" noGrp="1"/>
          </p:cNvSpPr>
          <p:nvPr/>
        </p:nvSpPr>
        <p:spPr>
          <a:xfrm xmlns:a="http://schemas.openxmlformats.org/drawingml/2006/main">
            <a:off x="10001250" y="3409950"/>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64748B"/>
                </a:solidFill>
                <a:latin typeface="Aptos"/>
                <a:ea typeface="Aptos"/>
                <a:cs typeface="Aptos"/>
              </a:defRPr>
            </a:pPr>
            <a:r>
              <a:rPr sz="1050" b="1">
                <a:solidFill>
                  <a:srgbClr val="64748B"/>
                </a:solidFill>
                <a:latin typeface="Aptos"/>
                <a:ea typeface="Aptos"/>
                <a:cs typeface="Aptos"/>
              </a:rPr>
              <a:t>System</a:t>
            </a:r>
          </a:p>
        </p:txBody>
      </p:sp>
      <p:sp>
        <p:nvSpPr>
          <p:cNvPr id="34" name="">
            <a:extLst xmlns:a="http://schemas.openxmlformats.org/drawingml/2006/main">
              <a:ext uri="{FF2B5EF4-FFF2-40B4-BE49-F238E27FC236}">
                <a16:creationId xmlns:a16="http://schemas.microsoft.com/office/drawing/2014/main" id="{EEF3E9A4-FCF2-4EE3-BD55-427B2C3DC56F}"/>
              </a:ext>
            </a:extLst>
          </p:cNvPr>
          <p:cNvSpPr>
            <a:spLocks xmlns:a="http://schemas.openxmlformats.org/drawingml/2006/main" noGrp="1"/>
          </p:cNvSpPr>
          <p:nvPr/>
        </p:nvSpPr>
        <p:spPr>
          <a:xfrm xmlns:a="http://schemas.openxmlformats.org/drawingml/2006/main">
            <a:off x="685800" y="4333875"/>
            <a:ext cx="107442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8E2EE"/>
            </a:solidFill>
          </a:ln>
        </p:spPr>
      </p:sp>
      <p:sp>
        <p:nvSpPr>
          <p:cNvPr id="35" name="">
            <a:extLst xmlns:a="http://schemas.openxmlformats.org/drawingml/2006/main">
              <a:ext uri="{FF2B5EF4-FFF2-40B4-BE49-F238E27FC236}">
                <a16:creationId xmlns:a16="http://schemas.microsoft.com/office/drawing/2014/main" id="{2E7E9839-771A-4F71-B8A2-48A84AF6285F}"/>
              </a:ext>
            </a:extLst>
          </p:cNvPr>
          <p:cNvSpPr>
            <a:spLocks xmlns:a="http://schemas.openxmlformats.org/drawingml/2006/main" noGrp="1"/>
          </p:cNvSpPr>
          <p:nvPr/>
        </p:nvSpPr>
        <p:spPr>
          <a:xfrm xmlns:a="http://schemas.openxmlformats.org/drawingml/2006/main">
            <a:off x="933450" y="45434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0047BA"/>
                </a:solidFill>
                <a:latin typeface="Aptos"/>
                <a:ea typeface="Aptos"/>
                <a:cs typeface="Aptos"/>
              </a:defRPr>
            </a:pPr>
            <a:r>
              <a:rPr sz="1350" b="1">
                <a:solidFill>
                  <a:srgbClr val="0047BA"/>
                </a:solidFill>
                <a:latin typeface="Aptos"/>
                <a:ea typeface="Aptos"/>
                <a:cs typeface="Aptos"/>
              </a:rPr>
              <a:t>Control principle</a:t>
            </a:r>
          </a:p>
        </p:txBody>
      </p:sp>
      <p:sp>
        <p:nvSpPr>
          <p:cNvPr id="36" name="">
            <a:extLst xmlns:a="http://schemas.openxmlformats.org/drawingml/2006/main">
              <a:ext uri="{FF2B5EF4-FFF2-40B4-BE49-F238E27FC236}">
                <a16:creationId xmlns:a16="http://schemas.microsoft.com/office/drawing/2014/main" id="{ADA48B80-13DC-4419-9CE5-5ADF3C958AA8}"/>
              </a:ext>
            </a:extLst>
          </p:cNvPr>
          <p:cNvSpPr>
            <a:spLocks xmlns:a="http://schemas.openxmlformats.org/drawingml/2006/main" noGrp="1"/>
          </p:cNvSpPr>
          <p:nvPr/>
        </p:nvSpPr>
        <p:spPr>
          <a:xfrm xmlns:a="http://schemas.openxmlformats.org/drawingml/2006/main">
            <a:off x="3143250" y="4495800"/>
            <a:ext cx="7762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A192F"/>
                </a:solidFill>
                <a:latin typeface="Aptos"/>
                <a:ea typeface="Aptos"/>
                <a:cs typeface="Aptos"/>
              </a:defRPr>
            </a:pPr>
            <a:r>
              <a:rPr sz="1575" b="1">
                <a:solidFill>
                  <a:srgbClr val="0A192F"/>
                </a:solidFill>
                <a:latin typeface="Aptos"/>
                <a:ea typeface="Aptos"/>
                <a:cs typeface="Aptos"/>
              </a:rPr>
              <a:t>Only an approved batch can be executed. The system writes payroll history after successful execution, then refreshes the funding forecast.</a:t>
            </a:r>
          </a:p>
        </p:txBody>
      </p:sp>
      <p:sp>
        <p:nvSpPr>
          <p:cNvPr id="37" name="">
            <a:extLst xmlns:a="http://schemas.openxmlformats.org/drawingml/2006/main">
              <a:ext uri="{FF2B5EF4-FFF2-40B4-BE49-F238E27FC236}">
                <a16:creationId xmlns:a16="http://schemas.microsoft.com/office/drawing/2014/main" id="{22B49C60-D92E-4401-9317-5FBA23B29665}"/>
              </a:ext>
            </a:extLst>
          </p:cNvPr>
          <p:cNvSpPr>
            <a:spLocks xmlns:a="http://schemas.openxmlformats.org/drawingml/2006/main" noGrp="1"/>
          </p:cNvSpPr>
          <p:nvPr/>
        </p:nvSpPr>
        <p:spPr>
          <a:xfrm xmlns:a="http://schemas.openxmlformats.org/drawingml/2006/main">
            <a:off x="685800" y="59245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4748B"/>
                </a:solidFill>
                <a:latin typeface="Aptos"/>
                <a:ea typeface="Aptos"/>
                <a:cs typeface="Aptos"/>
              </a:defRPr>
            </a:pPr>
            <a:r>
              <a:rPr sz="1125" b="0">
                <a:solidFill>
                  <a:srgbClr val="64748B"/>
                </a:solidFill>
                <a:latin typeface="Aptos"/>
                <a:ea typeface="Aptos"/>
                <a:cs typeface="Aptos"/>
              </a:rPr>
              <a:t>Upload  →  validation  →  correction  →  finance decision  →  payout  →  immutable record</a:t>
            </a:r>
          </a:p>
        </p:txBody>
      </p:sp>
    </p:spTree>
    <p:extLst>
      <p:ext uri="{BB962C8B-B14F-4D97-AF65-F5344CB8AC3E}">
        <p14:creationId xmlns:p14="http://schemas.microsoft.com/office/powerpoint/2010/main" val="567341815"/>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837D434-3356-4406-B1E4-50C5D5A5D63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9DCC9F-7472-4796-A769-E4F2C195E5EC}"/>
              </a:ext>
            </a:extLst>
          </p:cNvPr>
          <p:cNvSpPr>
            <a:spLocks xmlns:a="http://schemas.openxmlformats.org/drawingml/2006/main" noGrp="1"/>
          </p:cNvSpPr>
          <p:nvPr/>
        </p:nvSpPr>
        <p:spPr>
          <a:xfrm xmlns:a="http://schemas.openxmlformats.org/drawingml/2006/main">
            <a:off x="11239500" y="62865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64748B"/>
                </a:solidFill>
                <a:latin typeface="Aptos"/>
                <a:ea typeface="Aptos"/>
                <a:cs typeface="Aptos"/>
              </a:defRPr>
            </a:pPr>
            <a:r>
              <a:rPr sz="900" b="1">
                <a:solidFill>
                  <a:srgbClr val="64748B"/>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176760C7-957F-4903-90E3-449A9DE62350}"/>
              </a:ext>
            </a:extLst>
          </p:cNvPr>
          <p:cNvSpPr>
            <a:spLocks xmlns:a="http://schemas.openxmlformats.org/drawingml/2006/main" noGrp="1"/>
          </p:cNvSpPr>
          <p:nvPr/>
        </p:nvSpPr>
        <p:spPr>
          <a:xfrm xmlns:a="http://schemas.openxmlformats.org/drawingml/2006/main">
            <a:off x="685800" y="4286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A192F"/>
                </a:solidFill>
                <a:latin typeface="Aptos"/>
                <a:ea typeface="Aptos"/>
                <a:cs typeface="Aptos"/>
              </a:defRPr>
            </a:pPr>
            <a:r>
              <a:rPr sz="2550" b="1">
                <a:solidFill>
                  <a:srgbClr val="0A192F"/>
                </a:solidFill>
                <a:latin typeface="Aptos"/>
                <a:ea typeface="Aptos"/>
                <a:cs typeface="Aptos"/>
              </a:rPr>
              <a:t>Implementation plan and expected value</a:t>
            </a:r>
          </a:p>
        </p:txBody>
      </p:sp>
      <p:sp>
        <p:nvSpPr>
          <p:cNvPr id="4" name="">
            <a:extLst xmlns:a="http://schemas.openxmlformats.org/drawingml/2006/main">
              <a:ext uri="{FF2B5EF4-FFF2-40B4-BE49-F238E27FC236}">
                <a16:creationId xmlns:a16="http://schemas.microsoft.com/office/drawing/2014/main" id="{5965BC8B-8809-40FE-BA2C-0B3BBED65C89}"/>
              </a:ext>
            </a:extLst>
          </p:cNvPr>
          <p:cNvSpPr>
            <a:spLocks xmlns:a="http://schemas.openxmlformats.org/drawingml/2006/main" noGrp="1"/>
          </p:cNvSpPr>
          <p:nvPr/>
        </p:nvSpPr>
        <p:spPr>
          <a:xfrm xmlns:a="http://schemas.openxmlformats.org/drawingml/2006/main">
            <a:off x="685800" y="100012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A focused pilot can validate the workflow before broader rollout</a:t>
            </a:r>
          </a:p>
        </p:txBody>
      </p:sp>
      <p:sp>
        <p:nvSpPr>
          <p:cNvPr id="5" name="">
            <a:extLst xmlns:a="http://schemas.openxmlformats.org/drawingml/2006/main">
              <a:ext uri="{FF2B5EF4-FFF2-40B4-BE49-F238E27FC236}">
                <a16:creationId xmlns:a16="http://schemas.microsoft.com/office/drawing/2014/main" id="{74C40DAB-EF82-4DBA-908B-3318965EB0F3}"/>
              </a:ext>
            </a:extLst>
          </p:cNvPr>
          <p:cNvSpPr>
            <a:spLocks xmlns:a="http://schemas.openxmlformats.org/drawingml/2006/main" noGrp="1"/>
          </p:cNvSpPr>
          <p:nvPr/>
        </p:nvSpPr>
        <p:spPr>
          <a:xfrm xmlns:a="http://schemas.openxmlformats.org/drawingml/2006/main">
            <a:off x="685800" y="158115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12"/>
          </a:bodyPr>
          <a:lstStyle xmlns:a="http://schemas.openxmlformats.org/drawingml/2006/main"/>
          <a:p xmlns:a="http://schemas.openxmlformats.org/drawingml/2006/main">
            <a:pPr algn="l">
              <a:defRPr sz="1650" b="1">
                <a:solidFill>
                  <a:srgbClr val="0047BA"/>
                </a:solidFill>
                <a:latin typeface="Aptos"/>
                <a:ea typeface="Aptos"/>
                <a:cs typeface="Aptos"/>
              </a:defRPr>
            </a:pPr>
            <a:r>
              <a:rPr sz="1650" b="1">
                <a:solidFill>
                  <a:srgbClr val="0047BA"/>
                </a:solidFill>
                <a:latin typeface="Aptos"/>
                <a:ea typeface="Aptos"/>
                <a:cs typeface="Aptos"/>
              </a:rPr>
              <a:t>Proposed delivery</a:t>
            </a:r>
          </a:p>
        </p:txBody>
      </p:sp>
      <p:sp>
        <p:nvSpPr>
          <p:cNvPr id="6" name="">
            <a:extLst xmlns:a="http://schemas.openxmlformats.org/drawingml/2006/main">
              <a:ext uri="{FF2B5EF4-FFF2-40B4-BE49-F238E27FC236}">
                <a16:creationId xmlns:a16="http://schemas.microsoft.com/office/drawing/2014/main" id="{AE095F27-F119-41B5-A818-63CC81D82B4D}"/>
              </a:ext>
            </a:extLst>
          </p:cNvPr>
          <p:cNvSpPr>
            <a:spLocks xmlns:a="http://schemas.openxmlformats.org/drawingml/2006/main" noGrp="1"/>
          </p:cNvSpPr>
          <p:nvPr/>
        </p:nvSpPr>
        <p:spPr>
          <a:xfrm xmlns:a="http://schemas.openxmlformats.org/drawingml/2006/main">
            <a:off x="685800" y="2095500"/>
            <a:ext cx="1104900" cy="361950"/>
          </a:xfrm>
          <a:prstGeom xmlns:a="http://schemas.openxmlformats.org/drawingml/2006/main" prst="roundRect">
            <a:avLst>
              <a:gd name="adj" fmla="val 21053"/>
            </a:avLst>
          </a:prstGeom>
          <a:solidFill xmlns:a="http://schemas.openxmlformats.org/drawingml/2006/main">
            <a:srgbClr val="004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01CACF4-B509-4DDD-AA83-6F8815709D98}"/>
              </a:ext>
            </a:extLst>
          </p:cNvPr>
          <p:cNvSpPr>
            <a:spLocks xmlns:a="http://schemas.openxmlformats.org/drawingml/2006/main" noGrp="1"/>
          </p:cNvSpPr>
          <p:nvPr/>
        </p:nvSpPr>
        <p:spPr>
          <a:xfrm xmlns:a="http://schemas.openxmlformats.org/drawingml/2006/main">
            <a:off x="742950" y="21336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Phase 1</a:t>
            </a:r>
          </a:p>
        </p:txBody>
      </p:sp>
      <p:sp>
        <p:nvSpPr>
          <p:cNvPr id="8" name="">
            <a:extLst xmlns:a="http://schemas.openxmlformats.org/drawingml/2006/main">
              <a:ext uri="{FF2B5EF4-FFF2-40B4-BE49-F238E27FC236}">
                <a16:creationId xmlns:a16="http://schemas.microsoft.com/office/drawing/2014/main" id="{07E2B003-FF6D-4DAC-AFB7-7E82B973207F}"/>
              </a:ext>
            </a:extLst>
          </p:cNvPr>
          <p:cNvSpPr>
            <a:spLocks xmlns:a="http://schemas.openxmlformats.org/drawingml/2006/main" noGrp="1"/>
          </p:cNvSpPr>
          <p:nvPr/>
        </p:nvSpPr>
        <p:spPr>
          <a:xfrm xmlns:a="http://schemas.openxmlformats.org/drawingml/2006/main">
            <a:off x="2047875" y="20764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A192F"/>
                </a:solidFill>
                <a:latin typeface="Aptos"/>
                <a:ea typeface="Aptos"/>
                <a:cs typeface="Aptos"/>
              </a:defRPr>
            </a:pPr>
            <a:r>
              <a:rPr sz="1500" b="1">
                <a:solidFill>
                  <a:srgbClr val="0A192F"/>
                </a:solidFill>
                <a:latin typeface="Aptos"/>
                <a:ea typeface="Aptos"/>
                <a:cs typeface="Aptos"/>
              </a:rPr>
              <a:t>Pilot readiness</a:t>
            </a:r>
          </a:p>
        </p:txBody>
      </p:sp>
      <p:sp>
        <p:nvSpPr>
          <p:cNvPr id="9" name="">
            <a:extLst xmlns:a="http://schemas.openxmlformats.org/drawingml/2006/main">
              <a:ext uri="{FF2B5EF4-FFF2-40B4-BE49-F238E27FC236}">
                <a16:creationId xmlns:a16="http://schemas.microsoft.com/office/drawing/2014/main" id="{77CDFDB1-292A-48B1-A131-0014F8FDC1CE}"/>
              </a:ext>
            </a:extLst>
          </p:cNvPr>
          <p:cNvSpPr>
            <a:spLocks xmlns:a="http://schemas.openxmlformats.org/drawingml/2006/main" noGrp="1"/>
          </p:cNvSpPr>
          <p:nvPr/>
        </p:nvSpPr>
        <p:spPr>
          <a:xfrm xmlns:a="http://schemas.openxmlformats.org/drawingml/2006/main">
            <a:off x="2047875" y="24193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Confirm users, company data, wallet rules, and payroll template.</a:t>
            </a:r>
          </a:p>
        </p:txBody>
      </p:sp>
      <p:sp>
        <p:nvSpPr>
          <p:cNvPr id="10" name="">
            <a:extLst xmlns:a="http://schemas.openxmlformats.org/drawingml/2006/main">
              <a:ext uri="{FF2B5EF4-FFF2-40B4-BE49-F238E27FC236}">
                <a16:creationId xmlns:a16="http://schemas.microsoft.com/office/drawing/2014/main" id="{65D1E129-DB84-4E53-B9FC-F48CC14BFBD4}"/>
              </a:ext>
            </a:extLst>
          </p:cNvPr>
          <p:cNvSpPr>
            <a:spLocks xmlns:a="http://schemas.openxmlformats.org/drawingml/2006/main" noGrp="1"/>
          </p:cNvSpPr>
          <p:nvPr/>
        </p:nvSpPr>
        <p:spPr>
          <a:xfrm xmlns:a="http://schemas.openxmlformats.org/drawingml/2006/main">
            <a:off x="685800" y="3162300"/>
            <a:ext cx="1104900" cy="361950"/>
          </a:xfrm>
          <a:prstGeom xmlns:a="http://schemas.openxmlformats.org/drawingml/2006/main" prst="roundRect">
            <a:avLst>
              <a:gd name="adj" fmla="val 21053"/>
            </a:avLst>
          </a:prstGeom>
          <a:solidFill xmlns:a="http://schemas.openxmlformats.org/drawingml/2006/main">
            <a:srgbClr val="FFC70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1A2C0F-BF0E-4CBB-9165-80A71590BFCB}"/>
              </a:ext>
            </a:extLst>
          </p:cNvPr>
          <p:cNvSpPr>
            <a:spLocks xmlns:a="http://schemas.openxmlformats.org/drawingml/2006/main" noGrp="1"/>
          </p:cNvSpPr>
          <p:nvPr/>
        </p:nvSpPr>
        <p:spPr>
          <a:xfrm xmlns:a="http://schemas.openxmlformats.org/drawingml/2006/main">
            <a:off x="742950" y="32004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A192F"/>
                </a:solidFill>
                <a:latin typeface="Aptos"/>
                <a:ea typeface="Aptos"/>
                <a:cs typeface="Aptos"/>
              </a:defRPr>
            </a:pPr>
            <a:r>
              <a:rPr sz="1125" b="1">
                <a:solidFill>
                  <a:srgbClr val="0A192F"/>
                </a:solidFill>
                <a:latin typeface="Aptos"/>
                <a:ea typeface="Aptos"/>
                <a:cs typeface="Aptos"/>
              </a:rPr>
              <a:t>Phase 2</a:t>
            </a:r>
          </a:p>
        </p:txBody>
      </p:sp>
      <p:sp>
        <p:nvSpPr>
          <p:cNvPr id="12" name="">
            <a:extLst xmlns:a="http://schemas.openxmlformats.org/drawingml/2006/main">
              <a:ext uri="{FF2B5EF4-FFF2-40B4-BE49-F238E27FC236}">
                <a16:creationId xmlns:a16="http://schemas.microsoft.com/office/drawing/2014/main" id="{70CBCC49-FD0D-4274-966F-9BE9861FB07C}"/>
              </a:ext>
            </a:extLst>
          </p:cNvPr>
          <p:cNvSpPr>
            <a:spLocks xmlns:a="http://schemas.openxmlformats.org/drawingml/2006/main" noGrp="1"/>
          </p:cNvSpPr>
          <p:nvPr/>
        </p:nvSpPr>
        <p:spPr>
          <a:xfrm xmlns:a="http://schemas.openxmlformats.org/drawingml/2006/main">
            <a:off x="2047875" y="31432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A192F"/>
                </a:solidFill>
                <a:latin typeface="Aptos"/>
                <a:ea typeface="Aptos"/>
                <a:cs typeface="Aptos"/>
              </a:defRPr>
            </a:pPr>
            <a:r>
              <a:rPr sz="1500" b="1">
                <a:solidFill>
                  <a:srgbClr val="0A192F"/>
                </a:solidFill>
                <a:latin typeface="Aptos"/>
                <a:ea typeface="Aptos"/>
                <a:cs typeface="Aptos"/>
              </a:rPr>
              <a:t>Controlled pilot</a:t>
            </a:r>
          </a:p>
        </p:txBody>
      </p:sp>
      <p:sp>
        <p:nvSpPr>
          <p:cNvPr id="13" name="">
            <a:extLst xmlns:a="http://schemas.openxmlformats.org/drawingml/2006/main">
              <a:ext uri="{FF2B5EF4-FFF2-40B4-BE49-F238E27FC236}">
                <a16:creationId xmlns:a16="http://schemas.microsoft.com/office/drawing/2014/main" id="{8AA2D89A-726B-451F-BB11-2D5470818CFB}"/>
              </a:ext>
            </a:extLst>
          </p:cNvPr>
          <p:cNvSpPr>
            <a:spLocks xmlns:a="http://schemas.openxmlformats.org/drawingml/2006/main" noGrp="1"/>
          </p:cNvSpPr>
          <p:nvPr/>
        </p:nvSpPr>
        <p:spPr>
          <a:xfrm xmlns:a="http://schemas.openxmlformats.org/drawingml/2006/main">
            <a:off x="2047875" y="34861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Run sample and live batches with HR, finance, and upay operations.</a:t>
            </a:r>
          </a:p>
        </p:txBody>
      </p:sp>
      <p:sp>
        <p:nvSpPr>
          <p:cNvPr id="14" name="">
            <a:extLst xmlns:a="http://schemas.openxmlformats.org/drawingml/2006/main">
              <a:ext uri="{FF2B5EF4-FFF2-40B4-BE49-F238E27FC236}">
                <a16:creationId xmlns:a16="http://schemas.microsoft.com/office/drawing/2014/main" id="{30A5BAEC-6F18-417B-AE97-7660203A2681}"/>
              </a:ext>
            </a:extLst>
          </p:cNvPr>
          <p:cNvSpPr>
            <a:spLocks xmlns:a="http://schemas.openxmlformats.org/drawingml/2006/main" noGrp="1"/>
          </p:cNvSpPr>
          <p:nvPr/>
        </p:nvSpPr>
        <p:spPr>
          <a:xfrm xmlns:a="http://schemas.openxmlformats.org/drawingml/2006/main">
            <a:off x="685800" y="4229100"/>
            <a:ext cx="1104900" cy="361950"/>
          </a:xfrm>
          <a:prstGeom xmlns:a="http://schemas.openxmlformats.org/drawingml/2006/main" prst="roundRect">
            <a:avLst>
              <a:gd name="adj" fmla="val 21053"/>
            </a:avLst>
          </a:prstGeom>
          <a:solidFill xmlns:a="http://schemas.openxmlformats.org/drawingml/2006/main">
            <a:srgbClr val="0047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D185C0F-4A4D-4620-BABC-796C861BD08E}"/>
              </a:ext>
            </a:extLst>
          </p:cNvPr>
          <p:cNvSpPr>
            <a:spLocks xmlns:a="http://schemas.openxmlformats.org/drawingml/2006/main" noGrp="1"/>
          </p:cNvSpPr>
          <p:nvPr/>
        </p:nvSpPr>
        <p:spPr>
          <a:xfrm xmlns:a="http://schemas.openxmlformats.org/drawingml/2006/main">
            <a:off x="742950" y="42672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Phase 3</a:t>
            </a:r>
          </a:p>
        </p:txBody>
      </p:sp>
      <p:sp>
        <p:nvSpPr>
          <p:cNvPr id="16" name="">
            <a:extLst xmlns:a="http://schemas.openxmlformats.org/drawingml/2006/main">
              <a:ext uri="{FF2B5EF4-FFF2-40B4-BE49-F238E27FC236}">
                <a16:creationId xmlns:a16="http://schemas.microsoft.com/office/drawing/2014/main" id="{F7F519B6-794F-423C-92DB-0B165528C110}"/>
              </a:ext>
            </a:extLst>
          </p:cNvPr>
          <p:cNvSpPr>
            <a:spLocks xmlns:a="http://schemas.openxmlformats.org/drawingml/2006/main" noGrp="1"/>
          </p:cNvSpPr>
          <p:nvPr/>
        </p:nvSpPr>
        <p:spPr>
          <a:xfrm xmlns:a="http://schemas.openxmlformats.org/drawingml/2006/main">
            <a:off x="2047875" y="42100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A192F"/>
                </a:solidFill>
                <a:latin typeface="Aptos"/>
                <a:ea typeface="Aptos"/>
                <a:cs typeface="Aptos"/>
              </a:defRPr>
            </a:pPr>
            <a:r>
              <a:rPr sz="1500" b="1">
                <a:solidFill>
                  <a:srgbClr val="0A192F"/>
                </a:solidFill>
                <a:latin typeface="Aptos"/>
                <a:ea typeface="Aptos"/>
                <a:cs typeface="Aptos"/>
              </a:rPr>
              <a:t>Production rollout</a:t>
            </a:r>
          </a:p>
        </p:txBody>
      </p:sp>
      <p:sp>
        <p:nvSpPr>
          <p:cNvPr id="17" name="">
            <a:extLst xmlns:a="http://schemas.openxmlformats.org/drawingml/2006/main">
              <a:ext uri="{FF2B5EF4-FFF2-40B4-BE49-F238E27FC236}">
                <a16:creationId xmlns:a16="http://schemas.microsoft.com/office/drawing/2014/main" id="{A5156F3A-4E12-4987-89F7-E0DC56B0767F}"/>
              </a:ext>
            </a:extLst>
          </p:cNvPr>
          <p:cNvSpPr>
            <a:spLocks xmlns:a="http://schemas.openxmlformats.org/drawingml/2006/main" noGrp="1"/>
          </p:cNvSpPr>
          <p:nvPr/>
        </p:nvSpPr>
        <p:spPr>
          <a:xfrm xmlns:a="http://schemas.openxmlformats.org/drawingml/2006/main">
            <a:off x="2047875" y="455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Monitor exceptions, strengthen forecasting, and onboard more companies.</a:t>
            </a:r>
          </a:p>
        </p:txBody>
      </p:sp>
      <p:sp>
        <p:nvSpPr>
          <p:cNvPr id="18" name="">
            <a:extLst xmlns:a="http://schemas.openxmlformats.org/drawingml/2006/main">
              <a:ext uri="{FF2B5EF4-FFF2-40B4-BE49-F238E27FC236}">
                <a16:creationId xmlns:a16="http://schemas.microsoft.com/office/drawing/2014/main" id="{8E0B1CB2-594C-4648-8F4C-E26698575A45}"/>
              </a:ext>
            </a:extLst>
          </p:cNvPr>
          <p:cNvSpPr>
            <a:spLocks xmlns:a="http://schemas.openxmlformats.org/drawingml/2006/main" noGrp="1"/>
          </p:cNvSpPr>
          <p:nvPr/>
        </p:nvSpPr>
        <p:spPr>
          <a:xfrm xmlns:a="http://schemas.openxmlformats.org/drawingml/2006/main">
            <a:off x="6667500" y="1619250"/>
            <a:ext cx="19050" cy="3714750"/>
          </a:xfrm>
          <a:prstGeom xmlns:a="http://schemas.openxmlformats.org/drawingml/2006/main" prst="rect">
            <a:avLst/>
          </a:prstGeom>
          <a:solidFill xmlns:a="http://schemas.openxmlformats.org/drawingml/2006/main">
            <a:srgbClr val="D8E2E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C13DFF5-1B09-48E1-9DF9-EAC5DBB310DF}"/>
              </a:ext>
            </a:extLst>
          </p:cNvPr>
          <p:cNvSpPr>
            <a:spLocks xmlns:a="http://schemas.openxmlformats.org/drawingml/2006/main" noGrp="1"/>
          </p:cNvSpPr>
          <p:nvPr/>
        </p:nvSpPr>
        <p:spPr>
          <a:xfrm xmlns:a="http://schemas.openxmlformats.org/drawingml/2006/main">
            <a:off x="7143750" y="15811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12"/>
          </a:bodyPr>
          <a:lstStyle xmlns:a="http://schemas.openxmlformats.org/drawingml/2006/main"/>
          <a:p xmlns:a="http://schemas.openxmlformats.org/drawingml/2006/main">
            <a:pPr algn="l">
              <a:defRPr sz="1650" b="1">
                <a:solidFill>
                  <a:srgbClr val="0047BA"/>
                </a:solidFill>
                <a:latin typeface="Aptos"/>
                <a:ea typeface="Aptos"/>
                <a:cs typeface="Aptos"/>
              </a:defRPr>
            </a:pPr>
            <a:r>
              <a:rPr sz="1650" b="1">
                <a:solidFill>
                  <a:srgbClr val="0047BA"/>
                </a:solidFill>
                <a:latin typeface="Aptos"/>
                <a:ea typeface="Aptos"/>
                <a:cs typeface="Aptos"/>
              </a:rPr>
              <a:t>Expected value</a:t>
            </a:r>
          </a:p>
        </p:txBody>
      </p:sp>
      <p:sp>
        <p:nvSpPr>
          <p:cNvPr id="20" name="">
            <a:extLst xmlns:a="http://schemas.openxmlformats.org/drawingml/2006/main">
              <a:ext uri="{FF2B5EF4-FFF2-40B4-BE49-F238E27FC236}">
                <a16:creationId xmlns:a16="http://schemas.microsoft.com/office/drawing/2014/main" id="{C2E09316-6B92-470C-ACB1-DB79EAEDE0B2}"/>
              </a:ext>
            </a:extLst>
          </p:cNvPr>
          <p:cNvSpPr>
            <a:spLocks xmlns:a="http://schemas.openxmlformats.org/drawingml/2006/main" noGrp="1"/>
          </p:cNvSpPr>
          <p:nvPr/>
        </p:nvSpPr>
        <p:spPr>
          <a:xfrm xmlns:a="http://schemas.openxmlformats.org/drawingml/2006/main">
            <a:off x="7162800" y="2143125"/>
            <a:ext cx="171450" cy="171450"/>
          </a:xfrm>
          <a:prstGeom xmlns:a="http://schemas.openxmlformats.org/drawingml/2006/main" prst="roundRect">
            <a:avLst>
              <a:gd name="adj" fmla="val 44444"/>
            </a:avLst>
          </a:prstGeom>
          <a:solidFill xmlns:a="http://schemas.openxmlformats.org/drawingml/2006/main">
            <a:srgbClr val="0F9D7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4293666-E856-4745-8451-ACBB4D1DDA3F}"/>
              </a:ext>
            </a:extLst>
          </p:cNvPr>
          <p:cNvSpPr>
            <a:spLocks xmlns:a="http://schemas.openxmlformats.org/drawingml/2006/main" noGrp="1"/>
          </p:cNvSpPr>
          <p:nvPr/>
        </p:nvSpPr>
        <p:spPr>
          <a:xfrm xmlns:a="http://schemas.openxmlformats.org/drawingml/2006/main">
            <a:off x="7524750" y="205740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0A192F"/>
                </a:solidFill>
                <a:latin typeface="Aptos"/>
                <a:ea typeface="Aptos"/>
                <a:cs typeface="Aptos"/>
              </a:defRPr>
            </a:pPr>
            <a:r>
              <a:rPr sz="1425" b="1">
                <a:solidFill>
                  <a:srgbClr val="0A192F"/>
                </a:solidFill>
                <a:latin typeface="Aptos"/>
                <a:ea typeface="Aptos"/>
                <a:cs typeface="Aptos"/>
              </a:rPr>
              <a:t>Fewer avoidable errors</a:t>
            </a:r>
          </a:p>
        </p:txBody>
      </p:sp>
      <p:sp>
        <p:nvSpPr>
          <p:cNvPr id="22" name="">
            <a:extLst xmlns:a="http://schemas.openxmlformats.org/drawingml/2006/main">
              <a:ext uri="{FF2B5EF4-FFF2-40B4-BE49-F238E27FC236}">
                <a16:creationId xmlns:a16="http://schemas.microsoft.com/office/drawing/2014/main" id="{65ADB5B4-B533-45A1-9DD3-7B91900B8B92}"/>
              </a:ext>
            </a:extLst>
          </p:cNvPr>
          <p:cNvSpPr>
            <a:spLocks xmlns:a="http://schemas.openxmlformats.org/drawingml/2006/main" noGrp="1"/>
          </p:cNvSpPr>
          <p:nvPr/>
        </p:nvSpPr>
        <p:spPr>
          <a:xfrm xmlns:a="http://schemas.openxmlformats.org/drawingml/2006/main">
            <a:off x="7524750" y="237172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475569"/>
                </a:solidFill>
                <a:latin typeface="Aptos"/>
                <a:ea typeface="Aptos"/>
                <a:cs typeface="Aptos"/>
              </a:defRPr>
            </a:pPr>
            <a:r>
              <a:rPr sz="1125" b="0">
                <a:solidFill>
                  <a:srgbClr val="475569"/>
                </a:solidFill>
                <a:latin typeface="Aptos"/>
                <a:ea typeface="Aptos"/>
                <a:cs typeface="Aptos"/>
              </a:rPr>
              <a:t>Validation and correction happen before approval.</a:t>
            </a:r>
          </a:p>
        </p:txBody>
      </p:sp>
      <p:sp>
        <p:nvSpPr>
          <p:cNvPr id="23" name="">
            <a:extLst xmlns:a="http://schemas.openxmlformats.org/drawingml/2006/main">
              <a:ext uri="{FF2B5EF4-FFF2-40B4-BE49-F238E27FC236}">
                <a16:creationId xmlns:a16="http://schemas.microsoft.com/office/drawing/2014/main" id="{97377CEA-121B-4C5D-A4B3-DA11F699EA34}"/>
              </a:ext>
            </a:extLst>
          </p:cNvPr>
          <p:cNvSpPr>
            <a:spLocks xmlns:a="http://schemas.openxmlformats.org/drawingml/2006/main" noGrp="1"/>
          </p:cNvSpPr>
          <p:nvPr/>
        </p:nvSpPr>
        <p:spPr>
          <a:xfrm xmlns:a="http://schemas.openxmlformats.org/drawingml/2006/main">
            <a:off x="7162800" y="2933700"/>
            <a:ext cx="171450" cy="171450"/>
          </a:xfrm>
          <a:prstGeom xmlns:a="http://schemas.openxmlformats.org/drawingml/2006/main" prst="roundRect">
            <a:avLst>
              <a:gd name="adj" fmla="val 44444"/>
            </a:avLst>
          </a:prstGeom>
          <a:solidFill xmlns:a="http://schemas.openxmlformats.org/drawingml/2006/main">
            <a:srgbClr val="0F9D7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B2F4106-760C-40A3-84D9-E4CBFC6CF584}"/>
              </a:ext>
            </a:extLst>
          </p:cNvPr>
          <p:cNvSpPr>
            <a:spLocks xmlns:a="http://schemas.openxmlformats.org/drawingml/2006/main" noGrp="1"/>
          </p:cNvSpPr>
          <p:nvPr/>
        </p:nvSpPr>
        <p:spPr>
          <a:xfrm xmlns:a="http://schemas.openxmlformats.org/drawingml/2006/main">
            <a:off x="7524750" y="28479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0A192F"/>
                </a:solidFill>
                <a:latin typeface="Aptos"/>
                <a:ea typeface="Aptos"/>
                <a:cs typeface="Aptos"/>
              </a:defRPr>
            </a:pPr>
            <a:r>
              <a:rPr sz="1425" b="1">
                <a:solidFill>
                  <a:srgbClr val="0A192F"/>
                </a:solidFill>
                <a:latin typeface="Aptos"/>
                <a:ea typeface="Aptos"/>
                <a:cs typeface="Aptos"/>
              </a:rPr>
              <a:t>Stronger payment control</a:t>
            </a:r>
          </a:p>
        </p:txBody>
      </p:sp>
      <p:sp>
        <p:nvSpPr>
          <p:cNvPr id="25" name="">
            <a:extLst xmlns:a="http://schemas.openxmlformats.org/drawingml/2006/main">
              <a:ext uri="{FF2B5EF4-FFF2-40B4-BE49-F238E27FC236}">
                <a16:creationId xmlns:a16="http://schemas.microsoft.com/office/drawing/2014/main" id="{46C7A0AF-A102-4354-8483-4F7EAA0A73A6}"/>
              </a:ext>
            </a:extLst>
          </p:cNvPr>
          <p:cNvSpPr>
            <a:spLocks xmlns:a="http://schemas.openxmlformats.org/drawingml/2006/main" noGrp="1"/>
          </p:cNvSpPr>
          <p:nvPr/>
        </p:nvSpPr>
        <p:spPr>
          <a:xfrm xmlns:a="http://schemas.openxmlformats.org/drawingml/2006/main">
            <a:off x="7524750" y="31623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475569"/>
                </a:solidFill>
                <a:latin typeface="Aptos"/>
                <a:ea typeface="Aptos"/>
                <a:cs typeface="Aptos"/>
              </a:defRPr>
            </a:pPr>
            <a:r>
              <a:rPr sz="1125" b="0">
                <a:solidFill>
                  <a:srgbClr val="475569"/>
                </a:solidFill>
                <a:latin typeface="Aptos"/>
                <a:ea typeface="Aptos"/>
                <a:cs typeface="Aptos"/>
              </a:rPr>
              <a:t>Maker-checker roles protect disbursement decisions.</a:t>
            </a:r>
          </a:p>
        </p:txBody>
      </p:sp>
      <p:sp>
        <p:nvSpPr>
          <p:cNvPr id="26" name="">
            <a:extLst xmlns:a="http://schemas.openxmlformats.org/drawingml/2006/main">
              <a:ext uri="{FF2B5EF4-FFF2-40B4-BE49-F238E27FC236}">
                <a16:creationId xmlns:a16="http://schemas.microsoft.com/office/drawing/2014/main" id="{8856A2F4-C839-43AA-B11A-267684F73F91}"/>
              </a:ext>
            </a:extLst>
          </p:cNvPr>
          <p:cNvSpPr>
            <a:spLocks xmlns:a="http://schemas.openxmlformats.org/drawingml/2006/main" noGrp="1"/>
          </p:cNvSpPr>
          <p:nvPr/>
        </p:nvSpPr>
        <p:spPr>
          <a:xfrm xmlns:a="http://schemas.openxmlformats.org/drawingml/2006/main">
            <a:off x="7162800" y="3724275"/>
            <a:ext cx="171450" cy="171450"/>
          </a:xfrm>
          <a:prstGeom xmlns:a="http://schemas.openxmlformats.org/drawingml/2006/main" prst="roundRect">
            <a:avLst>
              <a:gd name="adj" fmla="val 44444"/>
            </a:avLst>
          </a:prstGeom>
          <a:solidFill xmlns:a="http://schemas.openxmlformats.org/drawingml/2006/main">
            <a:srgbClr val="FFC70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38A27C0-41D7-489D-A416-E3C63467726C}"/>
              </a:ext>
            </a:extLst>
          </p:cNvPr>
          <p:cNvSpPr>
            <a:spLocks xmlns:a="http://schemas.openxmlformats.org/drawingml/2006/main" noGrp="1"/>
          </p:cNvSpPr>
          <p:nvPr/>
        </p:nvSpPr>
        <p:spPr>
          <a:xfrm xmlns:a="http://schemas.openxmlformats.org/drawingml/2006/main">
            <a:off x="7524750" y="363855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0A192F"/>
                </a:solidFill>
                <a:latin typeface="Aptos"/>
                <a:ea typeface="Aptos"/>
                <a:cs typeface="Aptos"/>
              </a:defRPr>
            </a:pPr>
            <a:r>
              <a:rPr sz="1425" b="1">
                <a:solidFill>
                  <a:srgbClr val="0A192F"/>
                </a:solidFill>
                <a:latin typeface="Aptos"/>
                <a:ea typeface="Aptos"/>
                <a:cs typeface="Aptos"/>
              </a:rPr>
              <a:t>Better funding visibility</a:t>
            </a:r>
          </a:p>
        </p:txBody>
      </p:sp>
      <p:sp>
        <p:nvSpPr>
          <p:cNvPr id="28" name="">
            <a:extLst xmlns:a="http://schemas.openxmlformats.org/drawingml/2006/main">
              <a:ext uri="{FF2B5EF4-FFF2-40B4-BE49-F238E27FC236}">
                <a16:creationId xmlns:a16="http://schemas.microsoft.com/office/drawing/2014/main" id="{2C3049AD-3456-4A02-BF1D-8E91A316CE18}"/>
              </a:ext>
            </a:extLst>
          </p:cNvPr>
          <p:cNvSpPr>
            <a:spLocks xmlns:a="http://schemas.openxmlformats.org/drawingml/2006/main" noGrp="1"/>
          </p:cNvSpPr>
          <p:nvPr/>
        </p:nvSpPr>
        <p:spPr>
          <a:xfrm xmlns:a="http://schemas.openxmlformats.org/drawingml/2006/main">
            <a:off x="7524750" y="395287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475569"/>
                </a:solidFill>
                <a:latin typeface="Aptos"/>
                <a:ea typeface="Aptos"/>
                <a:cs typeface="Aptos"/>
              </a:defRPr>
            </a:pPr>
            <a:r>
              <a:rPr sz="1125" b="0">
                <a:solidFill>
                  <a:srgbClr val="475569"/>
                </a:solidFill>
                <a:latin typeface="Aptos"/>
                <a:ea typeface="Aptos"/>
                <a:cs typeface="Aptos"/>
              </a:rPr>
              <a:t>Wallet balances and forecasts support earlier action.</a:t>
            </a:r>
          </a:p>
        </p:txBody>
      </p:sp>
      <p:sp>
        <p:nvSpPr>
          <p:cNvPr id="29" name="">
            <a:extLst xmlns:a="http://schemas.openxmlformats.org/drawingml/2006/main">
              <a:ext uri="{FF2B5EF4-FFF2-40B4-BE49-F238E27FC236}">
                <a16:creationId xmlns:a16="http://schemas.microsoft.com/office/drawing/2014/main" id="{5D2A2E65-F4B6-4528-A0C2-672FBB08F69B}"/>
              </a:ext>
            </a:extLst>
          </p:cNvPr>
          <p:cNvSpPr>
            <a:spLocks xmlns:a="http://schemas.openxmlformats.org/drawingml/2006/main" noGrp="1"/>
          </p:cNvSpPr>
          <p:nvPr/>
        </p:nvSpPr>
        <p:spPr>
          <a:xfrm xmlns:a="http://schemas.openxmlformats.org/drawingml/2006/main">
            <a:off x="7162800" y="4514850"/>
            <a:ext cx="171450" cy="171450"/>
          </a:xfrm>
          <a:prstGeom xmlns:a="http://schemas.openxmlformats.org/drawingml/2006/main" prst="roundRect">
            <a:avLst>
              <a:gd name="adj" fmla="val 44444"/>
            </a:avLst>
          </a:prstGeom>
          <a:solidFill xmlns:a="http://schemas.openxmlformats.org/drawingml/2006/main">
            <a:srgbClr val="0F9D7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AFFDFA4-D3CB-4541-8C46-E91BD775E7DC}"/>
              </a:ext>
            </a:extLst>
          </p:cNvPr>
          <p:cNvSpPr>
            <a:spLocks xmlns:a="http://schemas.openxmlformats.org/drawingml/2006/main" noGrp="1"/>
          </p:cNvSpPr>
          <p:nvPr/>
        </p:nvSpPr>
        <p:spPr>
          <a:xfrm xmlns:a="http://schemas.openxmlformats.org/drawingml/2006/main">
            <a:off x="7524750" y="44291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0A192F"/>
                </a:solidFill>
                <a:latin typeface="Aptos"/>
                <a:ea typeface="Aptos"/>
                <a:cs typeface="Aptos"/>
              </a:defRPr>
            </a:pPr>
            <a:r>
              <a:rPr sz="1425" b="1">
                <a:solidFill>
                  <a:srgbClr val="0A192F"/>
                </a:solidFill>
                <a:latin typeface="Aptos"/>
                <a:ea typeface="Aptos"/>
                <a:cs typeface="Aptos"/>
              </a:rPr>
              <a:t>Clear audit evidence</a:t>
            </a:r>
          </a:p>
        </p:txBody>
      </p:sp>
      <p:sp>
        <p:nvSpPr>
          <p:cNvPr id="31" name="">
            <a:extLst xmlns:a="http://schemas.openxmlformats.org/drawingml/2006/main">
              <a:ext uri="{FF2B5EF4-FFF2-40B4-BE49-F238E27FC236}">
                <a16:creationId xmlns:a16="http://schemas.microsoft.com/office/drawing/2014/main" id="{22583E7E-3D1C-471B-B90E-96E63237AC19}"/>
              </a:ext>
            </a:extLst>
          </p:cNvPr>
          <p:cNvSpPr>
            <a:spLocks xmlns:a="http://schemas.openxmlformats.org/drawingml/2006/main" noGrp="1"/>
          </p:cNvSpPr>
          <p:nvPr/>
        </p:nvSpPr>
        <p:spPr>
          <a:xfrm xmlns:a="http://schemas.openxmlformats.org/drawingml/2006/main">
            <a:off x="7524750" y="47434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475569"/>
                </a:solidFill>
                <a:latin typeface="Aptos"/>
                <a:ea typeface="Aptos"/>
                <a:cs typeface="Aptos"/>
              </a:defRPr>
            </a:pPr>
            <a:r>
              <a:rPr sz="1125" b="0">
                <a:solidFill>
                  <a:srgbClr val="475569"/>
                </a:solidFill>
                <a:latin typeface="Aptos"/>
                <a:ea typeface="Aptos"/>
                <a:cs typeface="Aptos"/>
              </a:rPr>
              <a:t>Every major action remains linked to a user and time.</a:t>
            </a:r>
          </a:p>
        </p:txBody>
      </p:sp>
      <p:sp>
        <p:nvSpPr>
          <p:cNvPr id="32" name="">
            <a:extLst xmlns:a="http://schemas.openxmlformats.org/drawingml/2006/main">
              <a:ext uri="{FF2B5EF4-FFF2-40B4-BE49-F238E27FC236}">
                <a16:creationId xmlns:a16="http://schemas.microsoft.com/office/drawing/2014/main" id="{EB26E9DA-471F-445D-8830-5FDCA65A4302}"/>
              </a:ext>
            </a:extLst>
          </p:cNvPr>
          <p:cNvSpPr>
            <a:spLocks xmlns:a="http://schemas.openxmlformats.org/drawingml/2006/main" noGrp="1"/>
          </p:cNvSpPr>
          <p:nvPr/>
        </p:nvSpPr>
        <p:spPr>
          <a:xfrm xmlns:a="http://schemas.openxmlformats.org/drawingml/2006/main">
            <a:off x="685800" y="5905500"/>
            <a:ext cx="10744200" cy="19050"/>
          </a:xfrm>
          <a:prstGeom xmlns:a="http://schemas.openxmlformats.org/drawingml/2006/main" prst="rect">
            <a:avLst/>
          </a:prstGeom>
          <a:solidFill xmlns:a="http://schemas.openxmlformats.org/drawingml/2006/main">
            <a:srgbClr val="FFC700"/>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8159105-F604-416E-8DCF-5A39907FA973}"/>
              </a:ext>
            </a:extLst>
          </p:cNvPr>
          <p:cNvSpPr>
            <a:spLocks xmlns:a="http://schemas.openxmlformats.org/drawingml/2006/main" noGrp="1"/>
          </p:cNvSpPr>
          <p:nvPr/>
        </p:nvSpPr>
        <p:spPr>
          <a:xfrm xmlns:a="http://schemas.openxmlformats.org/drawingml/2006/main">
            <a:off x="685800" y="604837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0A192F"/>
                </a:solidFill>
                <a:latin typeface="Aptos"/>
                <a:ea typeface="Aptos"/>
                <a:cs typeface="Aptos"/>
              </a:defRPr>
            </a:pPr>
            <a:r>
              <a:rPr sz="1575" b="1">
                <a:solidFill>
                  <a:srgbClr val="0A192F"/>
                </a:solidFill>
                <a:latin typeface="Aptos"/>
                <a:ea typeface="Aptos"/>
                <a:cs typeface="Aptos"/>
              </a:rPr>
              <a:t>Decision requested: approve a pilot with one corporate client and named Maker, Checker, and Admin users.</a:t>
            </a:r>
          </a:p>
        </p:txBody>
      </p:sp>
    </p:spTree>
    <p:extLst>
      <p:ext uri="{BB962C8B-B14F-4D97-AF65-F5344CB8AC3E}">
        <p14:creationId xmlns:p14="http://schemas.microsoft.com/office/powerpoint/2010/main" val="12952232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2026-09-09T05:55:03.7240000Z</dcterms:created>
  <dcterms:modified xsi:type="dcterms:W3CDTF">2026-09-09T05:55:03.7240000Z</dcterms:modified>
</coreProperties>
</file>