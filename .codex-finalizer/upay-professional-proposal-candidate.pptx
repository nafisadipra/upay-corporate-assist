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e386d6a82d4418" /><Relationship Type="http://schemas.openxmlformats.org/officeDocument/2006/relationships/extended-properties" Target="/docProps/app.xml" Id="Rb68e85865c4940dc" /><Relationship Type="http://schemas.openxmlformats.org/officeDocument/2006/relationships/officeDocument" Target="/ppt/presentation.xml" Id="Rfe3a5e79360e4ad0" /></Relationships>
</file>

<file path=ppt/presentation.xml><?xml version="1.0" encoding="utf-8"?>
<p:presentation xmlns:p="http://schemas.openxmlformats.org/presentationml/2006/main">
  <p:sldMasterIdLst>
    <p:sldMasterId xmlns:r="http://schemas.openxmlformats.org/officeDocument/2006/relationships" id="2147483648" r:id="R813007de317545b1"/>
  </p:sldMasterIdLst>
  <p:notesMasterIdLst>
    <p:notesMasterId xmlns:r="http://schemas.openxmlformats.org/officeDocument/2006/relationships" r:id="Rf8403207a3eb498e"/>
  </p:notesMasterIdLst>
  <p:sldIdLst>
    <p:sldId xmlns:r="http://schemas.openxmlformats.org/officeDocument/2006/relationships" id="256" r:id="Rb5b83e8c3df440c8"/>
    <p:sldId xmlns:r="http://schemas.openxmlformats.org/officeDocument/2006/relationships" id="257" r:id="Rf5067734c9f34fe0"/>
    <p:sldId xmlns:r="http://schemas.openxmlformats.org/officeDocument/2006/relationships" id="258" r:id="R72a0d000eec54a60"/>
    <p:sldId xmlns:r="http://schemas.openxmlformats.org/officeDocument/2006/relationships" id="259" r:id="R2585bcd1fbc548b7"/>
    <p:sldId xmlns:r="http://schemas.openxmlformats.org/officeDocument/2006/relationships" id="260" r:id="R4eb7e9b6859f4c49"/>
    <p:sldId xmlns:r="http://schemas.openxmlformats.org/officeDocument/2006/relationships" id="261" r:id="R74d74f1d0bed49f1"/>
    <p:sldId xmlns:r="http://schemas.openxmlformats.org/officeDocument/2006/relationships" id="262" r:id="R129b0996fb2b422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d38fb18b5f04a04" /><Relationship Type="http://schemas.openxmlformats.org/officeDocument/2006/relationships/slideMaster" Target="/ppt/slideMasters/slideMaster1.xml" Id="R813007de317545b1" /><Relationship Type="http://schemas.openxmlformats.org/officeDocument/2006/relationships/notesMaster" Target="/ppt/notesMasters/notesMaster1.xml" Id="Rf8403207a3eb498e" /><Relationship Type="http://schemas.openxmlformats.org/officeDocument/2006/relationships/presProps" Target="/ppt/presProps.xml" Id="R4be5d3abae674100" /><Relationship Type="http://schemas.openxmlformats.org/officeDocument/2006/relationships/tableStyles" Target="/ppt/tableStyles.xml" Id="R09d4cdbf245d4245" /><Relationship Type="http://schemas.openxmlformats.org/officeDocument/2006/relationships/slide" Target="/ppt/slides/slide1.xml" Id="Rb5b83e8c3df440c8" /><Relationship Type="http://schemas.openxmlformats.org/officeDocument/2006/relationships/slide" Target="/ppt/slides/slide2.xml" Id="Rf5067734c9f34fe0" /><Relationship Type="http://schemas.openxmlformats.org/officeDocument/2006/relationships/slide" Target="/ppt/slides/slide3.xml" Id="R72a0d000eec54a60" /><Relationship Type="http://schemas.openxmlformats.org/officeDocument/2006/relationships/slide" Target="/ppt/slides/slide4.xml" Id="R2585bcd1fbc548b7" /><Relationship Type="http://schemas.openxmlformats.org/officeDocument/2006/relationships/slide" Target="/ppt/slides/slide5.xml" Id="R4eb7e9b6859f4c49" /><Relationship Type="http://schemas.openxmlformats.org/officeDocument/2006/relationships/slide" Target="/ppt/slides/slide6.xml" Id="R74d74f1d0bed49f1" /><Relationship Type="http://schemas.openxmlformats.org/officeDocument/2006/relationships/slide" Target="/ppt/slides/slide7.xml" Id="R129b0996fb2b42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2c81ae533a14a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987f112c8949a9" /><Relationship Type="http://schemas.openxmlformats.org/officeDocument/2006/relationships/notesMaster" Target="/ppt/notesMasters/notesMaster1.xml" Id="Rf96b6bece9cd44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381ba052724e49" /><Relationship Type="http://schemas.openxmlformats.org/officeDocument/2006/relationships/notesMaster" Target="/ppt/notesMasters/notesMaster1.xml" Id="Redb6e01a08c647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504607f3b44851" /><Relationship Type="http://schemas.openxmlformats.org/officeDocument/2006/relationships/notesMaster" Target="/ppt/notesMasters/notesMaster1.xml" Id="R615c8b6bd7ba45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843296b93e41a1" /><Relationship Type="http://schemas.openxmlformats.org/officeDocument/2006/relationships/notesMaster" Target="/ppt/notesMasters/notesMaster1.xml" Id="R9b6d88a2242945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aa3b6c8c794300" /><Relationship Type="http://schemas.openxmlformats.org/officeDocument/2006/relationships/notesMaster" Target="/ppt/notesMasters/notesMaster1.xml" Id="R26ce3f1eb6e74c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37d636904a441b" /><Relationship Type="http://schemas.openxmlformats.org/officeDocument/2006/relationships/notesMaster" Target="/ppt/notesMasters/notesMaster1.xml" Id="R238778899ad947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e9e0cb164e4944" /><Relationship Type="http://schemas.openxmlformats.org/officeDocument/2006/relationships/notesMaster" Target="/ppt/notesMasters/notesMaster1.xml" Id="R2fb888c4e2c64d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35 seconds. Introduce yourself, your role, and where you work. Briefly connect your responsibilities to corporate payroll operations. Replace the bracketed placeholders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 seconds. Explain that your current project is upay Corporate Assist. It supports the full path from corporate payroll preparation to employee wallet payment, with controls between each 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25 seconds. Set expectations for the presentation. You will explain the operational problem, introduce the proposed platform, highlight the main features, and close with an implementation approach.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 Describe the four common gaps: data quality, independent approval, funding readiness, and evidence for audit or support. Emphasize that these issues interact during a time-sensitive payroll 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 seconds. Explain the three workspaces. HR prepares and corrects payroll. Finance provides independent review. upay Operations manages the corporate account and wallet. The shared backend applies the same security and workflow rules across all 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65 seconds. Briefly cover the features. Payroll upload and validation reduce file errors. Maker-checker approval and risk review strengthen decisions. Wallet controls manage execution. Forecasting improves funding preparation, and the audit trail records key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 seconds. Summarize the expected value and make the request clear: approve a focused pilot with one corporate client and named users for the Maker, Checker, and Admin roles. Close and invite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ac00bc724445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736165a3ac45c5" /><Relationship Type="http://schemas.openxmlformats.org/officeDocument/2006/relationships/slideLayout" Target="/ppt/slideLayouts/slideLayout1.xml" Id="R2da33adadb7844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a33adadb7844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c8f44fc34d64111" /><Relationship Type="http://schemas.openxmlformats.org/officeDocument/2006/relationships/notesSlide" Target="/ppt/notesSlides/notesSlide1.xml" Id="R0588e2db8ec444f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9dab89076be4b0d" /><Relationship Type="http://schemas.openxmlformats.org/officeDocument/2006/relationships/notesSlide" Target="/ppt/notesSlides/notesSlide2.xml" Id="R43d48f76d29d4ea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31cdc7a34ea4466" /><Relationship Type="http://schemas.openxmlformats.org/officeDocument/2006/relationships/notesSlide" Target="/ppt/notesSlides/notesSlide3.xml" Id="R2c15f9e3b54749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cd4b201d36145af" /><Relationship Type="http://schemas.openxmlformats.org/officeDocument/2006/relationships/notesSlide" Target="/ppt/notesSlides/notesSlide4.xml" Id="Rd2a7e1a1c40c43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5fe09d818f9428c" /><Relationship Type="http://schemas.openxmlformats.org/officeDocument/2006/relationships/notesSlide" Target="/ppt/notesSlides/notesSlide5.xml" Id="R53fed5b810b14b3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f77582925d486d" /><Relationship Type="http://schemas.openxmlformats.org/officeDocument/2006/relationships/notesSlide" Target="/ppt/notesSlides/notesSlide6.xml" Id="Rea6496fdceec40c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f0363eb27614e5f" /><Relationship Type="http://schemas.openxmlformats.org/officeDocument/2006/relationships/notesSlide" Target="/ppt/notesSlides/notesSlide7.xml" Id="R1dca2fd068904bf4" /></Relationships>
</file>

<file path=ppt/slides/slide1.xml><?xml version="1.0" encoding="utf-8"?>
<p:sld xmlns:p="http://schemas.openxmlformats.org/presentationml/2006/main">
  <p:cSld>
    <p:bg>
      <p:bgPr>
        <a:solidFill xmlns:a="http://schemas.openxmlformats.org/drawingml/2006/main">
          <a:srgbClr val="2D3142"/>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31306A9-DA0C-4CB3-8501-07E12F0AA30A}"/>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EF83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A893D70-0745-4BD1-9D24-DBD7062DCD7B}"/>
              </a:ext>
            </a:extLst>
          </p:cNvPr>
          <p:cNvSpPr>
            <a:spLocks xmlns:a="http://schemas.openxmlformats.org/drawingml/2006/main" noGrp="1"/>
          </p:cNvSpPr>
          <p:nvPr/>
        </p:nvSpPr>
        <p:spPr>
          <a:xfrm xmlns:a="http://schemas.openxmlformats.org/drawingml/2006/main">
            <a:off x="762000" y="628650"/>
            <a:ext cx="476250" cy="476250"/>
          </a:xfrm>
          <a:prstGeom xmlns:a="http://schemas.openxmlformats.org/drawingml/2006/main" prst="roundRect">
            <a:avLst>
              <a:gd name="adj" fmla="val 16000"/>
            </a:avLst>
          </a:prstGeom>
          <a:solidFill xmlns:a="http://schemas.openxmlformats.org/drawingml/2006/main">
            <a:srgbClr val="EF835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53D92B9-EF40-4087-B595-9F0EFEF56A6E}"/>
              </a:ext>
            </a:extLst>
          </p:cNvPr>
          <p:cNvSpPr>
            <a:spLocks xmlns:a="http://schemas.openxmlformats.org/drawingml/2006/main" noGrp="1"/>
          </p:cNvSpPr>
          <p:nvPr/>
        </p:nvSpPr>
        <p:spPr>
          <a:xfrm xmlns:a="http://schemas.openxmlformats.org/drawingml/2006/main">
            <a:off x="762000" y="619125"/>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rPr>
              <a:t>u</a:t>
            </a:r>
          </a:p>
        </p:txBody>
      </p:sp>
      <p:sp>
        <p:nvSpPr>
          <p:cNvPr id="4" name="">
            <a:extLst xmlns:a="http://schemas.openxmlformats.org/drawingml/2006/main">
              <a:ext uri="{FF2B5EF4-FFF2-40B4-BE49-F238E27FC236}">
                <a16:creationId xmlns:a16="http://schemas.microsoft.com/office/drawing/2014/main" id="{D5FBF9B6-43CA-4971-8184-5EFB45D6E1E5}"/>
              </a:ext>
            </a:extLst>
          </p:cNvPr>
          <p:cNvSpPr>
            <a:spLocks xmlns:a="http://schemas.openxmlformats.org/drawingml/2006/main" noGrp="1"/>
          </p:cNvSpPr>
          <p:nvPr/>
        </p:nvSpPr>
        <p:spPr>
          <a:xfrm xmlns:a="http://schemas.openxmlformats.org/drawingml/2006/main">
            <a:off x="1409700" y="590550"/>
            <a:ext cx="152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571"/>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upay</a:t>
            </a:r>
          </a:p>
        </p:txBody>
      </p:sp>
      <p:sp>
        <p:nvSpPr>
          <p:cNvPr id="5" name="">
            <a:extLst xmlns:a="http://schemas.openxmlformats.org/drawingml/2006/main">
              <a:ext uri="{FF2B5EF4-FFF2-40B4-BE49-F238E27FC236}">
                <a16:creationId xmlns:a16="http://schemas.microsoft.com/office/drawing/2014/main" id="{273C8AFF-4EC9-4D2A-A2EB-5600F248DA5E}"/>
              </a:ext>
            </a:extLst>
          </p:cNvPr>
          <p:cNvSpPr>
            <a:spLocks xmlns:a="http://schemas.openxmlformats.org/drawingml/2006/main" noGrp="1"/>
          </p:cNvSpPr>
          <p:nvPr/>
        </p:nvSpPr>
        <p:spPr>
          <a:xfrm xmlns:a="http://schemas.openxmlformats.org/drawingml/2006/main">
            <a:off x="1409700" y="91440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defRPr sz="900" b="1">
                <a:solidFill>
                  <a:srgbClr val="BFC0C0"/>
                </a:solidFill>
                <a:latin typeface="Arial"/>
                <a:ea typeface="Arial"/>
                <a:cs typeface="Arial"/>
              </a:defRPr>
            </a:pPr>
            <a:r>
              <a:rPr sz="900" b="1">
                <a:solidFill>
                  <a:srgbClr val="BFC0C0"/>
                </a:solidFill>
                <a:latin typeface="Arial"/>
                <a:ea typeface="Arial"/>
                <a:cs typeface="Arial"/>
              </a:rPr>
              <a:t>CORPORATE ASSIST</a:t>
            </a:r>
          </a:p>
        </p:txBody>
      </p:sp>
      <p:sp>
        <p:nvSpPr>
          <p:cNvPr id="6" name="">
            <a:extLst xmlns:a="http://schemas.openxmlformats.org/drawingml/2006/main">
              <a:ext uri="{FF2B5EF4-FFF2-40B4-BE49-F238E27FC236}">
                <a16:creationId xmlns:a16="http://schemas.microsoft.com/office/drawing/2014/main" id="{D2753374-583D-45C3-9A29-D4FED33D5D30}"/>
              </a:ext>
            </a:extLst>
          </p:cNvPr>
          <p:cNvSpPr>
            <a:spLocks xmlns:a="http://schemas.openxmlformats.org/drawingml/2006/main" noGrp="1"/>
          </p:cNvSpPr>
          <p:nvPr/>
        </p:nvSpPr>
        <p:spPr>
          <a:xfrm xmlns:a="http://schemas.openxmlformats.org/drawingml/2006/main">
            <a:off x="762000" y="195262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EF8354"/>
                </a:solidFill>
                <a:latin typeface="Arial"/>
                <a:ea typeface="Arial"/>
                <a:cs typeface="Arial"/>
              </a:defRPr>
            </a:pPr>
            <a:r>
              <a:rPr sz="1725" b="1">
                <a:solidFill>
                  <a:srgbClr val="EF8354"/>
                </a:solidFill>
                <a:latin typeface="Arial"/>
                <a:ea typeface="Arial"/>
                <a:cs typeface="Arial"/>
              </a:rPr>
              <a:t>Hello, I’m</a:t>
            </a:r>
          </a:p>
        </p:txBody>
      </p:sp>
      <p:sp>
        <p:nvSpPr>
          <p:cNvPr id="7" name="">
            <a:extLst xmlns:a="http://schemas.openxmlformats.org/drawingml/2006/main">
              <a:ext uri="{FF2B5EF4-FFF2-40B4-BE49-F238E27FC236}">
                <a16:creationId xmlns:a16="http://schemas.microsoft.com/office/drawing/2014/main" id="{79424F98-67C0-4C49-BA44-412CB4A33EC4}"/>
              </a:ext>
            </a:extLst>
          </p:cNvPr>
          <p:cNvSpPr>
            <a:spLocks xmlns:a="http://schemas.openxmlformats.org/drawingml/2006/main" noGrp="1"/>
          </p:cNvSpPr>
          <p:nvPr/>
        </p:nvSpPr>
        <p:spPr>
          <a:xfrm xmlns:a="http://schemas.openxmlformats.org/drawingml/2006/main">
            <a:off x="762000" y="2362200"/>
            <a:ext cx="685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900" b="1">
                <a:solidFill>
                  <a:srgbClr val="FFFFFF"/>
                </a:solidFill>
                <a:latin typeface="Arial"/>
                <a:ea typeface="Arial"/>
                <a:cs typeface="Arial"/>
              </a:defRPr>
            </a:pPr>
            <a:r>
              <a:rPr sz="3900" b="1">
                <a:solidFill>
                  <a:srgbClr val="FFFFFF"/>
                </a:solidFill>
                <a:latin typeface="Arial"/>
                <a:ea typeface="Arial"/>
                <a:cs typeface="Arial"/>
              </a:rPr>
              <a:t>[YOUR NAME]</a:t>
            </a:r>
          </a:p>
        </p:txBody>
      </p:sp>
      <p:sp>
        <p:nvSpPr>
          <p:cNvPr id="8" name="">
            <a:extLst xmlns:a="http://schemas.openxmlformats.org/drawingml/2006/main">
              <a:ext uri="{FF2B5EF4-FFF2-40B4-BE49-F238E27FC236}">
                <a16:creationId xmlns:a16="http://schemas.microsoft.com/office/drawing/2014/main" id="{F2C7D364-840B-4AEC-8230-9EF995EBA670}"/>
              </a:ext>
            </a:extLst>
          </p:cNvPr>
          <p:cNvSpPr>
            <a:spLocks xmlns:a="http://schemas.openxmlformats.org/drawingml/2006/main" noGrp="1"/>
          </p:cNvSpPr>
          <p:nvPr/>
        </p:nvSpPr>
        <p:spPr>
          <a:xfrm xmlns:a="http://schemas.openxmlformats.org/drawingml/2006/main">
            <a:off x="781050" y="3190875"/>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BFC0C0"/>
                </a:solidFill>
                <a:latin typeface="Arial"/>
                <a:ea typeface="Arial"/>
                <a:cs typeface="Arial"/>
              </a:defRPr>
            </a:pPr>
            <a:r>
              <a:rPr sz="1725" b="1">
                <a:solidFill>
                  <a:srgbClr val="BFC0C0"/>
                </a:solidFill>
                <a:latin typeface="Arial"/>
                <a:ea typeface="Arial"/>
                <a:cs typeface="Arial"/>
              </a:rPr>
              <a:t>[YOUR ROLE]</a:t>
            </a:r>
          </a:p>
        </p:txBody>
      </p:sp>
      <p:sp>
        <p:nvSpPr>
          <p:cNvPr id="9" name="">
            <a:extLst xmlns:a="http://schemas.openxmlformats.org/drawingml/2006/main">
              <a:ext uri="{FF2B5EF4-FFF2-40B4-BE49-F238E27FC236}">
                <a16:creationId xmlns:a16="http://schemas.microsoft.com/office/drawing/2014/main" id="{D5592875-801A-4333-B405-0FF6F177DAD9}"/>
              </a:ext>
            </a:extLst>
          </p:cNvPr>
          <p:cNvSpPr>
            <a:spLocks xmlns:a="http://schemas.openxmlformats.org/drawingml/2006/main" noGrp="1"/>
          </p:cNvSpPr>
          <p:nvPr/>
        </p:nvSpPr>
        <p:spPr>
          <a:xfrm xmlns:a="http://schemas.openxmlformats.org/drawingml/2006/main">
            <a:off x="781050" y="3781425"/>
            <a:ext cx="838200" cy="38100"/>
          </a:xfrm>
          <a:prstGeom xmlns:a="http://schemas.openxmlformats.org/drawingml/2006/main" prst="rect">
            <a:avLst/>
          </a:prstGeom>
          <a:solidFill xmlns:a="http://schemas.openxmlformats.org/drawingml/2006/main">
            <a:srgbClr val="EF835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1DC2C59-0334-433A-B013-C8451CF6CA3F}"/>
              </a:ext>
            </a:extLst>
          </p:cNvPr>
          <p:cNvSpPr>
            <a:spLocks xmlns:a="http://schemas.openxmlformats.org/drawingml/2006/main" noGrp="1"/>
          </p:cNvSpPr>
          <p:nvPr/>
        </p:nvSpPr>
        <p:spPr>
          <a:xfrm xmlns:a="http://schemas.openxmlformats.org/drawingml/2006/main">
            <a:off x="781050" y="40481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Working at [COMPANY / DEPARTMENT]</a:t>
            </a:r>
          </a:p>
        </p:txBody>
      </p:sp>
      <p:sp>
        <p:nvSpPr>
          <p:cNvPr id="11" name="">
            <a:extLst xmlns:a="http://schemas.openxmlformats.org/drawingml/2006/main">
              <a:ext uri="{FF2B5EF4-FFF2-40B4-BE49-F238E27FC236}">
                <a16:creationId xmlns:a16="http://schemas.microsoft.com/office/drawing/2014/main" id="{AD5FB8D7-1A3D-4FCE-A656-F518FD48F95C}"/>
              </a:ext>
            </a:extLst>
          </p:cNvPr>
          <p:cNvSpPr>
            <a:spLocks xmlns:a="http://schemas.openxmlformats.org/drawingml/2006/main" noGrp="1"/>
          </p:cNvSpPr>
          <p:nvPr/>
        </p:nvSpPr>
        <p:spPr>
          <a:xfrm xmlns:a="http://schemas.openxmlformats.org/drawingml/2006/main">
            <a:off x="781050" y="462915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BFC0C0"/>
                </a:solidFill>
                <a:latin typeface="Arial"/>
                <a:ea typeface="Arial"/>
                <a:cs typeface="Arial"/>
              </a:defRPr>
            </a:pPr>
            <a:r>
              <a:rPr sz="1275" b="0">
                <a:solidFill>
                  <a:srgbClr val="BFC0C0"/>
                </a:solidFill>
                <a:latin typeface="Arial"/>
                <a:ea typeface="Arial"/>
                <a:cs typeface="Arial"/>
              </a:rPr>
              <a:t>Secure corporate payroll operations</a:t>
            </a:r>
          </a:p>
        </p:txBody>
      </p:sp>
      <p:sp>
        <p:nvSpPr>
          <p:cNvPr id="12" name="">
            <a:extLst xmlns:a="http://schemas.openxmlformats.org/drawingml/2006/main">
              <a:ext uri="{FF2B5EF4-FFF2-40B4-BE49-F238E27FC236}">
                <a16:creationId xmlns:a16="http://schemas.microsoft.com/office/drawing/2014/main" id="{E27D4A7A-E308-400B-B943-4BB46DC8E0FD}"/>
              </a:ext>
            </a:extLst>
          </p:cNvPr>
          <p:cNvSpPr>
            <a:spLocks xmlns:a="http://schemas.openxmlformats.org/drawingml/2006/main" noGrp="1"/>
          </p:cNvSpPr>
          <p:nvPr/>
        </p:nvSpPr>
        <p:spPr>
          <a:xfrm xmlns:a="http://schemas.openxmlformats.org/drawingml/2006/main">
            <a:off x="8096250" y="1600200"/>
            <a:ext cx="2762250" cy="3333750"/>
          </a:xfrm>
          <a:prstGeom xmlns:a="http://schemas.openxmlformats.org/drawingml/2006/main" prst="roundRect">
            <a:avLst>
              <a:gd name="adj" fmla="val 2759"/>
            </a:avLst>
          </a:prstGeom>
          <a:solidFill xmlns:a="http://schemas.openxmlformats.org/drawingml/2006/main">
            <a:srgbClr val="4F5D7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7A5CCBC-5EFE-4AC9-8DA3-C192BD1C55F7}"/>
              </a:ext>
            </a:extLst>
          </p:cNvPr>
          <p:cNvSpPr>
            <a:spLocks xmlns:a="http://schemas.openxmlformats.org/drawingml/2006/main" noGrp="1"/>
          </p:cNvSpPr>
          <p:nvPr/>
        </p:nvSpPr>
        <p:spPr>
          <a:xfrm xmlns:a="http://schemas.openxmlformats.org/drawingml/2006/main">
            <a:off x="8439150" y="1943100"/>
            <a:ext cx="2076450" cy="514350"/>
          </a:xfrm>
          <a:prstGeom xmlns:a="http://schemas.openxmlformats.org/drawingml/2006/main" prst="roundRect">
            <a:avLst>
              <a:gd name="adj" fmla="val 14815"/>
            </a:avLst>
          </a:prstGeom>
          <a:solidFill xmlns:a="http://schemas.openxmlformats.org/drawingml/2006/main">
            <a:srgbClr val="2D314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78FD826-142D-47DC-8B30-507BFFABC127}"/>
              </a:ext>
            </a:extLst>
          </p:cNvPr>
          <p:cNvSpPr>
            <a:spLocks xmlns:a="http://schemas.openxmlformats.org/drawingml/2006/main" noGrp="1"/>
          </p:cNvSpPr>
          <p:nvPr/>
        </p:nvSpPr>
        <p:spPr>
          <a:xfrm xmlns:a="http://schemas.openxmlformats.org/drawingml/2006/main">
            <a:off x="8629650" y="2114550"/>
            <a:ext cx="190500" cy="190500"/>
          </a:xfrm>
          <a:prstGeom xmlns:a="http://schemas.openxmlformats.org/drawingml/2006/main" prst="roundRect">
            <a:avLst>
              <a:gd name="adj" fmla="val 40000"/>
            </a:avLst>
          </a:prstGeom>
          <a:solidFill xmlns:a="http://schemas.openxmlformats.org/drawingml/2006/main">
            <a:srgbClr val="EF835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16EE96D-B5D0-488B-8A9E-945858EA939E}"/>
              </a:ext>
            </a:extLst>
          </p:cNvPr>
          <p:cNvSpPr>
            <a:spLocks xmlns:a="http://schemas.openxmlformats.org/drawingml/2006/main" noGrp="1"/>
          </p:cNvSpPr>
          <p:nvPr/>
        </p:nvSpPr>
        <p:spPr>
          <a:xfrm xmlns:a="http://schemas.openxmlformats.org/drawingml/2006/main">
            <a:off x="8991600" y="2057400"/>
            <a:ext cx="133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903"/>
          </a:bodyPr>
          <a:lstStyle xmlns:a="http://schemas.openxmlformats.org/drawingml/2006/main"/>
          <a:p xmlns:a="http://schemas.openxmlformats.org/drawingml/2006/main">
            <a:pPr algn="l">
              <a:defRPr sz="1125" b="1">
                <a:solidFill>
                  <a:srgbClr val="FFFFFF"/>
                </a:solidFill>
                <a:latin typeface="Arial"/>
                <a:ea typeface="Arial"/>
                <a:cs typeface="Arial"/>
              </a:defRPr>
            </a:pPr>
            <a:r>
              <a:rPr sz="1125" b="1">
                <a:solidFill>
                  <a:srgbClr val="FFFFFF"/>
                </a:solidFill>
                <a:latin typeface="Arial"/>
                <a:ea typeface="Arial"/>
                <a:cs typeface="Arial"/>
              </a:rPr>
              <a:t>Corporate workspace</a:t>
            </a:r>
          </a:p>
        </p:txBody>
      </p:sp>
      <p:sp>
        <p:nvSpPr>
          <p:cNvPr id="16" name="">
            <a:extLst xmlns:a="http://schemas.openxmlformats.org/drawingml/2006/main">
              <a:ext uri="{FF2B5EF4-FFF2-40B4-BE49-F238E27FC236}">
                <a16:creationId xmlns:a16="http://schemas.microsoft.com/office/drawing/2014/main" id="{6B2C9434-C788-4983-A552-78468C20351A}"/>
              </a:ext>
            </a:extLst>
          </p:cNvPr>
          <p:cNvSpPr>
            <a:spLocks xmlns:a="http://schemas.openxmlformats.org/drawingml/2006/main" noGrp="1"/>
          </p:cNvSpPr>
          <p:nvPr/>
        </p:nvSpPr>
        <p:spPr>
          <a:xfrm xmlns:a="http://schemas.openxmlformats.org/drawingml/2006/main">
            <a:off x="8439150" y="2724150"/>
            <a:ext cx="2076450" cy="323850"/>
          </a:xfrm>
          <a:prstGeom xmlns:a="http://schemas.openxmlformats.org/drawingml/2006/main" prst="roundRect">
            <a:avLst>
              <a:gd name="adj" fmla="val 23529"/>
            </a:avLst>
          </a:prstGeom>
          <a:solidFill xmlns:a="http://schemas.openxmlformats.org/drawingml/2006/main">
            <a:srgbClr val="2D314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A588F1B-4046-48F0-A2AE-A79B1535A3AE}"/>
              </a:ext>
            </a:extLst>
          </p:cNvPr>
          <p:cNvSpPr>
            <a:spLocks xmlns:a="http://schemas.openxmlformats.org/drawingml/2006/main" noGrp="1"/>
          </p:cNvSpPr>
          <p:nvPr/>
        </p:nvSpPr>
        <p:spPr>
          <a:xfrm xmlns:a="http://schemas.openxmlformats.org/drawingml/2006/main">
            <a:off x="8601075" y="2828925"/>
            <a:ext cx="133350" cy="133350"/>
          </a:xfrm>
          <a:prstGeom xmlns:a="http://schemas.openxmlformats.org/drawingml/2006/main" prst="roundRect">
            <a:avLst>
              <a:gd name="adj" fmla="val 50000"/>
            </a:avLst>
          </a:prstGeom>
          <a:solidFill xmlns:a="http://schemas.openxmlformats.org/drawingml/2006/main">
            <a:srgbClr val="BFC0C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E305F6B-6F65-47B3-B0FB-A9FEE90FDFD9}"/>
              </a:ext>
            </a:extLst>
          </p:cNvPr>
          <p:cNvSpPr>
            <a:spLocks xmlns:a="http://schemas.openxmlformats.org/drawingml/2006/main" noGrp="1"/>
          </p:cNvSpPr>
          <p:nvPr/>
        </p:nvSpPr>
        <p:spPr>
          <a:xfrm xmlns:a="http://schemas.openxmlformats.org/drawingml/2006/main">
            <a:off x="8886825" y="2857500"/>
            <a:ext cx="1047750" cy="66675"/>
          </a:xfrm>
          <a:prstGeom xmlns:a="http://schemas.openxmlformats.org/drawingml/2006/main" prst="roundRect">
            <a:avLst>
              <a:gd name="adj" fmla="val 50000"/>
            </a:avLst>
          </a:prstGeom>
          <a:solidFill xmlns:a="http://schemas.openxmlformats.org/drawingml/2006/main">
            <a:srgbClr val="BFC0C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4F0AA7C-C8CF-4FB4-A85C-D2575083B9F6}"/>
              </a:ext>
            </a:extLst>
          </p:cNvPr>
          <p:cNvSpPr>
            <a:spLocks xmlns:a="http://schemas.openxmlformats.org/drawingml/2006/main" noGrp="1"/>
          </p:cNvSpPr>
          <p:nvPr/>
        </p:nvSpPr>
        <p:spPr>
          <a:xfrm xmlns:a="http://schemas.openxmlformats.org/drawingml/2006/main">
            <a:off x="8439150" y="3181350"/>
            <a:ext cx="2076450" cy="323850"/>
          </a:xfrm>
          <a:prstGeom xmlns:a="http://schemas.openxmlformats.org/drawingml/2006/main" prst="roundRect">
            <a:avLst>
              <a:gd name="adj" fmla="val 23529"/>
            </a:avLst>
          </a:prstGeom>
          <a:solidFill xmlns:a="http://schemas.openxmlformats.org/drawingml/2006/main">
            <a:srgbClr val="EF835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CA68435-54E5-458D-98A3-5364F4E599AB}"/>
              </a:ext>
            </a:extLst>
          </p:cNvPr>
          <p:cNvSpPr>
            <a:spLocks xmlns:a="http://schemas.openxmlformats.org/drawingml/2006/main" noGrp="1"/>
          </p:cNvSpPr>
          <p:nvPr/>
        </p:nvSpPr>
        <p:spPr>
          <a:xfrm xmlns:a="http://schemas.openxmlformats.org/drawingml/2006/main">
            <a:off x="8601075" y="3286125"/>
            <a:ext cx="133350" cy="1333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DDAF4F3-75B0-4F1E-BD47-FC7F9095CCD6}"/>
              </a:ext>
            </a:extLst>
          </p:cNvPr>
          <p:cNvSpPr>
            <a:spLocks xmlns:a="http://schemas.openxmlformats.org/drawingml/2006/main" noGrp="1"/>
          </p:cNvSpPr>
          <p:nvPr/>
        </p:nvSpPr>
        <p:spPr>
          <a:xfrm xmlns:a="http://schemas.openxmlformats.org/drawingml/2006/main">
            <a:off x="8886825" y="3314700"/>
            <a:ext cx="1371600" cy="666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D37E28D-D21C-4E3F-AB3B-9D456221618E}"/>
              </a:ext>
            </a:extLst>
          </p:cNvPr>
          <p:cNvSpPr>
            <a:spLocks xmlns:a="http://schemas.openxmlformats.org/drawingml/2006/main" noGrp="1"/>
          </p:cNvSpPr>
          <p:nvPr/>
        </p:nvSpPr>
        <p:spPr>
          <a:xfrm xmlns:a="http://schemas.openxmlformats.org/drawingml/2006/main">
            <a:off x="8439150" y="3638550"/>
            <a:ext cx="2076450" cy="323850"/>
          </a:xfrm>
          <a:prstGeom xmlns:a="http://schemas.openxmlformats.org/drawingml/2006/main" prst="roundRect">
            <a:avLst>
              <a:gd name="adj" fmla="val 23529"/>
            </a:avLst>
          </a:prstGeom>
          <a:solidFill xmlns:a="http://schemas.openxmlformats.org/drawingml/2006/main">
            <a:srgbClr val="2D314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025B94F-9CD3-4AA4-828B-AA7C52E67960}"/>
              </a:ext>
            </a:extLst>
          </p:cNvPr>
          <p:cNvSpPr>
            <a:spLocks xmlns:a="http://schemas.openxmlformats.org/drawingml/2006/main" noGrp="1"/>
          </p:cNvSpPr>
          <p:nvPr/>
        </p:nvSpPr>
        <p:spPr>
          <a:xfrm xmlns:a="http://schemas.openxmlformats.org/drawingml/2006/main">
            <a:off x="8601075" y="3743325"/>
            <a:ext cx="133350" cy="133350"/>
          </a:xfrm>
          <a:prstGeom xmlns:a="http://schemas.openxmlformats.org/drawingml/2006/main" prst="roundRect">
            <a:avLst>
              <a:gd name="adj" fmla="val 50000"/>
            </a:avLst>
          </a:prstGeom>
          <a:solidFill xmlns:a="http://schemas.openxmlformats.org/drawingml/2006/main">
            <a:srgbClr val="BFC0C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F287150-AA41-4311-A3C3-2C8B0CCECC9C}"/>
              </a:ext>
            </a:extLst>
          </p:cNvPr>
          <p:cNvSpPr>
            <a:spLocks xmlns:a="http://schemas.openxmlformats.org/drawingml/2006/main" noGrp="1"/>
          </p:cNvSpPr>
          <p:nvPr/>
        </p:nvSpPr>
        <p:spPr>
          <a:xfrm xmlns:a="http://schemas.openxmlformats.org/drawingml/2006/main">
            <a:off x="8886825" y="3771900"/>
            <a:ext cx="1047750" cy="66675"/>
          </a:xfrm>
          <a:prstGeom xmlns:a="http://schemas.openxmlformats.org/drawingml/2006/main" prst="roundRect">
            <a:avLst>
              <a:gd name="adj" fmla="val 50000"/>
            </a:avLst>
          </a:prstGeom>
          <a:solidFill xmlns:a="http://schemas.openxmlformats.org/drawingml/2006/main">
            <a:srgbClr val="BFC0C0"/>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8A9E9C2-9453-40C9-B80F-CCD365A98BFC}"/>
              </a:ext>
            </a:extLst>
          </p:cNvPr>
          <p:cNvSpPr>
            <a:spLocks xmlns:a="http://schemas.openxmlformats.org/drawingml/2006/main" noGrp="1"/>
          </p:cNvSpPr>
          <p:nvPr/>
        </p:nvSpPr>
        <p:spPr>
          <a:xfrm xmlns:a="http://schemas.openxmlformats.org/drawingml/2006/main">
            <a:off x="8439150" y="4095750"/>
            <a:ext cx="2076450" cy="323850"/>
          </a:xfrm>
          <a:prstGeom xmlns:a="http://schemas.openxmlformats.org/drawingml/2006/main" prst="roundRect">
            <a:avLst>
              <a:gd name="adj" fmla="val 23529"/>
            </a:avLst>
          </a:prstGeom>
          <a:solidFill xmlns:a="http://schemas.openxmlformats.org/drawingml/2006/main">
            <a:srgbClr val="2D3142"/>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21E825F-A6B2-4AE8-BC03-A8F599BDE8BA}"/>
              </a:ext>
            </a:extLst>
          </p:cNvPr>
          <p:cNvSpPr>
            <a:spLocks xmlns:a="http://schemas.openxmlformats.org/drawingml/2006/main" noGrp="1"/>
          </p:cNvSpPr>
          <p:nvPr/>
        </p:nvSpPr>
        <p:spPr>
          <a:xfrm xmlns:a="http://schemas.openxmlformats.org/drawingml/2006/main">
            <a:off x="8601075" y="4200525"/>
            <a:ext cx="133350" cy="133350"/>
          </a:xfrm>
          <a:prstGeom xmlns:a="http://schemas.openxmlformats.org/drawingml/2006/main" prst="roundRect">
            <a:avLst>
              <a:gd name="adj" fmla="val 50000"/>
            </a:avLst>
          </a:prstGeom>
          <a:solidFill xmlns:a="http://schemas.openxmlformats.org/drawingml/2006/main">
            <a:srgbClr val="BFC0C0"/>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4909887-05D7-444B-BA45-7903AF0597DC}"/>
              </a:ext>
            </a:extLst>
          </p:cNvPr>
          <p:cNvSpPr>
            <a:spLocks xmlns:a="http://schemas.openxmlformats.org/drawingml/2006/main" noGrp="1"/>
          </p:cNvSpPr>
          <p:nvPr/>
        </p:nvSpPr>
        <p:spPr>
          <a:xfrm xmlns:a="http://schemas.openxmlformats.org/drawingml/2006/main">
            <a:off x="8886825" y="4229100"/>
            <a:ext cx="1371600" cy="66675"/>
          </a:xfrm>
          <a:prstGeom xmlns:a="http://schemas.openxmlformats.org/drawingml/2006/main" prst="roundRect">
            <a:avLst>
              <a:gd name="adj" fmla="val 50000"/>
            </a:avLst>
          </a:prstGeom>
          <a:solidFill xmlns:a="http://schemas.openxmlformats.org/drawingml/2006/main">
            <a:srgbClr val="BFC0C0"/>
          </a:solidFill>
          <a:ln xmlns:a="http://schemas.openxmlformats.org/drawingml/2006/main" w="0">
            <a:noFill/>
          </a:ln>
        </p:spPr>
      </p:sp>
    </p:spTree>
    <p:extLst>
      <p:ext uri="{BB962C8B-B14F-4D97-AF65-F5344CB8AC3E}">
        <p14:creationId xmlns:p14="http://schemas.microsoft.com/office/powerpoint/2010/main" val="1035282870"/>
      </p:ext>
    </p:extLst>
  </p:cSld>
</p:sld>
</file>

<file path=ppt/slides/slide2.xml><?xml version="1.0" encoding="utf-8"?>
<p:sld xmlns:p="http://schemas.openxmlformats.org/presentationml/2006/main">
  <p:cSld>
    <p:bg>
      <p:bgPr>
        <a:solidFill xmlns:a="http://schemas.openxmlformats.org/drawingml/2006/main">
          <a:srgbClr val="F7F9F6"/>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7C1A89D-8349-4110-8267-9FCF496B9B0D}"/>
              </a:ext>
            </a:extLst>
          </p:cNvPr>
          <p:cNvSpPr>
            <a:spLocks xmlns:a="http://schemas.openxmlformats.org/drawingml/2006/main" noGrp="1"/>
          </p:cNvSpPr>
          <p:nvPr/>
        </p:nvSpPr>
        <p:spPr>
          <a:xfrm xmlns:a="http://schemas.openxmlformats.org/drawingml/2006/main">
            <a:off x="0" y="0"/>
            <a:ext cx="819150" cy="6858000"/>
          </a:xfrm>
          <a:prstGeom xmlns:a="http://schemas.openxmlformats.org/drawingml/2006/main" prst="rect">
            <a:avLst/>
          </a:prstGeom>
          <a:solidFill xmlns:a="http://schemas.openxmlformats.org/drawingml/2006/main">
            <a:srgbClr val="2D314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D702D8-8279-4F5B-A39E-5F9E428F979D}"/>
              </a:ext>
            </a:extLst>
          </p:cNvPr>
          <p:cNvSpPr>
            <a:spLocks xmlns:a="http://schemas.openxmlformats.org/drawingml/2006/main" noGrp="1"/>
          </p:cNvSpPr>
          <p:nvPr/>
        </p:nvSpPr>
        <p:spPr>
          <a:xfrm xmlns:a="http://schemas.openxmlformats.org/drawingml/2006/main">
            <a:off x="0" y="0"/>
            <a:ext cx="819150" cy="114300"/>
          </a:xfrm>
          <a:prstGeom xmlns:a="http://schemas.openxmlformats.org/drawingml/2006/main" prst="rect">
            <a:avLst/>
          </a:prstGeom>
          <a:solidFill xmlns:a="http://schemas.openxmlformats.org/drawingml/2006/main">
            <a:srgbClr val="EF835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F7C071E-BBD5-44D7-990E-0596B97EAE27}"/>
              </a:ext>
            </a:extLst>
          </p:cNvPr>
          <p:cNvSpPr>
            <a:spLocks xmlns:a="http://schemas.openxmlformats.org/drawingml/2006/main" noGrp="1"/>
          </p:cNvSpPr>
          <p:nvPr/>
        </p:nvSpPr>
        <p:spPr>
          <a:xfrm xmlns:a="http://schemas.openxmlformats.org/drawingml/2006/main">
            <a:off x="266700" y="400050"/>
            <a:ext cx="285750" cy="285750"/>
          </a:xfrm>
          <a:prstGeom xmlns:a="http://schemas.openxmlformats.org/drawingml/2006/main" prst="roundRect">
            <a:avLst>
              <a:gd name="adj" fmla="val 26667"/>
            </a:avLst>
          </a:prstGeom>
          <a:solidFill xmlns:a="http://schemas.openxmlformats.org/drawingml/2006/main">
            <a:srgbClr val="EF835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85CBE3B-07C7-483C-9A76-72349D7527A2}"/>
              </a:ext>
            </a:extLst>
          </p:cNvPr>
          <p:cNvSpPr>
            <a:spLocks xmlns:a="http://schemas.openxmlformats.org/drawingml/2006/main" noGrp="1"/>
          </p:cNvSpPr>
          <p:nvPr/>
        </p:nvSpPr>
        <p:spPr>
          <a:xfrm xmlns:a="http://schemas.openxmlformats.org/drawingml/2006/main">
            <a:off x="266700" y="39052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u</a:t>
            </a:r>
          </a:p>
        </p:txBody>
      </p:sp>
      <p:sp>
        <p:nvSpPr>
          <p:cNvPr id="5" name="">
            <a:extLst xmlns:a="http://schemas.openxmlformats.org/drawingml/2006/main">
              <a:ext uri="{FF2B5EF4-FFF2-40B4-BE49-F238E27FC236}">
                <a16:creationId xmlns:a16="http://schemas.microsoft.com/office/drawing/2014/main" id="{EA2DD622-E773-4A64-8CB0-C017F78BB331}"/>
              </a:ext>
            </a:extLst>
          </p:cNvPr>
          <p:cNvSpPr>
            <a:spLocks xmlns:a="http://schemas.openxmlformats.org/drawingml/2006/main" noGrp="1"/>
          </p:cNvSpPr>
          <p:nvPr/>
        </p:nvSpPr>
        <p:spPr>
          <a:xfrm xmlns:a="http://schemas.openxmlformats.org/drawingml/2006/main">
            <a:off x="266700" y="62293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096"/>
          </a:bodyPr>
          <a:lstStyle xmlns:a="http://schemas.openxmlformats.org/drawingml/2006/main"/>
          <a:p xmlns:a="http://schemas.openxmlformats.org/drawingml/2006/main">
            <a:pPr algn="ctr">
              <a:defRPr sz="900" b="1">
                <a:solidFill>
                  <a:srgbClr val="BFC0C0"/>
                </a:solidFill>
                <a:latin typeface="Arial"/>
                <a:ea typeface="Arial"/>
                <a:cs typeface="Arial"/>
              </a:defRPr>
            </a:pPr>
            <a:r>
              <a:rPr sz="900" b="1">
                <a:solidFill>
                  <a:srgbClr val="BFC0C0"/>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5C000E41-B2CA-4BAD-B180-7D6202E69601}"/>
              </a:ext>
            </a:extLst>
          </p:cNvPr>
          <p:cNvSpPr>
            <a:spLocks xmlns:a="http://schemas.openxmlformats.org/drawingml/2006/main" noGrp="1"/>
          </p:cNvSpPr>
          <p:nvPr/>
        </p:nvSpPr>
        <p:spPr>
          <a:xfrm xmlns:a="http://schemas.openxmlformats.org/drawingml/2006/main">
            <a:off x="1200150" y="428625"/>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118"/>
          </a:bodyPr>
          <a:lstStyle xmlns:a="http://schemas.openxmlformats.org/drawingml/2006/main"/>
          <a:p xmlns:a="http://schemas.openxmlformats.org/drawingml/2006/main">
            <a:pPr algn="l">
              <a:defRPr sz="2550" b="1">
                <a:solidFill>
                  <a:srgbClr val="2D3142"/>
                </a:solidFill>
                <a:latin typeface="Arial"/>
                <a:ea typeface="Arial"/>
                <a:cs typeface="Arial"/>
              </a:defRPr>
            </a:pPr>
            <a:r>
              <a:rPr sz="2550" b="1">
                <a:solidFill>
                  <a:srgbClr val="2D3142"/>
                </a:solidFill>
                <a:latin typeface="Arial"/>
                <a:ea typeface="Arial"/>
                <a:cs typeface="Arial"/>
              </a:rPr>
              <a:t>What I’m working on</a:t>
            </a:r>
          </a:p>
        </p:txBody>
      </p:sp>
      <p:sp>
        <p:nvSpPr>
          <p:cNvPr id="7" name="">
            <a:extLst xmlns:a="http://schemas.openxmlformats.org/drawingml/2006/main">
              <a:ext uri="{FF2B5EF4-FFF2-40B4-BE49-F238E27FC236}">
                <a16:creationId xmlns:a16="http://schemas.microsoft.com/office/drawing/2014/main" id="{0F5B16CC-C1D2-4B80-96B8-6FAB5F50BCA0}"/>
              </a:ext>
            </a:extLst>
          </p:cNvPr>
          <p:cNvSpPr>
            <a:spLocks xmlns:a="http://schemas.openxmlformats.org/drawingml/2006/main" noGrp="1"/>
          </p:cNvSpPr>
          <p:nvPr/>
        </p:nvSpPr>
        <p:spPr>
          <a:xfrm xmlns:a="http://schemas.openxmlformats.org/drawingml/2006/main">
            <a:off x="1200150" y="9144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0">
                <a:solidFill>
                  <a:srgbClr val="4F5D75"/>
                </a:solidFill>
                <a:latin typeface="Arial"/>
                <a:ea typeface="Arial"/>
                <a:cs typeface="Arial"/>
              </a:defRPr>
            </a:pPr>
            <a:r>
              <a:rPr sz="1200" b="0">
                <a:solidFill>
                  <a:srgbClr val="4F5D75"/>
                </a:solidFill>
                <a:latin typeface="Arial"/>
                <a:ea typeface="Arial"/>
                <a:cs typeface="Arial"/>
              </a:rPr>
              <a:t>A safer way to prepare, approve, and execute corporate payroll</a:t>
            </a:r>
          </a:p>
        </p:txBody>
      </p:sp>
      <p:sp>
        <p:nvSpPr>
          <p:cNvPr id="8" name="">
            <a:extLst xmlns:a="http://schemas.openxmlformats.org/drawingml/2006/main">
              <a:ext uri="{FF2B5EF4-FFF2-40B4-BE49-F238E27FC236}">
                <a16:creationId xmlns:a16="http://schemas.microsoft.com/office/drawing/2014/main" id="{1D8D4499-F77C-4A98-85E3-6E6E04E34D6D}"/>
              </a:ext>
            </a:extLst>
          </p:cNvPr>
          <p:cNvSpPr>
            <a:spLocks xmlns:a="http://schemas.openxmlformats.org/drawingml/2006/main" noGrp="1"/>
          </p:cNvSpPr>
          <p:nvPr/>
        </p:nvSpPr>
        <p:spPr>
          <a:xfrm xmlns:a="http://schemas.openxmlformats.org/drawingml/2006/main">
            <a:off x="1200150" y="1333500"/>
            <a:ext cx="9563100" cy="19050"/>
          </a:xfrm>
          <a:prstGeom xmlns:a="http://schemas.openxmlformats.org/drawingml/2006/main" prst="rect">
            <a:avLst/>
          </a:prstGeom>
          <a:solidFill xmlns:a="http://schemas.openxmlformats.org/drawingml/2006/main">
            <a:srgbClr val="DCE7D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AA5C5AF-4686-45F9-9471-BAF985DBA74D}"/>
              </a:ext>
            </a:extLst>
          </p:cNvPr>
          <p:cNvSpPr>
            <a:spLocks xmlns:a="http://schemas.openxmlformats.org/drawingml/2006/main" noGrp="1"/>
          </p:cNvSpPr>
          <p:nvPr/>
        </p:nvSpPr>
        <p:spPr>
          <a:xfrm xmlns:a="http://schemas.openxmlformats.org/drawingml/2006/main">
            <a:off x="1200150" y="1676400"/>
            <a:ext cx="590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2D3142"/>
                </a:solidFill>
                <a:latin typeface="Arial"/>
                <a:ea typeface="Arial"/>
                <a:cs typeface="Arial"/>
              </a:defRPr>
            </a:pPr>
            <a:r>
              <a:rPr sz="2400" b="1">
                <a:solidFill>
                  <a:srgbClr val="2D3142"/>
                </a:solidFill>
                <a:latin typeface="Arial"/>
                <a:ea typeface="Arial"/>
                <a:cs typeface="Arial"/>
              </a:rPr>
              <a:t>upay Corporate Assist</a:t>
            </a:r>
          </a:p>
        </p:txBody>
      </p:sp>
      <p:sp>
        <p:nvSpPr>
          <p:cNvPr id="10" name="">
            <a:extLst xmlns:a="http://schemas.openxmlformats.org/drawingml/2006/main">
              <a:ext uri="{FF2B5EF4-FFF2-40B4-BE49-F238E27FC236}">
                <a16:creationId xmlns:a16="http://schemas.microsoft.com/office/drawing/2014/main" id="{D1F3775A-D81E-4802-AB56-43F0AA6C5735}"/>
              </a:ext>
            </a:extLst>
          </p:cNvPr>
          <p:cNvSpPr>
            <a:spLocks xmlns:a="http://schemas.openxmlformats.org/drawingml/2006/main" noGrp="1"/>
          </p:cNvSpPr>
          <p:nvPr/>
        </p:nvSpPr>
        <p:spPr>
          <a:xfrm xmlns:a="http://schemas.openxmlformats.org/drawingml/2006/main">
            <a:off x="1200150" y="2219325"/>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00" b="0">
                <a:solidFill>
                  <a:srgbClr val="4F5D75"/>
                </a:solidFill>
                <a:latin typeface="Arial"/>
                <a:ea typeface="Arial"/>
                <a:cs typeface="Arial"/>
              </a:defRPr>
            </a:pPr>
            <a:r>
              <a:rPr sz="1500" b="0">
                <a:solidFill>
                  <a:srgbClr val="4F5D75"/>
                </a:solidFill>
                <a:latin typeface="Arial"/>
                <a:ea typeface="Arial"/>
                <a:cs typeface="Arial"/>
              </a:rPr>
              <a:t>Multi-tenant corporate payroll and disbursement platform</a:t>
            </a:r>
          </a:p>
        </p:txBody>
      </p:sp>
      <p:sp>
        <p:nvSpPr>
          <p:cNvPr id="11" name="">
            <a:extLst xmlns:a="http://schemas.openxmlformats.org/drawingml/2006/main">
              <a:ext uri="{FF2B5EF4-FFF2-40B4-BE49-F238E27FC236}">
                <a16:creationId xmlns:a16="http://schemas.microsoft.com/office/drawing/2014/main" id="{76674586-2B46-4547-903F-EB01C42CF44C}"/>
              </a:ext>
            </a:extLst>
          </p:cNvPr>
          <p:cNvSpPr>
            <a:spLocks xmlns:a="http://schemas.openxmlformats.org/drawingml/2006/main" noGrp="1"/>
          </p:cNvSpPr>
          <p:nvPr/>
        </p:nvSpPr>
        <p:spPr>
          <a:xfrm xmlns:a="http://schemas.openxmlformats.org/drawingml/2006/main">
            <a:off x="3676650" y="3790950"/>
            <a:ext cx="876300" cy="47625"/>
          </a:xfrm>
          <a:prstGeom xmlns:a="http://schemas.openxmlformats.org/drawingml/2006/main" prst="rect">
            <a:avLst/>
          </a:prstGeom>
          <a:solidFill xmlns:a="http://schemas.openxmlformats.org/drawingml/2006/main">
            <a:srgbClr val="DCE7D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8A67C8A-682D-4BD9-A10A-EB37B8656C48}"/>
              </a:ext>
            </a:extLst>
          </p:cNvPr>
          <p:cNvSpPr>
            <a:spLocks xmlns:a="http://schemas.openxmlformats.org/drawingml/2006/main" noGrp="1"/>
          </p:cNvSpPr>
          <p:nvPr/>
        </p:nvSpPr>
        <p:spPr>
          <a:xfrm xmlns:a="http://schemas.openxmlformats.org/drawingml/2006/main">
            <a:off x="1200150" y="3143250"/>
            <a:ext cx="24765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CE7DD"/>
            </a:solidFill>
          </a:ln>
        </p:spPr>
      </p:sp>
      <p:sp>
        <p:nvSpPr>
          <p:cNvPr id="13" name="">
            <a:extLst xmlns:a="http://schemas.openxmlformats.org/drawingml/2006/main">
              <a:ext uri="{FF2B5EF4-FFF2-40B4-BE49-F238E27FC236}">
                <a16:creationId xmlns:a16="http://schemas.microsoft.com/office/drawing/2014/main" id="{EAB82F0C-2B64-4BB8-9C73-97DB4B8C4BB9}"/>
              </a:ext>
            </a:extLst>
          </p:cNvPr>
          <p:cNvSpPr>
            <a:spLocks xmlns:a="http://schemas.openxmlformats.org/drawingml/2006/main" noGrp="1"/>
          </p:cNvSpPr>
          <p:nvPr/>
        </p:nvSpPr>
        <p:spPr>
          <a:xfrm xmlns:a="http://schemas.openxmlformats.org/drawingml/2006/main">
            <a:off x="1428750" y="3371850"/>
            <a:ext cx="361950" cy="361950"/>
          </a:xfrm>
          <a:prstGeom xmlns:a="http://schemas.openxmlformats.org/drawingml/2006/main" prst="roundRect">
            <a:avLst>
              <a:gd name="adj" fmla="val 21053"/>
            </a:avLst>
          </a:prstGeom>
          <a:solidFill xmlns:a="http://schemas.openxmlformats.org/drawingml/2006/main">
            <a:srgbClr val="FFF1E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118AF07-5397-40CC-A082-B459299F354C}"/>
              </a:ext>
            </a:extLst>
          </p:cNvPr>
          <p:cNvSpPr>
            <a:spLocks xmlns:a="http://schemas.openxmlformats.org/drawingml/2006/main" noGrp="1"/>
          </p:cNvSpPr>
          <p:nvPr/>
        </p:nvSpPr>
        <p:spPr>
          <a:xfrm xmlns:a="http://schemas.openxmlformats.org/drawingml/2006/main">
            <a:off x="1428750" y="33718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EF8354"/>
                </a:solidFill>
                <a:latin typeface="Arial"/>
                <a:ea typeface="Arial"/>
                <a:cs typeface="Arial"/>
              </a:defRPr>
            </a:pPr>
            <a:r>
              <a:rPr sz="1200" b="1">
                <a:solidFill>
                  <a:srgbClr val="EF8354"/>
                </a:solidFill>
                <a:latin typeface="Arial"/>
                <a:ea typeface="Arial"/>
                <a:cs typeface="Arial"/>
              </a:rPr>
              <a:t>1</a:t>
            </a:r>
          </a:p>
        </p:txBody>
      </p:sp>
      <p:sp>
        <p:nvSpPr>
          <p:cNvPr id="15" name="">
            <a:extLst xmlns:a="http://schemas.openxmlformats.org/drawingml/2006/main">
              <a:ext uri="{FF2B5EF4-FFF2-40B4-BE49-F238E27FC236}">
                <a16:creationId xmlns:a16="http://schemas.microsoft.com/office/drawing/2014/main" id="{9D6D6C59-F0FB-4937-97C5-82712A6918A0}"/>
              </a:ext>
            </a:extLst>
          </p:cNvPr>
          <p:cNvSpPr>
            <a:spLocks xmlns:a="http://schemas.openxmlformats.org/drawingml/2006/main" noGrp="1"/>
          </p:cNvSpPr>
          <p:nvPr/>
        </p:nvSpPr>
        <p:spPr>
          <a:xfrm xmlns:a="http://schemas.openxmlformats.org/drawingml/2006/main">
            <a:off x="1428750" y="38671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1">
                <a:solidFill>
                  <a:srgbClr val="2D3142"/>
                </a:solidFill>
                <a:latin typeface="Arial"/>
                <a:ea typeface="Arial"/>
                <a:cs typeface="Arial"/>
              </a:defRPr>
            </a:pPr>
            <a:r>
              <a:rPr sz="1425" b="1">
                <a:solidFill>
                  <a:srgbClr val="2D3142"/>
                </a:solidFill>
                <a:latin typeface="Arial"/>
                <a:ea typeface="Arial"/>
                <a:cs typeface="Arial"/>
              </a:rPr>
              <a:t>Corporate HR</a:t>
            </a:r>
          </a:p>
        </p:txBody>
      </p:sp>
      <p:sp>
        <p:nvSpPr>
          <p:cNvPr id="16" name="">
            <a:extLst xmlns:a="http://schemas.openxmlformats.org/drawingml/2006/main">
              <a:ext uri="{FF2B5EF4-FFF2-40B4-BE49-F238E27FC236}">
                <a16:creationId xmlns:a16="http://schemas.microsoft.com/office/drawing/2014/main" id="{6A159A64-B941-4E74-BA5F-261E68A12088}"/>
              </a:ext>
            </a:extLst>
          </p:cNvPr>
          <p:cNvSpPr>
            <a:spLocks xmlns:a="http://schemas.openxmlformats.org/drawingml/2006/main" noGrp="1"/>
          </p:cNvSpPr>
          <p:nvPr/>
        </p:nvSpPr>
        <p:spPr>
          <a:xfrm xmlns:a="http://schemas.openxmlformats.org/drawingml/2006/main">
            <a:off x="1428750" y="416242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4F5D75"/>
                </a:solidFill>
                <a:latin typeface="Arial"/>
                <a:ea typeface="Arial"/>
                <a:cs typeface="Arial"/>
              </a:defRPr>
            </a:pPr>
            <a:r>
              <a:rPr sz="1050" b="0">
                <a:solidFill>
                  <a:srgbClr val="4F5D75"/>
                </a:solidFill>
                <a:latin typeface="Arial"/>
                <a:ea typeface="Arial"/>
                <a:cs typeface="Arial"/>
              </a:rPr>
              <a:t>Prepares payroll</a:t>
            </a:r>
          </a:p>
        </p:txBody>
      </p:sp>
      <p:sp>
        <p:nvSpPr>
          <p:cNvPr id="17" name="">
            <a:extLst xmlns:a="http://schemas.openxmlformats.org/drawingml/2006/main">
              <a:ext uri="{FF2B5EF4-FFF2-40B4-BE49-F238E27FC236}">
                <a16:creationId xmlns:a16="http://schemas.microsoft.com/office/drawing/2014/main" id="{1E9BD924-0334-4B42-903F-525F00E475B1}"/>
              </a:ext>
            </a:extLst>
          </p:cNvPr>
          <p:cNvSpPr>
            <a:spLocks xmlns:a="http://schemas.openxmlformats.org/drawingml/2006/main" noGrp="1"/>
          </p:cNvSpPr>
          <p:nvPr/>
        </p:nvSpPr>
        <p:spPr>
          <a:xfrm xmlns:a="http://schemas.openxmlformats.org/drawingml/2006/main">
            <a:off x="7029450" y="3790950"/>
            <a:ext cx="876300" cy="47625"/>
          </a:xfrm>
          <a:prstGeom xmlns:a="http://schemas.openxmlformats.org/drawingml/2006/main" prst="rect">
            <a:avLst/>
          </a:prstGeom>
          <a:solidFill xmlns:a="http://schemas.openxmlformats.org/drawingml/2006/main">
            <a:srgbClr val="DCE7DD"/>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06F018E-53C2-445C-82F6-B997D0E2C973}"/>
              </a:ext>
            </a:extLst>
          </p:cNvPr>
          <p:cNvSpPr>
            <a:spLocks xmlns:a="http://schemas.openxmlformats.org/drawingml/2006/main" noGrp="1"/>
          </p:cNvSpPr>
          <p:nvPr/>
        </p:nvSpPr>
        <p:spPr>
          <a:xfrm xmlns:a="http://schemas.openxmlformats.org/drawingml/2006/main">
            <a:off x="4552950" y="3143250"/>
            <a:ext cx="2476500" cy="1381125"/>
          </a:xfrm>
          <a:prstGeom xmlns:a="http://schemas.openxmlformats.org/drawingml/2006/main" prst="roundRect">
            <a:avLst>
              <a:gd name="adj" fmla="val 5517"/>
            </a:avLst>
          </a:prstGeom>
          <a:solidFill xmlns:a="http://schemas.openxmlformats.org/drawingml/2006/main">
            <a:srgbClr val="2D3142"/>
          </a:solidFill>
          <a:ln xmlns:a="http://schemas.openxmlformats.org/drawingml/2006/main" w="9525">
            <a:solidFill>
              <a:srgbClr val="2D3142"/>
            </a:solidFill>
          </a:ln>
        </p:spPr>
      </p:sp>
      <p:sp>
        <p:nvSpPr>
          <p:cNvPr id="19" name="">
            <a:extLst xmlns:a="http://schemas.openxmlformats.org/drawingml/2006/main">
              <a:ext uri="{FF2B5EF4-FFF2-40B4-BE49-F238E27FC236}">
                <a16:creationId xmlns:a16="http://schemas.microsoft.com/office/drawing/2014/main" id="{8FC2A593-E20E-49B0-A788-FCBC0143B1E7}"/>
              </a:ext>
            </a:extLst>
          </p:cNvPr>
          <p:cNvSpPr>
            <a:spLocks xmlns:a="http://schemas.openxmlformats.org/drawingml/2006/main" noGrp="1"/>
          </p:cNvSpPr>
          <p:nvPr/>
        </p:nvSpPr>
        <p:spPr>
          <a:xfrm xmlns:a="http://schemas.openxmlformats.org/drawingml/2006/main">
            <a:off x="4781550" y="3371850"/>
            <a:ext cx="361950" cy="361950"/>
          </a:xfrm>
          <a:prstGeom xmlns:a="http://schemas.openxmlformats.org/drawingml/2006/main" prst="roundRect">
            <a:avLst>
              <a:gd name="adj" fmla="val 21053"/>
            </a:avLst>
          </a:prstGeom>
          <a:solidFill xmlns:a="http://schemas.openxmlformats.org/drawingml/2006/main">
            <a:srgbClr val="EF835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B4F82A3-2CD1-47BD-A84F-C57A3622499A}"/>
              </a:ext>
            </a:extLst>
          </p:cNvPr>
          <p:cNvSpPr>
            <a:spLocks xmlns:a="http://schemas.openxmlformats.org/drawingml/2006/main" noGrp="1"/>
          </p:cNvSpPr>
          <p:nvPr/>
        </p:nvSpPr>
        <p:spPr>
          <a:xfrm xmlns:a="http://schemas.openxmlformats.org/drawingml/2006/main">
            <a:off x="4781550" y="33718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21" name="">
            <a:extLst xmlns:a="http://schemas.openxmlformats.org/drawingml/2006/main">
              <a:ext uri="{FF2B5EF4-FFF2-40B4-BE49-F238E27FC236}">
                <a16:creationId xmlns:a16="http://schemas.microsoft.com/office/drawing/2014/main" id="{DED0978B-E944-4225-A0D3-842DBCCD013A}"/>
              </a:ext>
            </a:extLst>
          </p:cNvPr>
          <p:cNvSpPr>
            <a:spLocks xmlns:a="http://schemas.openxmlformats.org/drawingml/2006/main" noGrp="1"/>
          </p:cNvSpPr>
          <p:nvPr/>
        </p:nvSpPr>
        <p:spPr>
          <a:xfrm xmlns:a="http://schemas.openxmlformats.org/drawingml/2006/main">
            <a:off x="4781550" y="38671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Corporate Assist</a:t>
            </a:r>
          </a:p>
        </p:txBody>
      </p:sp>
      <p:sp>
        <p:nvSpPr>
          <p:cNvPr id="22" name="">
            <a:extLst xmlns:a="http://schemas.openxmlformats.org/drawingml/2006/main">
              <a:ext uri="{FF2B5EF4-FFF2-40B4-BE49-F238E27FC236}">
                <a16:creationId xmlns:a16="http://schemas.microsoft.com/office/drawing/2014/main" id="{DC6B5884-7B83-4ABB-A102-6FFF6D077E2C}"/>
              </a:ext>
            </a:extLst>
          </p:cNvPr>
          <p:cNvSpPr>
            <a:spLocks xmlns:a="http://schemas.openxmlformats.org/drawingml/2006/main" noGrp="1"/>
          </p:cNvSpPr>
          <p:nvPr/>
        </p:nvSpPr>
        <p:spPr>
          <a:xfrm xmlns:a="http://schemas.openxmlformats.org/drawingml/2006/main">
            <a:off x="4781550" y="416242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BFC0C0"/>
                </a:solidFill>
                <a:latin typeface="Arial"/>
                <a:ea typeface="Arial"/>
                <a:cs typeface="Arial"/>
              </a:defRPr>
            </a:pPr>
            <a:r>
              <a:rPr sz="1050" b="0">
                <a:solidFill>
                  <a:srgbClr val="BFC0C0"/>
                </a:solidFill>
                <a:latin typeface="Arial"/>
                <a:ea typeface="Arial"/>
                <a:cs typeface="Arial"/>
              </a:rPr>
              <a:t>Controls the workflow</a:t>
            </a:r>
          </a:p>
        </p:txBody>
      </p:sp>
      <p:sp>
        <p:nvSpPr>
          <p:cNvPr id="23" name="">
            <a:extLst xmlns:a="http://schemas.openxmlformats.org/drawingml/2006/main">
              <a:ext uri="{FF2B5EF4-FFF2-40B4-BE49-F238E27FC236}">
                <a16:creationId xmlns:a16="http://schemas.microsoft.com/office/drawing/2014/main" id="{51C72D37-C4FF-4DD0-8B56-D8DA6CFB446B}"/>
              </a:ext>
            </a:extLst>
          </p:cNvPr>
          <p:cNvSpPr>
            <a:spLocks xmlns:a="http://schemas.openxmlformats.org/drawingml/2006/main" noGrp="1"/>
          </p:cNvSpPr>
          <p:nvPr/>
        </p:nvSpPr>
        <p:spPr>
          <a:xfrm xmlns:a="http://schemas.openxmlformats.org/drawingml/2006/main">
            <a:off x="7905750" y="3143250"/>
            <a:ext cx="24765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DCE7DD"/>
            </a:solidFill>
          </a:ln>
        </p:spPr>
      </p:sp>
      <p:sp>
        <p:nvSpPr>
          <p:cNvPr id="24" name="">
            <a:extLst xmlns:a="http://schemas.openxmlformats.org/drawingml/2006/main">
              <a:ext uri="{FF2B5EF4-FFF2-40B4-BE49-F238E27FC236}">
                <a16:creationId xmlns:a16="http://schemas.microsoft.com/office/drawing/2014/main" id="{BB33B420-4AF5-4952-9C3C-8BFF6902B121}"/>
              </a:ext>
            </a:extLst>
          </p:cNvPr>
          <p:cNvSpPr>
            <a:spLocks xmlns:a="http://schemas.openxmlformats.org/drawingml/2006/main" noGrp="1"/>
          </p:cNvSpPr>
          <p:nvPr/>
        </p:nvSpPr>
        <p:spPr>
          <a:xfrm xmlns:a="http://schemas.openxmlformats.org/drawingml/2006/main">
            <a:off x="8134350" y="3371850"/>
            <a:ext cx="361950" cy="361950"/>
          </a:xfrm>
          <a:prstGeom xmlns:a="http://schemas.openxmlformats.org/drawingml/2006/main" prst="roundRect">
            <a:avLst>
              <a:gd name="adj" fmla="val 21053"/>
            </a:avLst>
          </a:prstGeom>
          <a:solidFill xmlns:a="http://schemas.openxmlformats.org/drawingml/2006/main">
            <a:srgbClr val="FFF1E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52D1803-FDD7-4726-BFC6-19F5D892DFC0}"/>
              </a:ext>
            </a:extLst>
          </p:cNvPr>
          <p:cNvSpPr>
            <a:spLocks xmlns:a="http://schemas.openxmlformats.org/drawingml/2006/main" noGrp="1"/>
          </p:cNvSpPr>
          <p:nvPr/>
        </p:nvSpPr>
        <p:spPr>
          <a:xfrm xmlns:a="http://schemas.openxmlformats.org/drawingml/2006/main">
            <a:off x="8134350" y="3371850"/>
            <a:ext cx="361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EF8354"/>
                </a:solidFill>
                <a:latin typeface="Arial"/>
                <a:ea typeface="Arial"/>
                <a:cs typeface="Arial"/>
              </a:defRPr>
            </a:pPr>
            <a:r>
              <a:rPr sz="1200" b="1">
                <a:solidFill>
                  <a:srgbClr val="EF8354"/>
                </a:solidFill>
                <a:latin typeface="Arial"/>
                <a:ea typeface="Arial"/>
                <a:cs typeface="Arial"/>
              </a:rPr>
              <a:t>3</a:t>
            </a:r>
          </a:p>
        </p:txBody>
      </p:sp>
      <p:sp>
        <p:nvSpPr>
          <p:cNvPr id="26" name="">
            <a:extLst xmlns:a="http://schemas.openxmlformats.org/drawingml/2006/main">
              <a:ext uri="{FF2B5EF4-FFF2-40B4-BE49-F238E27FC236}">
                <a16:creationId xmlns:a16="http://schemas.microsoft.com/office/drawing/2014/main" id="{9703FC33-14C4-4A22-8A97-9433D412CEAC}"/>
              </a:ext>
            </a:extLst>
          </p:cNvPr>
          <p:cNvSpPr>
            <a:spLocks xmlns:a="http://schemas.openxmlformats.org/drawingml/2006/main" noGrp="1"/>
          </p:cNvSpPr>
          <p:nvPr/>
        </p:nvSpPr>
        <p:spPr>
          <a:xfrm xmlns:a="http://schemas.openxmlformats.org/drawingml/2006/main">
            <a:off x="8134350" y="38671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1">
                <a:solidFill>
                  <a:srgbClr val="2D3142"/>
                </a:solidFill>
                <a:latin typeface="Arial"/>
                <a:ea typeface="Arial"/>
                <a:cs typeface="Arial"/>
              </a:defRPr>
            </a:pPr>
            <a:r>
              <a:rPr sz="1425" b="1">
                <a:solidFill>
                  <a:srgbClr val="2D3142"/>
                </a:solidFill>
                <a:latin typeface="Arial"/>
                <a:ea typeface="Arial"/>
                <a:cs typeface="Arial"/>
              </a:rPr>
              <a:t>Employee wallets</a:t>
            </a:r>
          </a:p>
        </p:txBody>
      </p:sp>
      <p:sp>
        <p:nvSpPr>
          <p:cNvPr id="27" name="">
            <a:extLst xmlns:a="http://schemas.openxmlformats.org/drawingml/2006/main">
              <a:ext uri="{FF2B5EF4-FFF2-40B4-BE49-F238E27FC236}">
                <a16:creationId xmlns:a16="http://schemas.microsoft.com/office/drawing/2014/main" id="{3DF66A85-B35F-4C4C-AAB0-CB284A4D7F5E}"/>
              </a:ext>
            </a:extLst>
          </p:cNvPr>
          <p:cNvSpPr>
            <a:spLocks xmlns:a="http://schemas.openxmlformats.org/drawingml/2006/main" noGrp="1"/>
          </p:cNvSpPr>
          <p:nvPr/>
        </p:nvSpPr>
        <p:spPr>
          <a:xfrm xmlns:a="http://schemas.openxmlformats.org/drawingml/2006/main">
            <a:off x="8134350" y="416242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714"/>
          </a:bodyPr>
          <a:lstStyle xmlns:a="http://schemas.openxmlformats.org/drawingml/2006/main"/>
          <a:p xmlns:a="http://schemas.openxmlformats.org/drawingml/2006/main">
            <a:pPr algn="l">
              <a:defRPr sz="1050" b="0">
                <a:solidFill>
                  <a:srgbClr val="4F5D75"/>
                </a:solidFill>
                <a:latin typeface="Arial"/>
                <a:ea typeface="Arial"/>
                <a:cs typeface="Arial"/>
              </a:defRPr>
            </a:pPr>
            <a:r>
              <a:rPr sz="1050" b="0">
                <a:solidFill>
                  <a:srgbClr val="4F5D75"/>
                </a:solidFill>
                <a:latin typeface="Arial"/>
                <a:ea typeface="Arial"/>
                <a:cs typeface="Arial"/>
              </a:rPr>
              <a:t>Receive payments</a:t>
            </a:r>
          </a:p>
        </p:txBody>
      </p:sp>
      <p:sp>
        <p:nvSpPr>
          <p:cNvPr id="28" name="">
            <a:extLst xmlns:a="http://schemas.openxmlformats.org/drawingml/2006/main">
              <a:ext uri="{FF2B5EF4-FFF2-40B4-BE49-F238E27FC236}">
                <a16:creationId xmlns:a16="http://schemas.microsoft.com/office/drawing/2014/main" id="{DD43C2D6-A8FD-4F30-B14E-898AA4138C1C}"/>
              </a:ext>
            </a:extLst>
          </p:cNvPr>
          <p:cNvSpPr>
            <a:spLocks xmlns:a="http://schemas.openxmlformats.org/drawingml/2006/main" noGrp="1"/>
          </p:cNvSpPr>
          <p:nvPr/>
        </p:nvSpPr>
        <p:spPr>
          <a:xfrm xmlns:a="http://schemas.openxmlformats.org/drawingml/2006/main">
            <a:off x="1200150" y="5238750"/>
            <a:ext cx="10058400" cy="723900"/>
          </a:xfrm>
          <a:prstGeom xmlns:a="http://schemas.openxmlformats.org/drawingml/2006/main" prst="roundRect">
            <a:avLst>
              <a:gd name="adj" fmla="val 10526"/>
            </a:avLst>
          </a:prstGeom>
          <a:solidFill xmlns:a="http://schemas.openxmlformats.org/drawingml/2006/main">
            <a:srgbClr val="FFF1EB"/>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22E6C166-22F7-4BD6-99CF-14FB6B9A4E5A}"/>
              </a:ext>
            </a:extLst>
          </p:cNvPr>
          <p:cNvSpPr>
            <a:spLocks xmlns:a="http://schemas.openxmlformats.org/drawingml/2006/main" noGrp="1"/>
          </p:cNvSpPr>
          <p:nvPr/>
        </p:nvSpPr>
        <p:spPr>
          <a:xfrm xmlns:a="http://schemas.openxmlformats.org/drawingml/2006/main">
            <a:off x="1428750" y="541020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EF8354"/>
                </a:solidFill>
                <a:latin typeface="Arial"/>
                <a:ea typeface="Arial"/>
                <a:cs typeface="Arial"/>
              </a:defRPr>
            </a:pPr>
            <a:r>
              <a:rPr sz="1200" b="1">
                <a:solidFill>
                  <a:srgbClr val="EF8354"/>
                </a:solidFill>
                <a:latin typeface="Arial"/>
                <a:ea typeface="Arial"/>
                <a:cs typeface="Arial"/>
              </a:rPr>
              <a:t>My focus</a:t>
            </a:r>
          </a:p>
        </p:txBody>
      </p:sp>
      <p:sp>
        <p:nvSpPr>
          <p:cNvPr id="30" name="">
            <a:extLst xmlns:a="http://schemas.openxmlformats.org/drawingml/2006/main">
              <a:ext uri="{FF2B5EF4-FFF2-40B4-BE49-F238E27FC236}">
                <a16:creationId xmlns:a16="http://schemas.microsoft.com/office/drawing/2014/main" id="{E724578C-2F6B-4FA3-8E8F-3309CE563AD4}"/>
              </a:ext>
            </a:extLst>
          </p:cNvPr>
          <p:cNvSpPr>
            <a:spLocks xmlns:a="http://schemas.openxmlformats.org/drawingml/2006/main" noGrp="1"/>
          </p:cNvSpPr>
          <p:nvPr/>
        </p:nvSpPr>
        <p:spPr>
          <a:xfrm xmlns:a="http://schemas.openxmlformats.org/drawingml/2006/main">
            <a:off x="2781300" y="5314950"/>
            <a:ext cx="800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2D3142"/>
                </a:solidFill>
                <a:latin typeface="Arial"/>
                <a:ea typeface="Arial"/>
                <a:cs typeface="Arial"/>
              </a:defRPr>
            </a:pPr>
            <a:r>
              <a:rPr sz="1650" b="1">
                <a:solidFill>
                  <a:srgbClr val="2D3142"/>
                </a:solidFill>
                <a:latin typeface="Arial"/>
                <a:ea typeface="Arial"/>
                <a:cs typeface="Arial"/>
              </a:rPr>
              <a:t>Turning spreadsheet handoffs into a controlled digital process</a:t>
            </a:r>
          </a:p>
        </p:txBody>
      </p:sp>
    </p:spTree>
    <p:extLst>
      <p:ext uri="{BB962C8B-B14F-4D97-AF65-F5344CB8AC3E}">
        <p14:creationId xmlns:p14="http://schemas.microsoft.com/office/powerpoint/2010/main" val="958169340"/>
      </p:ext>
    </p:extLst>
  </p:cSld>
</p:sld>
</file>

<file path=ppt/slides/slide3.xml><?xml version="1.0" encoding="utf-8"?>
<p:sld xmlns:p="http://schemas.openxmlformats.org/presentationml/2006/main">
  <p:cSld>
    <p:bg>
      <p:bgPr>
        <a:solidFill xmlns:a="http://schemas.openxmlformats.org/drawingml/2006/main">
          <a:srgbClr val="F7F9F6"/>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9F3BD2B0-CA0C-4E68-A25D-58EC2CE8303D}"/>
              </a:ext>
            </a:extLst>
          </p:cNvPr>
          <p:cNvSpPr>
            <a:spLocks xmlns:a="http://schemas.openxmlformats.org/drawingml/2006/main" noGrp="1"/>
          </p:cNvSpPr>
          <p:nvPr/>
        </p:nvSpPr>
        <p:spPr>
          <a:xfrm xmlns:a="http://schemas.openxmlformats.org/drawingml/2006/main">
            <a:off x="0" y="0"/>
            <a:ext cx="819150" cy="6858000"/>
          </a:xfrm>
          <a:prstGeom xmlns:a="http://schemas.openxmlformats.org/drawingml/2006/main" prst="rect">
            <a:avLst/>
          </a:prstGeom>
          <a:solidFill xmlns:a="http://schemas.openxmlformats.org/drawingml/2006/main">
            <a:srgbClr val="2D314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22C726-C7B3-46D0-914A-0BD6C0F4E401}"/>
              </a:ext>
            </a:extLst>
          </p:cNvPr>
          <p:cNvSpPr>
            <a:spLocks xmlns:a="http://schemas.openxmlformats.org/drawingml/2006/main" noGrp="1"/>
          </p:cNvSpPr>
          <p:nvPr/>
        </p:nvSpPr>
        <p:spPr>
          <a:xfrm xmlns:a="http://schemas.openxmlformats.org/drawingml/2006/main">
            <a:off x="0" y="0"/>
            <a:ext cx="819150" cy="114300"/>
          </a:xfrm>
          <a:prstGeom xmlns:a="http://schemas.openxmlformats.org/drawingml/2006/main" prst="rect">
            <a:avLst/>
          </a:prstGeom>
          <a:solidFill xmlns:a="http://schemas.openxmlformats.org/drawingml/2006/main">
            <a:srgbClr val="EF835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30DB285-3D74-4D05-8C2B-023FAE998D9C}"/>
              </a:ext>
            </a:extLst>
          </p:cNvPr>
          <p:cNvSpPr>
            <a:spLocks xmlns:a="http://schemas.openxmlformats.org/drawingml/2006/main" noGrp="1"/>
          </p:cNvSpPr>
          <p:nvPr/>
        </p:nvSpPr>
        <p:spPr>
          <a:xfrm xmlns:a="http://schemas.openxmlformats.org/drawingml/2006/main">
            <a:off x="266700" y="400050"/>
            <a:ext cx="285750" cy="285750"/>
          </a:xfrm>
          <a:prstGeom xmlns:a="http://schemas.openxmlformats.org/drawingml/2006/main" prst="roundRect">
            <a:avLst>
              <a:gd name="adj" fmla="val 26667"/>
            </a:avLst>
          </a:prstGeom>
          <a:solidFill xmlns:a="http://schemas.openxmlformats.org/drawingml/2006/main">
            <a:srgbClr val="EF835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E4BF589-DDAD-400C-926D-453C9ED22B32}"/>
              </a:ext>
            </a:extLst>
          </p:cNvPr>
          <p:cNvSpPr>
            <a:spLocks xmlns:a="http://schemas.openxmlformats.org/drawingml/2006/main" noGrp="1"/>
          </p:cNvSpPr>
          <p:nvPr/>
        </p:nvSpPr>
        <p:spPr>
          <a:xfrm xmlns:a="http://schemas.openxmlformats.org/drawingml/2006/main">
            <a:off x="266700" y="39052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u</a:t>
            </a:r>
          </a:p>
        </p:txBody>
      </p:sp>
      <p:sp>
        <p:nvSpPr>
          <p:cNvPr id="5" name="">
            <a:extLst xmlns:a="http://schemas.openxmlformats.org/drawingml/2006/main">
              <a:ext uri="{FF2B5EF4-FFF2-40B4-BE49-F238E27FC236}">
                <a16:creationId xmlns:a16="http://schemas.microsoft.com/office/drawing/2014/main" id="{4B72E431-5E78-4C04-9896-1D91FF994166}"/>
              </a:ext>
            </a:extLst>
          </p:cNvPr>
          <p:cNvSpPr>
            <a:spLocks xmlns:a="http://schemas.openxmlformats.org/drawingml/2006/main" noGrp="1"/>
          </p:cNvSpPr>
          <p:nvPr/>
        </p:nvSpPr>
        <p:spPr>
          <a:xfrm xmlns:a="http://schemas.openxmlformats.org/drawingml/2006/main">
            <a:off x="266700" y="62293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096"/>
          </a:bodyPr>
          <a:lstStyle xmlns:a="http://schemas.openxmlformats.org/drawingml/2006/main"/>
          <a:p xmlns:a="http://schemas.openxmlformats.org/drawingml/2006/main">
            <a:pPr algn="ctr">
              <a:defRPr sz="900" b="1">
                <a:solidFill>
                  <a:srgbClr val="BFC0C0"/>
                </a:solidFill>
                <a:latin typeface="Arial"/>
                <a:ea typeface="Arial"/>
                <a:cs typeface="Arial"/>
              </a:defRPr>
            </a:pPr>
            <a:r>
              <a:rPr sz="900" b="1">
                <a:solidFill>
                  <a:srgbClr val="BFC0C0"/>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B6A97103-475C-4E7C-A64A-03752DA4F569}"/>
              </a:ext>
            </a:extLst>
          </p:cNvPr>
          <p:cNvSpPr>
            <a:spLocks xmlns:a="http://schemas.openxmlformats.org/drawingml/2006/main" noGrp="1"/>
          </p:cNvSpPr>
          <p:nvPr/>
        </p:nvSpPr>
        <p:spPr>
          <a:xfrm xmlns:a="http://schemas.openxmlformats.org/drawingml/2006/main">
            <a:off x="1200150" y="428625"/>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118"/>
          </a:bodyPr>
          <a:lstStyle xmlns:a="http://schemas.openxmlformats.org/drawingml/2006/main"/>
          <a:p xmlns:a="http://schemas.openxmlformats.org/drawingml/2006/main">
            <a:pPr algn="l">
              <a:defRPr sz="2550" b="1">
                <a:solidFill>
                  <a:srgbClr val="2D3142"/>
                </a:solidFill>
                <a:latin typeface="Arial"/>
                <a:ea typeface="Arial"/>
                <a:cs typeface="Arial"/>
              </a:defRPr>
            </a:pPr>
            <a:r>
              <a:rPr sz="2550" b="1">
                <a:solidFill>
                  <a:srgbClr val="2D3142"/>
                </a:solidFill>
                <a:latin typeface="Arial"/>
                <a:ea typeface="Arial"/>
                <a:cs typeface="Arial"/>
              </a:rPr>
              <a:t>Today’s presentation</a:t>
            </a:r>
          </a:p>
        </p:txBody>
      </p:sp>
      <p:sp>
        <p:nvSpPr>
          <p:cNvPr id="7" name="">
            <a:extLst xmlns:a="http://schemas.openxmlformats.org/drawingml/2006/main">
              <a:ext uri="{FF2B5EF4-FFF2-40B4-BE49-F238E27FC236}">
                <a16:creationId xmlns:a16="http://schemas.microsoft.com/office/drawing/2014/main" id="{7966A288-99EA-48FD-A2A2-0ACB08026B98}"/>
              </a:ext>
            </a:extLst>
          </p:cNvPr>
          <p:cNvSpPr>
            <a:spLocks xmlns:a="http://schemas.openxmlformats.org/drawingml/2006/main" noGrp="1"/>
          </p:cNvSpPr>
          <p:nvPr/>
        </p:nvSpPr>
        <p:spPr>
          <a:xfrm xmlns:a="http://schemas.openxmlformats.org/drawingml/2006/main">
            <a:off x="1200150" y="9144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0">
                <a:solidFill>
                  <a:srgbClr val="4F5D75"/>
                </a:solidFill>
                <a:latin typeface="Arial"/>
                <a:ea typeface="Arial"/>
                <a:cs typeface="Arial"/>
              </a:defRPr>
            </a:pPr>
            <a:r>
              <a:rPr sz="1200" b="0">
                <a:solidFill>
                  <a:srgbClr val="4F5D75"/>
                </a:solidFill>
                <a:latin typeface="Arial"/>
                <a:ea typeface="Arial"/>
                <a:cs typeface="Arial"/>
              </a:rPr>
              <a:t>A short overview of the proposal</a:t>
            </a:r>
          </a:p>
        </p:txBody>
      </p:sp>
      <p:sp>
        <p:nvSpPr>
          <p:cNvPr id="8" name="">
            <a:extLst xmlns:a="http://schemas.openxmlformats.org/drawingml/2006/main">
              <a:ext uri="{FF2B5EF4-FFF2-40B4-BE49-F238E27FC236}">
                <a16:creationId xmlns:a16="http://schemas.microsoft.com/office/drawing/2014/main" id="{B4BB93F1-0EED-4CEE-917A-71DF22BB2640}"/>
              </a:ext>
            </a:extLst>
          </p:cNvPr>
          <p:cNvSpPr>
            <a:spLocks xmlns:a="http://schemas.openxmlformats.org/drawingml/2006/main" noGrp="1"/>
          </p:cNvSpPr>
          <p:nvPr/>
        </p:nvSpPr>
        <p:spPr>
          <a:xfrm xmlns:a="http://schemas.openxmlformats.org/drawingml/2006/main">
            <a:off x="1200150" y="1333500"/>
            <a:ext cx="9563100" cy="19050"/>
          </a:xfrm>
          <a:prstGeom xmlns:a="http://schemas.openxmlformats.org/drawingml/2006/main" prst="rect">
            <a:avLst/>
          </a:prstGeom>
          <a:solidFill xmlns:a="http://schemas.openxmlformats.org/drawingml/2006/main">
            <a:srgbClr val="DCE7D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0F27D89-B3D3-4788-B0F2-E1A8905A5B28}"/>
              </a:ext>
            </a:extLst>
          </p:cNvPr>
          <p:cNvSpPr>
            <a:spLocks xmlns:a="http://schemas.openxmlformats.org/drawingml/2006/main" noGrp="1"/>
          </p:cNvSpPr>
          <p:nvPr/>
        </p:nvSpPr>
        <p:spPr>
          <a:xfrm xmlns:a="http://schemas.openxmlformats.org/drawingml/2006/main">
            <a:off x="1200150" y="1714500"/>
            <a:ext cx="838200" cy="685800"/>
          </a:xfrm>
          <a:prstGeom xmlns:a="http://schemas.openxmlformats.org/drawingml/2006/main" prst="roundRect">
            <a:avLst>
              <a:gd name="adj" fmla="val 11111"/>
            </a:avLst>
          </a:prstGeom>
          <a:solidFill xmlns:a="http://schemas.openxmlformats.org/drawingml/2006/main">
            <a:srgbClr val="2D314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A4A138D-2E29-4D24-9F9F-0BF409DC3F91}"/>
              </a:ext>
            </a:extLst>
          </p:cNvPr>
          <p:cNvSpPr>
            <a:spLocks xmlns:a="http://schemas.openxmlformats.org/drawingml/2006/main" noGrp="1"/>
          </p:cNvSpPr>
          <p:nvPr/>
        </p:nvSpPr>
        <p:spPr>
          <a:xfrm xmlns:a="http://schemas.openxmlformats.org/drawingml/2006/main">
            <a:off x="1200150" y="1714500"/>
            <a:ext cx="838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A26C31C1-E64C-415E-B25C-921B265EEF7F}"/>
              </a:ext>
            </a:extLst>
          </p:cNvPr>
          <p:cNvSpPr>
            <a:spLocks xmlns:a="http://schemas.openxmlformats.org/drawingml/2006/main" noGrp="1"/>
          </p:cNvSpPr>
          <p:nvPr/>
        </p:nvSpPr>
        <p:spPr>
          <a:xfrm xmlns:a="http://schemas.openxmlformats.org/drawingml/2006/main">
            <a:off x="2343150" y="172402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159"/>
          </a:bodyPr>
          <a:lstStyle xmlns:a="http://schemas.openxmlformats.org/drawingml/2006/main"/>
          <a:p xmlns:a="http://schemas.openxmlformats.org/drawingml/2006/main">
            <a:pPr algn="l">
              <a:defRPr sz="1725" b="1">
                <a:solidFill>
                  <a:srgbClr val="2D3142"/>
                </a:solidFill>
                <a:latin typeface="Arial"/>
                <a:ea typeface="Arial"/>
                <a:cs typeface="Arial"/>
              </a:defRPr>
            </a:pPr>
            <a:r>
              <a:rPr sz="1725" b="1">
                <a:solidFill>
                  <a:srgbClr val="2D3142"/>
                </a:solidFill>
                <a:latin typeface="Arial"/>
                <a:ea typeface="Arial"/>
                <a:cs typeface="Arial"/>
              </a:rPr>
              <a:t>The problem</a:t>
            </a:r>
          </a:p>
        </p:txBody>
      </p:sp>
      <p:sp>
        <p:nvSpPr>
          <p:cNvPr id="12" name="">
            <a:extLst xmlns:a="http://schemas.openxmlformats.org/drawingml/2006/main">
              <a:ext uri="{FF2B5EF4-FFF2-40B4-BE49-F238E27FC236}">
                <a16:creationId xmlns:a16="http://schemas.microsoft.com/office/drawing/2014/main" id="{0C106E7A-20C4-4FD6-A5BB-BF6DE79325B0}"/>
              </a:ext>
            </a:extLst>
          </p:cNvPr>
          <p:cNvSpPr>
            <a:spLocks xmlns:a="http://schemas.openxmlformats.org/drawingml/2006/main" noGrp="1"/>
          </p:cNvSpPr>
          <p:nvPr/>
        </p:nvSpPr>
        <p:spPr>
          <a:xfrm xmlns:a="http://schemas.openxmlformats.org/drawingml/2006/main">
            <a:off x="2343150" y="2066925"/>
            <a:ext cx="657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625"/>
          </a:bodyPr>
          <a:lstStyle xmlns:a="http://schemas.openxmlformats.org/drawingml/2006/main"/>
          <a:p xmlns:a="http://schemas.openxmlformats.org/drawingml/2006/main">
            <a:pPr algn="l">
              <a:defRPr sz="1200" b="0">
                <a:solidFill>
                  <a:srgbClr val="4F5D75"/>
                </a:solidFill>
                <a:latin typeface="Arial"/>
                <a:ea typeface="Arial"/>
                <a:cs typeface="Arial"/>
              </a:defRPr>
            </a:pPr>
            <a:r>
              <a:rPr sz="1200" b="0">
                <a:solidFill>
                  <a:srgbClr val="4F5D75"/>
                </a:solidFill>
                <a:latin typeface="Arial"/>
                <a:ea typeface="Arial"/>
                <a:cs typeface="Arial"/>
              </a:rPr>
              <a:t>Where payroll operations create risk</a:t>
            </a:r>
          </a:p>
        </p:txBody>
      </p:sp>
      <p:sp>
        <p:nvSpPr>
          <p:cNvPr id="13" name="">
            <a:extLst xmlns:a="http://schemas.openxmlformats.org/drawingml/2006/main">
              <a:ext uri="{FF2B5EF4-FFF2-40B4-BE49-F238E27FC236}">
                <a16:creationId xmlns:a16="http://schemas.microsoft.com/office/drawing/2014/main" id="{FC6B782D-F0E1-4BED-81BE-FE2304F47C1A}"/>
              </a:ext>
            </a:extLst>
          </p:cNvPr>
          <p:cNvSpPr>
            <a:spLocks xmlns:a="http://schemas.openxmlformats.org/drawingml/2006/main" noGrp="1"/>
          </p:cNvSpPr>
          <p:nvPr/>
        </p:nvSpPr>
        <p:spPr>
          <a:xfrm xmlns:a="http://schemas.openxmlformats.org/drawingml/2006/main">
            <a:off x="2343150" y="2533650"/>
            <a:ext cx="7239000" cy="9525"/>
          </a:xfrm>
          <a:prstGeom xmlns:a="http://schemas.openxmlformats.org/drawingml/2006/main" prst="rect">
            <a:avLst/>
          </a:prstGeom>
          <a:solidFill xmlns:a="http://schemas.openxmlformats.org/drawingml/2006/main">
            <a:srgbClr val="DCE7D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6897AE8-8436-4E91-BE46-167E99D3DD70}"/>
              </a:ext>
            </a:extLst>
          </p:cNvPr>
          <p:cNvSpPr>
            <a:spLocks xmlns:a="http://schemas.openxmlformats.org/drawingml/2006/main" noGrp="1"/>
          </p:cNvSpPr>
          <p:nvPr/>
        </p:nvSpPr>
        <p:spPr>
          <a:xfrm xmlns:a="http://schemas.openxmlformats.org/drawingml/2006/main">
            <a:off x="1200150" y="2724150"/>
            <a:ext cx="838200" cy="685800"/>
          </a:xfrm>
          <a:prstGeom xmlns:a="http://schemas.openxmlformats.org/drawingml/2006/main" prst="roundRect">
            <a:avLst>
              <a:gd name="adj" fmla="val 11111"/>
            </a:avLst>
          </a:prstGeom>
          <a:solidFill xmlns:a="http://schemas.openxmlformats.org/drawingml/2006/main">
            <a:srgbClr val="EF835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DDF39BB-A148-444C-B79A-E661774B8519}"/>
              </a:ext>
            </a:extLst>
          </p:cNvPr>
          <p:cNvSpPr>
            <a:spLocks xmlns:a="http://schemas.openxmlformats.org/drawingml/2006/main" noGrp="1"/>
          </p:cNvSpPr>
          <p:nvPr/>
        </p:nvSpPr>
        <p:spPr>
          <a:xfrm xmlns:a="http://schemas.openxmlformats.org/drawingml/2006/main">
            <a:off x="1200150" y="2724150"/>
            <a:ext cx="838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6B789BD7-598E-48E3-A7D5-9DBCA9ADD4CC}"/>
              </a:ext>
            </a:extLst>
          </p:cNvPr>
          <p:cNvSpPr>
            <a:spLocks xmlns:a="http://schemas.openxmlformats.org/drawingml/2006/main" noGrp="1"/>
          </p:cNvSpPr>
          <p:nvPr/>
        </p:nvSpPr>
        <p:spPr>
          <a:xfrm xmlns:a="http://schemas.openxmlformats.org/drawingml/2006/main">
            <a:off x="2343150" y="273367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159"/>
          </a:bodyPr>
          <a:lstStyle xmlns:a="http://schemas.openxmlformats.org/drawingml/2006/main"/>
          <a:p xmlns:a="http://schemas.openxmlformats.org/drawingml/2006/main">
            <a:pPr algn="l">
              <a:defRPr sz="1725" b="1">
                <a:solidFill>
                  <a:srgbClr val="2D3142"/>
                </a:solidFill>
                <a:latin typeface="Arial"/>
                <a:ea typeface="Arial"/>
                <a:cs typeface="Arial"/>
              </a:defRPr>
            </a:pPr>
            <a:r>
              <a:rPr sz="1725" b="1">
                <a:solidFill>
                  <a:srgbClr val="2D3142"/>
                </a:solidFill>
                <a:latin typeface="Arial"/>
                <a:ea typeface="Arial"/>
                <a:cs typeface="Arial"/>
              </a:rPr>
              <a:t>The solution</a:t>
            </a:r>
          </a:p>
        </p:txBody>
      </p:sp>
      <p:sp>
        <p:nvSpPr>
          <p:cNvPr id="17" name="">
            <a:extLst xmlns:a="http://schemas.openxmlformats.org/drawingml/2006/main">
              <a:ext uri="{FF2B5EF4-FFF2-40B4-BE49-F238E27FC236}">
                <a16:creationId xmlns:a16="http://schemas.microsoft.com/office/drawing/2014/main" id="{42515879-D13C-407A-90EB-9077877E584F}"/>
              </a:ext>
            </a:extLst>
          </p:cNvPr>
          <p:cNvSpPr>
            <a:spLocks xmlns:a="http://schemas.openxmlformats.org/drawingml/2006/main" noGrp="1"/>
          </p:cNvSpPr>
          <p:nvPr/>
        </p:nvSpPr>
        <p:spPr>
          <a:xfrm xmlns:a="http://schemas.openxmlformats.org/drawingml/2006/main">
            <a:off x="2343150" y="3076575"/>
            <a:ext cx="657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625"/>
          </a:bodyPr>
          <a:lstStyle xmlns:a="http://schemas.openxmlformats.org/drawingml/2006/main"/>
          <a:p xmlns:a="http://schemas.openxmlformats.org/drawingml/2006/main">
            <a:pPr algn="l">
              <a:defRPr sz="1200" b="0">
                <a:solidFill>
                  <a:srgbClr val="4F5D75"/>
                </a:solidFill>
                <a:latin typeface="Arial"/>
                <a:ea typeface="Arial"/>
                <a:cs typeface="Arial"/>
              </a:defRPr>
            </a:pPr>
            <a:r>
              <a:rPr sz="1200" b="0">
                <a:solidFill>
                  <a:srgbClr val="4F5D75"/>
                </a:solidFill>
                <a:latin typeface="Arial"/>
                <a:ea typeface="Arial"/>
                <a:cs typeface="Arial"/>
              </a:rPr>
              <a:t>How Corporate Assist addresses it</a:t>
            </a:r>
          </a:p>
        </p:txBody>
      </p:sp>
      <p:sp>
        <p:nvSpPr>
          <p:cNvPr id="18" name="">
            <a:extLst xmlns:a="http://schemas.openxmlformats.org/drawingml/2006/main">
              <a:ext uri="{FF2B5EF4-FFF2-40B4-BE49-F238E27FC236}">
                <a16:creationId xmlns:a16="http://schemas.microsoft.com/office/drawing/2014/main" id="{AE2ED984-C2A1-4E1D-BD90-C692AFA5815E}"/>
              </a:ext>
            </a:extLst>
          </p:cNvPr>
          <p:cNvSpPr>
            <a:spLocks xmlns:a="http://schemas.openxmlformats.org/drawingml/2006/main" noGrp="1"/>
          </p:cNvSpPr>
          <p:nvPr/>
        </p:nvSpPr>
        <p:spPr>
          <a:xfrm xmlns:a="http://schemas.openxmlformats.org/drawingml/2006/main">
            <a:off x="2343150" y="3543300"/>
            <a:ext cx="7239000" cy="9525"/>
          </a:xfrm>
          <a:prstGeom xmlns:a="http://schemas.openxmlformats.org/drawingml/2006/main" prst="rect">
            <a:avLst/>
          </a:prstGeom>
          <a:solidFill xmlns:a="http://schemas.openxmlformats.org/drawingml/2006/main">
            <a:srgbClr val="DCE7DD"/>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228ADA4-D34D-486A-9278-8FFDDAF9FB44}"/>
              </a:ext>
            </a:extLst>
          </p:cNvPr>
          <p:cNvSpPr>
            <a:spLocks xmlns:a="http://schemas.openxmlformats.org/drawingml/2006/main" noGrp="1"/>
          </p:cNvSpPr>
          <p:nvPr/>
        </p:nvSpPr>
        <p:spPr>
          <a:xfrm xmlns:a="http://schemas.openxmlformats.org/drawingml/2006/main">
            <a:off x="1200150" y="3733800"/>
            <a:ext cx="838200" cy="685800"/>
          </a:xfrm>
          <a:prstGeom xmlns:a="http://schemas.openxmlformats.org/drawingml/2006/main" prst="roundRect">
            <a:avLst>
              <a:gd name="adj" fmla="val 11111"/>
            </a:avLst>
          </a:prstGeom>
          <a:solidFill xmlns:a="http://schemas.openxmlformats.org/drawingml/2006/main">
            <a:srgbClr val="2D314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7D778A3-F841-425C-A4D7-B3088F3416CC}"/>
              </a:ext>
            </a:extLst>
          </p:cNvPr>
          <p:cNvSpPr>
            <a:spLocks xmlns:a="http://schemas.openxmlformats.org/drawingml/2006/main" noGrp="1"/>
          </p:cNvSpPr>
          <p:nvPr/>
        </p:nvSpPr>
        <p:spPr>
          <a:xfrm xmlns:a="http://schemas.openxmlformats.org/drawingml/2006/main">
            <a:off x="1200150" y="3733800"/>
            <a:ext cx="838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9C565020-E230-4523-ADD7-2C34356FBABB}"/>
              </a:ext>
            </a:extLst>
          </p:cNvPr>
          <p:cNvSpPr>
            <a:spLocks xmlns:a="http://schemas.openxmlformats.org/drawingml/2006/main" noGrp="1"/>
          </p:cNvSpPr>
          <p:nvPr/>
        </p:nvSpPr>
        <p:spPr>
          <a:xfrm xmlns:a="http://schemas.openxmlformats.org/drawingml/2006/main">
            <a:off x="2343150" y="374332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159"/>
          </a:bodyPr>
          <a:lstStyle xmlns:a="http://schemas.openxmlformats.org/drawingml/2006/main"/>
          <a:p xmlns:a="http://schemas.openxmlformats.org/drawingml/2006/main">
            <a:pPr algn="l">
              <a:defRPr sz="1725" b="1">
                <a:solidFill>
                  <a:srgbClr val="2D3142"/>
                </a:solidFill>
                <a:latin typeface="Arial"/>
                <a:ea typeface="Arial"/>
                <a:cs typeface="Arial"/>
              </a:defRPr>
            </a:pPr>
            <a:r>
              <a:rPr sz="1725" b="1">
                <a:solidFill>
                  <a:srgbClr val="2D3142"/>
                </a:solidFill>
                <a:latin typeface="Arial"/>
                <a:ea typeface="Arial"/>
                <a:cs typeface="Arial"/>
              </a:rPr>
              <a:t>Main features</a:t>
            </a:r>
          </a:p>
        </p:txBody>
      </p:sp>
      <p:sp>
        <p:nvSpPr>
          <p:cNvPr id="22" name="">
            <a:extLst xmlns:a="http://schemas.openxmlformats.org/drawingml/2006/main">
              <a:ext uri="{FF2B5EF4-FFF2-40B4-BE49-F238E27FC236}">
                <a16:creationId xmlns:a16="http://schemas.microsoft.com/office/drawing/2014/main" id="{2A78ECEE-8F80-47B5-AE40-236D13096617}"/>
              </a:ext>
            </a:extLst>
          </p:cNvPr>
          <p:cNvSpPr>
            <a:spLocks xmlns:a="http://schemas.openxmlformats.org/drawingml/2006/main" noGrp="1"/>
          </p:cNvSpPr>
          <p:nvPr/>
        </p:nvSpPr>
        <p:spPr>
          <a:xfrm xmlns:a="http://schemas.openxmlformats.org/drawingml/2006/main">
            <a:off x="2343150" y="4086225"/>
            <a:ext cx="657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625"/>
          </a:bodyPr>
          <a:lstStyle xmlns:a="http://schemas.openxmlformats.org/drawingml/2006/main"/>
          <a:p xmlns:a="http://schemas.openxmlformats.org/drawingml/2006/main">
            <a:pPr algn="l">
              <a:defRPr sz="1200" b="0">
                <a:solidFill>
                  <a:srgbClr val="4F5D75"/>
                </a:solidFill>
                <a:latin typeface="Arial"/>
                <a:ea typeface="Arial"/>
                <a:cs typeface="Arial"/>
              </a:defRPr>
            </a:pPr>
            <a:r>
              <a:rPr sz="1200" b="0">
                <a:solidFill>
                  <a:srgbClr val="4F5D75"/>
                </a:solidFill>
                <a:latin typeface="Arial"/>
                <a:ea typeface="Arial"/>
                <a:cs typeface="Arial"/>
              </a:rPr>
              <a:t>The capabilities included in the platform</a:t>
            </a:r>
          </a:p>
        </p:txBody>
      </p:sp>
      <p:sp>
        <p:nvSpPr>
          <p:cNvPr id="23" name="">
            <a:extLst xmlns:a="http://schemas.openxmlformats.org/drawingml/2006/main">
              <a:ext uri="{FF2B5EF4-FFF2-40B4-BE49-F238E27FC236}">
                <a16:creationId xmlns:a16="http://schemas.microsoft.com/office/drawing/2014/main" id="{684C51AE-BA66-4DA6-81EB-7FE124FEB3F8}"/>
              </a:ext>
            </a:extLst>
          </p:cNvPr>
          <p:cNvSpPr>
            <a:spLocks xmlns:a="http://schemas.openxmlformats.org/drawingml/2006/main" noGrp="1"/>
          </p:cNvSpPr>
          <p:nvPr/>
        </p:nvSpPr>
        <p:spPr>
          <a:xfrm xmlns:a="http://schemas.openxmlformats.org/drawingml/2006/main">
            <a:off x="2343150" y="4552950"/>
            <a:ext cx="7239000" cy="9525"/>
          </a:xfrm>
          <a:prstGeom xmlns:a="http://schemas.openxmlformats.org/drawingml/2006/main" prst="rect">
            <a:avLst/>
          </a:prstGeom>
          <a:solidFill xmlns:a="http://schemas.openxmlformats.org/drawingml/2006/main">
            <a:srgbClr val="DCE7DD"/>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6CBEE99-2011-4B95-BE83-7FB68363AF53}"/>
              </a:ext>
            </a:extLst>
          </p:cNvPr>
          <p:cNvSpPr>
            <a:spLocks xmlns:a="http://schemas.openxmlformats.org/drawingml/2006/main" noGrp="1"/>
          </p:cNvSpPr>
          <p:nvPr/>
        </p:nvSpPr>
        <p:spPr>
          <a:xfrm xmlns:a="http://schemas.openxmlformats.org/drawingml/2006/main">
            <a:off x="1200150" y="4743450"/>
            <a:ext cx="838200" cy="685800"/>
          </a:xfrm>
          <a:prstGeom xmlns:a="http://schemas.openxmlformats.org/drawingml/2006/main" prst="roundRect">
            <a:avLst>
              <a:gd name="adj" fmla="val 11111"/>
            </a:avLst>
          </a:prstGeom>
          <a:solidFill xmlns:a="http://schemas.openxmlformats.org/drawingml/2006/main">
            <a:srgbClr val="2D314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413747F-F42F-4BBF-AA76-90D0E54E1B3A}"/>
              </a:ext>
            </a:extLst>
          </p:cNvPr>
          <p:cNvSpPr>
            <a:spLocks xmlns:a="http://schemas.openxmlformats.org/drawingml/2006/main" noGrp="1"/>
          </p:cNvSpPr>
          <p:nvPr/>
        </p:nvSpPr>
        <p:spPr>
          <a:xfrm xmlns:a="http://schemas.openxmlformats.org/drawingml/2006/main">
            <a:off x="1200150" y="4743450"/>
            <a:ext cx="838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2E592D94-4401-4221-B51D-3204BF526B24}"/>
              </a:ext>
            </a:extLst>
          </p:cNvPr>
          <p:cNvSpPr>
            <a:spLocks xmlns:a="http://schemas.openxmlformats.org/drawingml/2006/main" noGrp="1"/>
          </p:cNvSpPr>
          <p:nvPr/>
        </p:nvSpPr>
        <p:spPr>
          <a:xfrm xmlns:a="http://schemas.openxmlformats.org/drawingml/2006/main">
            <a:off x="2343150" y="475297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159"/>
          </a:bodyPr>
          <a:lstStyle xmlns:a="http://schemas.openxmlformats.org/drawingml/2006/main"/>
          <a:p xmlns:a="http://schemas.openxmlformats.org/drawingml/2006/main">
            <a:pPr algn="l">
              <a:defRPr sz="1725" b="1">
                <a:solidFill>
                  <a:srgbClr val="2D3142"/>
                </a:solidFill>
                <a:latin typeface="Arial"/>
                <a:ea typeface="Arial"/>
                <a:cs typeface="Arial"/>
              </a:defRPr>
            </a:pPr>
            <a:r>
              <a:rPr sz="1725" b="1">
                <a:solidFill>
                  <a:srgbClr val="2D3142"/>
                </a:solidFill>
                <a:latin typeface="Arial"/>
                <a:ea typeface="Arial"/>
                <a:cs typeface="Arial"/>
              </a:rPr>
              <a:t>Implementation</a:t>
            </a:r>
          </a:p>
        </p:txBody>
      </p:sp>
      <p:sp>
        <p:nvSpPr>
          <p:cNvPr id="27" name="">
            <a:extLst xmlns:a="http://schemas.openxmlformats.org/drawingml/2006/main">
              <a:ext uri="{FF2B5EF4-FFF2-40B4-BE49-F238E27FC236}">
                <a16:creationId xmlns:a16="http://schemas.microsoft.com/office/drawing/2014/main" id="{A956A5AD-39BE-4874-9AF7-1EFCA9C5DA9F}"/>
              </a:ext>
            </a:extLst>
          </p:cNvPr>
          <p:cNvSpPr>
            <a:spLocks xmlns:a="http://schemas.openxmlformats.org/drawingml/2006/main" noGrp="1"/>
          </p:cNvSpPr>
          <p:nvPr/>
        </p:nvSpPr>
        <p:spPr>
          <a:xfrm xmlns:a="http://schemas.openxmlformats.org/drawingml/2006/main">
            <a:off x="2343150" y="5095875"/>
            <a:ext cx="6572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625"/>
          </a:bodyPr>
          <a:lstStyle xmlns:a="http://schemas.openxmlformats.org/drawingml/2006/main"/>
          <a:p xmlns:a="http://schemas.openxmlformats.org/drawingml/2006/main">
            <a:pPr algn="l">
              <a:defRPr sz="1200" b="0">
                <a:solidFill>
                  <a:srgbClr val="4F5D75"/>
                </a:solidFill>
                <a:latin typeface="Arial"/>
                <a:ea typeface="Arial"/>
                <a:cs typeface="Arial"/>
              </a:defRPr>
            </a:pPr>
            <a:r>
              <a:rPr sz="1200" b="0">
                <a:solidFill>
                  <a:srgbClr val="4F5D75"/>
                </a:solidFill>
                <a:latin typeface="Arial"/>
                <a:ea typeface="Arial"/>
                <a:cs typeface="Arial"/>
              </a:rPr>
              <a:t>How we can validate the solution</a:t>
            </a:r>
          </a:p>
        </p:txBody>
      </p:sp>
    </p:spTree>
    <p:extLst>
      <p:ext uri="{BB962C8B-B14F-4D97-AF65-F5344CB8AC3E}">
        <p14:creationId xmlns:p14="http://schemas.microsoft.com/office/powerpoint/2010/main" val="1888343271"/>
      </p:ext>
    </p:extLst>
  </p:cSld>
</p:sld>
</file>

<file path=ppt/slides/slide4.xml><?xml version="1.0" encoding="utf-8"?>
<p:sld xmlns:p="http://schemas.openxmlformats.org/presentationml/2006/main">
  <p:cSld>
    <p:bg>
      <p:bgPr>
        <a:solidFill xmlns:a="http://schemas.openxmlformats.org/drawingml/2006/main">
          <a:srgbClr val="F7F9F6"/>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B9B14580-96E3-4C62-AB8F-3AD50598F2A2}"/>
              </a:ext>
            </a:extLst>
          </p:cNvPr>
          <p:cNvSpPr>
            <a:spLocks xmlns:a="http://schemas.openxmlformats.org/drawingml/2006/main" noGrp="1"/>
          </p:cNvSpPr>
          <p:nvPr/>
        </p:nvSpPr>
        <p:spPr>
          <a:xfrm xmlns:a="http://schemas.openxmlformats.org/drawingml/2006/main">
            <a:off x="0" y="0"/>
            <a:ext cx="819150" cy="6858000"/>
          </a:xfrm>
          <a:prstGeom xmlns:a="http://schemas.openxmlformats.org/drawingml/2006/main" prst="rect">
            <a:avLst/>
          </a:prstGeom>
          <a:solidFill xmlns:a="http://schemas.openxmlformats.org/drawingml/2006/main">
            <a:srgbClr val="2D314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EB9C8D9-0AE4-40F1-9EBB-4D8BA384832D}"/>
              </a:ext>
            </a:extLst>
          </p:cNvPr>
          <p:cNvSpPr>
            <a:spLocks xmlns:a="http://schemas.openxmlformats.org/drawingml/2006/main" noGrp="1"/>
          </p:cNvSpPr>
          <p:nvPr/>
        </p:nvSpPr>
        <p:spPr>
          <a:xfrm xmlns:a="http://schemas.openxmlformats.org/drawingml/2006/main">
            <a:off x="0" y="0"/>
            <a:ext cx="819150" cy="114300"/>
          </a:xfrm>
          <a:prstGeom xmlns:a="http://schemas.openxmlformats.org/drawingml/2006/main" prst="rect">
            <a:avLst/>
          </a:prstGeom>
          <a:solidFill xmlns:a="http://schemas.openxmlformats.org/drawingml/2006/main">
            <a:srgbClr val="EF835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7991738-9628-4A46-A02B-BA5806194A5D}"/>
              </a:ext>
            </a:extLst>
          </p:cNvPr>
          <p:cNvSpPr>
            <a:spLocks xmlns:a="http://schemas.openxmlformats.org/drawingml/2006/main" noGrp="1"/>
          </p:cNvSpPr>
          <p:nvPr/>
        </p:nvSpPr>
        <p:spPr>
          <a:xfrm xmlns:a="http://schemas.openxmlformats.org/drawingml/2006/main">
            <a:off x="266700" y="400050"/>
            <a:ext cx="285750" cy="285750"/>
          </a:xfrm>
          <a:prstGeom xmlns:a="http://schemas.openxmlformats.org/drawingml/2006/main" prst="roundRect">
            <a:avLst>
              <a:gd name="adj" fmla="val 26667"/>
            </a:avLst>
          </a:prstGeom>
          <a:solidFill xmlns:a="http://schemas.openxmlformats.org/drawingml/2006/main">
            <a:srgbClr val="EF835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D9403DC-B26D-40AF-899C-CABA6AD84F7F}"/>
              </a:ext>
            </a:extLst>
          </p:cNvPr>
          <p:cNvSpPr>
            <a:spLocks xmlns:a="http://schemas.openxmlformats.org/drawingml/2006/main" noGrp="1"/>
          </p:cNvSpPr>
          <p:nvPr/>
        </p:nvSpPr>
        <p:spPr>
          <a:xfrm xmlns:a="http://schemas.openxmlformats.org/drawingml/2006/main">
            <a:off x="266700" y="39052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u</a:t>
            </a:r>
          </a:p>
        </p:txBody>
      </p:sp>
      <p:sp>
        <p:nvSpPr>
          <p:cNvPr id="5" name="">
            <a:extLst xmlns:a="http://schemas.openxmlformats.org/drawingml/2006/main">
              <a:ext uri="{FF2B5EF4-FFF2-40B4-BE49-F238E27FC236}">
                <a16:creationId xmlns:a16="http://schemas.microsoft.com/office/drawing/2014/main" id="{3D113992-C419-4E12-879F-49AD5AD0F74D}"/>
              </a:ext>
            </a:extLst>
          </p:cNvPr>
          <p:cNvSpPr>
            <a:spLocks xmlns:a="http://schemas.openxmlformats.org/drawingml/2006/main" noGrp="1"/>
          </p:cNvSpPr>
          <p:nvPr/>
        </p:nvSpPr>
        <p:spPr>
          <a:xfrm xmlns:a="http://schemas.openxmlformats.org/drawingml/2006/main">
            <a:off x="266700" y="62293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096"/>
          </a:bodyPr>
          <a:lstStyle xmlns:a="http://schemas.openxmlformats.org/drawingml/2006/main"/>
          <a:p xmlns:a="http://schemas.openxmlformats.org/drawingml/2006/main">
            <a:pPr algn="ctr">
              <a:defRPr sz="900" b="1">
                <a:solidFill>
                  <a:srgbClr val="BFC0C0"/>
                </a:solidFill>
                <a:latin typeface="Arial"/>
                <a:ea typeface="Arial"/>
                <a:cs typeface="Arial"/>
              </a:defRPr>
            </a:pPr>
            <a:r>
              <a:rPr sz="900" b="1">
                <a:solidFill>
                  <a:srgbClr val="BFC0C0"/>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7BB58B81-6855-443E-BBAB-A318BECBAC75}"/>
              </a:ext>
            </a:extLst>
          </p:cNvPr>
          <p:cNvSpPr>
            <a:spLocks xmlns:a="http://schemas.openxmlformats.org/drawingml/2006/main" noGrp="1"/>
          </p:cNvSpPr>
          <p:nvPr/>
        </p:nvSpPr>
        <p:spPr>
          <a:xfrm xmlns:a="http://schemas.openxmlformats.org/drawingml/2006/main">
            <a:off x="1200150" y="428625"/>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118"/>
          </a:bodyPr>
          <a:lstStyle xmlns:a="http://schemas.openxmlformats.org/drawingml/2006/main"/>
          <a:p xmlns:a="http://schemas.openxmlformats.org/drawingml/2006/main">
            <a:pPr algn="l">
              <a:defRPr sz="2550" b="1">
                <a:solidFill>
                  <a:srgbClr val="2D3142"/>
                </a:solidFill>
                <a:latin typeface="Arial"/>
                <a:ea typeface="Arial"/>
                <a:cs typeface="Arial"/>
              </a:defRPr>
            </a:pPr>
            <a:r>
              <a:rPr sz="2550" b="1">
                <a:solidFill>
                  <a:srgbClr val="2D3142"/>
                </a:solidFill>
                <a:latin typeface="Arial"/>
                <a:ea typeface="Arial"/>
                <a:cs typeface="Arial"/>
              </a:rPr>
              <a:t>The payroll operations gap</a:t>
            </a:r>
          </a:p>
        </p:txBody>
      </p:sp>
      <p:sp>
        <p:nvSpPr>
          <p:cNvPr id="7" name="">
            <a:extLst xmlns:a="http://schemas.openxmlformats.org/drawingml/2006/main">
              <a:ext uri="{FF2B5EF4-FFF2-40B4-BE49-F238E27FC236}">
                <a16:creationId xmlns:a16="http://schemas.microsoft.com/office/drawing/2014/main" id="{F3CE95EA-84AA-4CB7-9BD0-F4976AD012C4}"/>
              </a:ext>
            </a:extLst>
          </p:cNvPr>
          <p:cNvSpPr>
            <a:spLocks xmlns:a="http://schemas.openxmlformats.org/drawingml/2006/main" noGrp="1"/>
          </p:cNvSpPr>
          <p:nvPr/>
        </p:nvSpPr>
        <p:spPr>
          <a:xfrm xmlns:a="http://schemas.openxmlformats.org/drawingml/2006/main">
            <a:off x="1200150" y="9144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0">
                <a:solidFill>
                  <a:srgbClr val="4F5D75"/>
                </a:solidFill>
                <a:latin typeface="Arial"/>
                <a:ea typeface="Arial"/>
                <a:cs typeface="Arial"/>
              </a:defRPr>
            </a:pPr>
            <a:r>
              <a:rPr sz="1200" b="0">
                <a:solidFill>
                  <a:srgbClr val="4F5D75"/>
                </a:solidFill>
                <a:latin typeface="Arial"/>
                <a:ea typeface="Arial"/>
                <a:cs typeface="Arial"/>
              </a:rPr>
              <a:t>Spreadsheet-based handoffs make control and visibility difficult</a:t>
            </a:r>
          </a:p>
        </p:txBody>
      </p:sp>
      <p:sp>
        <p:nvSpPr>
          <p:cNvPr id="8" name="">
            <a:extLst xmlns:a="http://schemas.openxmlformats.org/drawingml/2006/main">
              <a:ext uri="{FF2B5EF4-FFF2-40B4-BE49-F238E27FC236}">
                <a16:creationId xmlns:a16="http://schemas.microsoft.com/office/drawing/2014/main" id="{06A949AF-41D7-46DC-BF01-997B1DFBC4A1}"/>
              </a:ext>
            </a:extLst>
          </p:cNvPr>
          <p:cNvSpPr>
            <a:spLocks xmlns:a="http://schemas.openxmlformats.org/drawingml/2006/main" noGrp="1"/>
          </p:cNvSpPr>
          <p:nvPr/>
        </p:nvSpPr>
        <p:spPr>
          <a:xfrm xmlns:a="http://schemas.openxmlformats.org/drawingml/2006/main">
            <a:off x="1200150" y="1333500"/>
            <a:ext cx="9563100" cy="19050"/>
          </a:xfrm>
          <a:prstGeom xmlns:a="http://schemas.openxmlformats.org/drawingml/2006/main" prst="rect">
            <a:avLst/>
          </a:prstGeom>
          <a:solidFill xmlns:a="http://schemas.openxmlformats.org/drawingml/2006/main">
            <a:srgbClr val="DCE7D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203FE3D-0A87-408B-8E3E-431BCDDE4B59}"/>
              </a:ext>
            </a:extLst>
          </p:cNvPr>
          <p:cNvSpPr>
            <a:spLocks xmlns:a="http://schemas.openxmlformats.org/drawingml/2006/main" noGrp="1"/>
          </p:cNvSpPr>
          <p:nvPr/>
        </p:nvSpPr>
        <p:spPr>
          <a:xfrm xmlns:a="http://schemas.openxmlformats.org/drawingml/2006/main">
            <a:off x="1200150" y="1790700"/>
            <a:ext cx="44767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CE7DD"/>
            </a:solidFill>
          </a:ln>
        </p:spPr>
      </p:sp>
      <p:sp>
        <p:nvSpPr>
          <p:cNvPr id="10" name="">
            <a:extLst xmlns:a="http://schemas.openxmlformats.org/drawingml/2006/main">
              <a:ext uri="{FF2B5EF4-FFF2-40B4-BE49-F238E27FC236}">
                <a16:creationId xmlns:a16="http://schemas.microsoft.com/office/drawing/2014/main" id="{D377B2AF-2710-4E5C-89F7-6C235054611D}"/>
              </a:ext>
            </a:extLst>
          </p:cNvPr>
          <p:cNvSpPr>
            <a:spLocks xmlns:a="http://schemas.openxmlformats.org/drawingml/2006/main" noGrp="1"/>
          </p:cNvSpPr>
          <p:nvPr/>
        </p:nvSpPr>
        <p:spPr>
          <a:xfrm xmlns:a="http://schemas.openxmlformats.org/drawingml/2006/main">
            <a:off x="1200150" y="1790700"/>
            <a:ext cx="95250" cy="1333500"/>
          </a:xfrm>
          <a:prstGeom xmlns:a="http://schemas.openxmlformats.org/drawingml/2006/main" prst="roundRect">
            <a:avLst>
              <a:gd name="adj" fmla="val 50000"/>
            </a:avLst>
          </a:prstGeom>
          <a:solidFill xmlns:a="http://schemas.openxmlformats.org/drawingml/2006/main">
            <a:srgbClr val="EF835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EF3A46B-B274-43BA-BB35-3980579A51BB}"/>
              </a:ext>
            </a:extLst>
          </p:cNvPr>
          <p:cNvSpPr>
            <a:spLocks xmlns:a="http://schemas.openxmlformats.org/drawingml/2006/main" noGrp="1"/>
          </p:cNvSpPr>
          <p:nvPr/>
        </p:nvSpPr>
        <p:spPr>
          <a:xfrm xmlns:a="http://schemas.openxmlformats.org/drawingml/2006/main">
            <a:off x="1495425" y="20193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EF8354"/>
                </a:solidFill>
                <a:latin typeface="Arial"/>
                <a:ea typeface="Arial"/>
                <a:cs typeface="Arial"/>
              </a:defRPr>
            </a:pPr>
            <a:r>
              <a:rPr sz="1050" b="1">
                <a:solidFill>
                  <a:srgbClr val="EF8354"/>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AFB3EA6F-9DF4-4C98-BDA3-6F2F3B6DFACA}"/>
              </a:ext>
            </a:extLst>
          </p:cNvPr>
          <p:cNvSpPr>
            <a:spLocks xmlns:a="http://schemas.openxmlformats.org/drawingml/2006/main" noGrp="1"/>
          </p:cNvSpPr>
          <p:nvPr/>
        </p:nvSpPr>
        <p:spPr>
          <a:xfrm xmlns:a="http://schemas.openxmlformats.org/drawingml/2006/main">
            <a:off x="2057400" y="1962150"/>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2D3142"/>
                </a:solidFill>
                <a:latin typeface="Arial"/>
                <a:ea typeface="Arial"/>
                <a:cs typeface="Arial"/>
              </a:defRPr>
            </a:pPr>
            <a:r>
              <a:rPr sz="1575" b="1">
                <a:solidFill>
                  <a:srgbClr val="2D3142"/>
                </a:solidFill>
                <a:latin typeface="Arial"/>
                <a:ea typeface="Arial"/>
                <a:cs typeface="Arial"/>
              </a:rPr>
              <a:t>File errors</a:t>
            </a:r>
          </a:p>
        </p:txBody>
      </p:sp>
      <p:sp>
        <p:nvSpPr>
          <p:cNvPr id="13" name="">
            <a:extLst xmlns:a="http://schemas.openxmlformats.org/drawingml/2006/main">
              <a:ext uri="{FF2B5EF4-FFF2-40B4-BE49-F238E27FC236}">
                <a16:creationId xmlns:a16="http://schemas.microsoft.com/office/drawing/2014/main" id="{45A18E9B-F2B8-4BB4-BC35-609E94BBB96F}"/>
              </a:ext>
            </a:extLst>
          </p:cNvPr>
          <p:cNvSpPr>
            <a:spLocks xmlns:a="http://schemas.openxmlformats.org/drawingml/2006/main" noGrp="1"/>
          </p:cNvSpPr>
          <p:nvPr/>
        </p:nvSpPr>
        <p:spPr>
          <a:xfrm xmlns:a="http://schemas.openxmlformats.org/drawingml/2006/main">
            <a:off x="2057400" y="2371725"/>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4F5D75"/>
                </a:solidFill>
                <a:latin typeface="Arial"/>
                <a:ea typeface="Arial"/>
                <a:cs typeface="Arial"/>
              </a:defRPr>
            </a:pPr>
            <a:r>
              <a:rPr sz="1200" b="0">
                <a:solidFill>
                  <a:srgbClr val="4F5D75"/>
                </a:solidFill>
                <a:latin typeface="Arial"/>
                <a:ea typeface="Arial"/>
                <a:cs typeface="Arial"/>
              </a:rPr>
              <a:t>Invalid accounts and duplicate rows</a:t>
            </a:r>
          </a:p>
        </p:txBody>
      </p:sp>
      <p:sp>
        <p:nvSpPr>
          <p:cNvPr id="14" name="">
            <a:extLst xmlns:a="http://schemas.openxmlformats.org/drawingml/2006/main">
              <a:ext uri="{FF2B5EF4-FFF2-40B4-BE49-F238E27FC236}">
                <a16:creationId xmlns:a16="http://schemas.microsoft.com/office/drawing/2014/main" id="{58E1EBF3-06DD-4E4D-9A1B-856126F180AA}"/>
              </a:ext>
            </a:extLst>
          </p:cNvPr>
          <p:cNvSpPr>
            <a:spLocks xmlns:a="http://schemas.openxmlformats.org/drawingml/2006/main" noGrp="1"/>
          </p:cNvSpPr>
          <p:nvPr/>
        </p:nvSpPr>
        <p:spPr>
          <a:xfrm xmlns:a="http://schemas.openxmlformats.org/drawingml/2006/main">
            <a:off x="6200775" y="1790700"/>
            <a:ext cx="44767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CE7DD"/>
            </a:solidFill>
          </a:ln>
        </p:spPr>
      </p:sp>
      <p:sp>
        <p:nvSpPr>
          <p:cNvPr id="15" name="">
            <a:extLst xmlns:a="http://schemas.openxmlformats.org/drawingml/2006/main">
              <a:ext uri="{FF2B5EF4-FFF2-40B4-BE49-F238E27FC236}">
                <a16:creationId xmlns:a16="http://schemas.microsoft.com/office/drawing/2014/main" id="{67A2B9E1-0510-4447-954F-ECA480C1347F}"/>
              </a:ext>
            </a:extLst>
          </p:cNvPr>
          <p:cNvSpPr>
            <a:spLocks xmlns:a="http://schemas.openxmlformats.org/drawingml/2006/main" noGrp="1"/>
          </p:cNvSpPr>
          <p:nvPr/>
        </p:nvSpPr>
        <p:spPr>
          <a:xfrm xmlns:a="http://schemas.openxmlformats.org/drawingml/2006/main">
            <a:off x="6200775" y="1790700"/>
            <a:ext cx="95250" cy="1333500"/>
          </a:xfrm>
          <a:prstGeom xmlns:a="http://schemas.openxmlformats.org/drawingml/2006/main" prst="roundRect">
            <a:avLst>
              <a:gd name="adj" fmla="val 50000"/>
            </a:avLst>
          </a:prstGeom>
          <a:solidFill xmlns:a="http://schemas.openxmlformats.org/drawingml/2006/main">
            <a:srgbClr val="F55E5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52D14B9-AD76-4BAE-A8E3-91332CCAFEBF}"/>
              </a:ext>
            </a:extLst>
          </p:cNvPr>
          <p:cNvSpPr>
            <a:spLocks xmlns:a="http://schemas.openxmlformats.org/drawingml/2006/main" noGrp="1"/>
          </p:cNvSpPr>
          <p:nvPr/>
        </p:nvSpPr>
        <p:spPr>
          <a:xfrm xmlns:a="http://schemas.openxmlformats.org/drawingml/2006/main">
            <a:off x="6496050" y="20193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EF8354"/>
                </a:solidFill>
                <a:latin typeface="Arial"/>
                <a:ea typeface="Arial"/>
                <a:cs typeface="Arial"/>
              </a:defRPr>
            </a:pPr>
            <a:r>
              <a:rPr sz="1050" b="1">
                <a:solidFill>
                  <a:srgbClr val="EF8354"/>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C4247DA8-5356-45CE-B882-B79605A9ADCB}"/>
              </a:ext>
            </a:extLst>
          </p:cNvPr>
          <p:cNvSpPr>
            <a:spLocks xmlns:a="http://schemas.openxmlformats.org/drawingml/2006/main" noGrp="1"/>
          </p:cNvSpPr>
          <p:nvPr/>
        </p:nvSpPr>
        <p:spPr>
          <a:xfrm xmlns:a="http://schemas.openxmlformats.org/drawingml/2006/main">
            <a:off x="7058025" y="1962150"/>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2D3142"/>
                </a:solidFill>
                <a:latin typeface="Arial"/>
                <a:ea typeface="Arial"/>
                <a:cs typeface="Arial"/>
              </a:defRPr>
            </a:pPr>
            <a:r>
              <a:rPr sz="1575" b="1">
                <a:solidFill>
                  <a:srgbClr val="2D3142"/>
                </a:solidFill>
                <a:latin typeface="Arial"/>
                <a:ea typeface="Arial"/>
                <a:cs typeface="Arial"/>
              </a:rPr>
              <a:t>Approval risk</a:t>
            </a:r>
          </a:p>
        </p:txBody>
      </p:sp>
      <p:sp>
        <p:nvSpPr>
          <p:cNvPr id="18" name="">
            <a:extLst xmlns:a="http://schemas.openxmlformats.org/drawingml/2006/main">
              <a:ext uri="{FF2B5EF4-FFF2-40B4-BE49-F238E27FC236}">
                <a16:creationId xmlns:a16="http://schemas.microsoft.com/office/drawing/2014/main" id="{C4916B45-4FB3-4426-8F46-C76B94501BF0}"/>
              </a:ext>
            </a:extLst>
          </p:cNvPr>
          <p:cNvSpPr>
            <a:spLocks xmlns:a="http://schemas.openxmlformats.org/drawingml/2006/main" noGrp="1"/>
          </p:cNvSpPr>
          <p:nvPr/>
        </p:nvSpPr>
        <p:spPr>
          <a:xfrm xmlns:a="http://schemas.openxmlformats.org/drawingml/2006/main">
            <a:off x="7058025" y="2371725"/>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4F5D75"/>
                </a:solidFill>
                <a:latin typeface="Arial"/>
                <a:ea typeface="Arial"/>
                <a:cs typeface="Arial"/>
              </a:defRPr>
            </a:pPr>
            <a:r>
              <a:rPr sz="1200" b="0">
                <a:solidFill>
                  <a:srgbClr val="4F5D75"/>
                </a:solidFill>
                <a:latin typeface="Arial"/>
                <a:ea typeface="Arial"/>
                <a:cs typeface="Arial"/>
              </a:rPr>
              <a:t>Weak separation of duties</a:t>
            </a:r>
          </a:p>
        </p:txBody>
      </p:sp>
      <p:sp>
        <p:nvSpPr>
          <p:cNvPr id="19" name="">
            <a:extLst xmlns:a="http://schemas.openxmlformats.org/drawingml/2006/main">
              <a:ext uri="{FF2B5EF4-FFF2-40B4-BE49-F238E27FC236}">
                <a16:creationId xmlns:a16="http://schemas.microsoft.com/office/drawing/2014/main" id="{B02FBAC3-EA25-4AD5-91AE-6EE7147D0631}"/>
              </a:ext>
            </a:extLst>
          </p:cNvPr>
          <p:cNvSpPr>
            <a:spLocks xmlns:a="http://schemas.openxmlformats.org/drawingml/2006/main" noGrp="1"/>
          </p:cNvSpPr>
          <p:nvPr/>
        </p:nvSpPr>
        <p:spPr>
          <a:xfrm xmlns:a="http://schemas.openxmlformats.org/drawingml/2006/main">
            <a:off x="1200150" y="3505200"/>
            <a:ext cx="44767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CE7DD"/>
            </a:solidFill>
          </a:ln>
        </p:spPr>
      </p:sp>
      <p:sp>
        <p:nvSpPr>
          <p:cNvPr id="20" name="">
            <a:extLst xmlns:a="http://schemas.openxmlformats.org/drawingml/2006/main">
              <a:ext uri="{FF2B5EF4-FFF2-40B4-BE49-F238E27FC236}">
                <a16:creationId xmlns:a16="http://schemas.microsoft.com/office/drawing/2014/main" id="{6C3861AC-2AC6-45EB-8A23-0FB9AEA22643}"/>
              </a:ext>
            </a:extLst>
          </p:cNvPr>
          <p:cNvSpPr>
            <a:spLocks xmlns:a="http://schemas.openxmlformats.org/drawingml/2006/main" noGrp="1"/>
          </p:cNvSpPr>
          <p:nvPr/>
        </p:nvSpPr>
        <p:spPr>
          <a:xfrm xmlns:a="http://schemas.openxmlformats.org/drawingml/2006/main">
            <a:off x="1200150" y="3505200"/>
            <a:ext cx="95250" cy="1333500"/>
          </a:xfrm>
          <a:prstGeom xmlns:a="http://schemas.openxmlformats.org/drawingml/2006/main" prst="roundRect">
            <a:avLst>
              <a:gd name="adj" fmla="val 50000"/>
            </a:avLst>
          </a:prstGeom>
          <a:solidFill xmlns:a="http://schemas.openxmlformats.org/drawingml/2006/main">
            <a:srgbClr val="EF835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413991A-442F-4452-B159-97AAD491F5C9}"/>
              </a:ext>
            </a:extLst>
          </p:cNvPr>
          <p:cNvSpPr>
            <a:spLocks xmlns:a="http://schemas.openxmlformats.org/drawingml/2006/main" noGrp="1"/>
          </p:cNvSpPr>
          <p:nvPr/>
        </p:nvSpPr>
        <p:spPr>
          <a:xfrm xmlns:a="http://schemas.openxmlformats.org/drawingml/2006/main">
            <a:off x="1495425" y="37338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EF8354"/>
                </a:solidFill>
                <a:latin typeface="Arial"/>
                <a:ea typeface="Arial"/>
                <a:cs typeface="Arial"/>
              </a:defRPr>
            </a:pPr>
            <a:r>
              <a:rPr sz="1050" b="1">
                <a:solidFill>
                  <a:srgbClr val="EF8354"/>
                </a:solidFill>
                <a:latin typeface="Arial"/>
                <a:ea typeface="Arial"/>
                <a:cs typeface="Arial"/>
              </a:rPr>
              <a:t>03</a:t>
            </a:r>
          </a:p>
        </p:txBody>
      </p:sp>
      <p:sp>
        <p:nvSpPr>
          <p:cNvPr id="22" name="">
            <a:extLst xmlns:a="http://schemas.openxmlformats.org/drawingml/2006/main">
              <a:ext uri="{FF2B5EF4-FFF2-40B4-BE49-F238E27FC236}">
                <a16:creationId xmlns:a16="http://schemas.microsoft.com/office/drawing/2014/main" id="{0CF4B650-9604-4F5A-B5DE-910809D4A471}"/>
              </a:ext>
            </a:extLst>
          </p:cNvPr>
          <p:cNvSpPr>
            <a:spLocks xmlns:a="http://schemas.openxmlformats.org/drawingml/2006/main" noGrp="1"/>
          </p:cNvSpPr>
          <p:nvPr/>
        </p:nvSpPr>
        <p:spPr>
          <a:xfrm xmlns:a="http://schemas.openxmlformats.org/drawingml/2006/main">
            <a:off x="2057400" y="3676650"/>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2D3142"/>
                </a:solidFill>
                <a:latin typeface="Arial"/>
                <a:ea typeface="Arial"/>
                <a:cs typeface="Arial"/>
              </a:defRPr>
            </a:pPr>
            <a:r>
              <a:rPr sz="1575" b="1">
                <a:solidFill>
                  <a:srgbClr val="2D3142"/>
                </a:solidFill>
                <a:latin typeface="Arial"/>
                <a:ea typeface="Arial"/>
                <a:cs typeface="Arial"/>
              </a:rPr>
              <a:t>Wallet shortfalls</a:t>
            </a:r>
          </a:p>
        </p:txBody>
      </p:sp>
      <p:sp>
        <p:nvSpPr>
          <p:cNvPr id="23" name="">
            <a:extLst xmlns:a="http://schemas.openxmlformats.org/drawingml/2006/main">
              <a:ext uri="{FF2B5EF4-FFF2-40B4-BE49-F238E27FC236}">
                <a16:creationId xmlns:a16="http://schemas.microsoft.com/office/drawing/2014/main" id="{BFF72D7A-C71F-4B68-A220-2565D5D27B55}"/>
              </a:ext>
            </a:extLst>
          </p:cNvPr>
          <p:cNvSpPr>
            <a:spLocks xmlns:a="http://schemas.openxmlformats.org/drawingml/2006/main" noGrp="1"/>
          </p:cNvSpPr>
          <p:nvPr/>
        </p:nvSpPr>
        <p:spPr>
          <a:xfrm xmlns:a="http://schemas.openxmlformats.org/drawingml/2006/main">
            <a:off x="2057400" y="4086225"/>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4F5D75"/>
                </a:solidFill>
                <a:latin typeface="Arial"/>
                <a:ea typeface="Arial"/>
                <a:cs typeface="Arial"/>
              </a:defRPr>
            </a:pPr>
            <a:r>
              <a:rPr sz="1200" b="0">
                <a:solidFill>
                  <a:srgbClr val="4F5D75"/>
                </a:solidFill>
                <a:latin typeface="Arial"/>
                <a:ea typeface="Arial"/>
                <a:cs typeface="Arial"/>
              </a:rPr>
              <a:t>Funding issues discovered late</a:t>
            </a:r>
          </a:p>
        </p:txBody>
      </p:sp>
      <p:sp>
        <p:nvSpPr>
          <p:cNvPr id="24" name="">
            <a:extLst xmlns:a="http://schemas.openxmlformats.org/drawingml/2006/main">
              <a:ext uri="{FF2B5EF4-FFF2-40B4-BE49-F238E27FC236}">
                <a16:creationId xmlns:a16="http://schemas.microsoft.com/office/drawing/2014/main" id="{7F1C690B-7181-4F51-A13F-C4F725487542}"/>
              </a:ext>
            </a:extLst>
          </p:cNvPr>
          <p:cNvSpPr>
            <a:spLocks xmlns:a="http://schemas.openxmlformats.org/drawingml/2006/main" noGrp="1"/>
          </p:cNvSpPr>
          <p:nvPr/>
        </p:nvSpPr>
        <p:spPr>
          <a:xfrm xmlns:a="http://schemas.openxmlformats.org/drawingml/2006/main">
            <a:off x="6200775" y="3505200"/>
            <a:ext cx="4476750"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CE7DD"/>
            </a:solidFill>
          </a:ln>
        </p:spPr>
      </p:sp>
      <p:sp>
        <p:nvSpPr>
          <p:cNvPr id="25" name="">
            <a:extLst xmlns:a="http://schemas.openxmlformats.org/drawingml/2006/main">
              <a:ext uri="{FF2B5EF4-FFF2-40B4-BE49-F238E27FC236}">
                <a16:creationId xmlns:a16="http://schemas.microsoft.com/office/drawing/2014/main" id="{A3CB91FC-776A-405E-887B-CDCC3BCFC0B5}"/>
              </a:ext>
            </a:extLst>
          </p:cNvPr>
          <p:cNvSpPr>
            <a:spLocks xmlns:a="http://schemas.openxmlformats.org/drawingml/2006/main" noGrp="1"/>
          </p:cNvSpPr>
          <p:nvPr/>
        </p:nvSpPr>
        <p:spPr>
          <a:xfrm xmlns:a="http://schemas.openxmlformats.org/drawingml/2006/main">
            <a:off x="6200775" y="3505200"/>
            <a:ext cx="95250" cy="1333500"/>
          </a:xfrm>
          <a:prstGeom xmlns:a="http://schemas.openxmlformats.org/drawingml/2006/main" prst="roundRect">
            <a:avLst>
              <a:gd name="adj" fmla="val 50000"/>
            </a:avLst>
          </a:prstGeom>
          <a:solidFill xmlns:a="http://schemas.openxmlformats.org/drawingml/2006/main">
            <a:srgbClr val="EF8354"/>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04A1B33-9B0D-4BF0-9A2C-184B297B0D41}"/>
              </a:ext>
            </a:extLst>
          </p:cNvPr>
          <p:cNvSpPr>
            <a:spLocks xmlns:a="http://schemas.openxmlformats.org/drawingml/2006/main" noGrp="1"/>
          </p:cNvSpPr>
          <p:nvPr/>
        </p:nvSpPr>
        <p:spPr>
          <a:xfrm xmlns:a="http://schemas.openxmlformats.org/drawingml/2006/main">
            <a:off x="6496050" y="373380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EF8354"/>
                </a:solidFill>
                <a:latin typeface="Arial"/>
                <a:ea typeface="Arial"/>
                <a:cs typeface="Arial"/>
              </a:defRPr>
            </a:pPr>
            <a:r>
              <a:rPr sz="1050" b="1">
                <a:solidFill>
                  <a:srgbClr val="EF8354"/>
                </a:solidFill>
                <a:latin typeface="Arial"/>
                <a:ea typeface="Arial"/>
                <a:cs typeface="Arial"/>
              </a:rPr>
              <a:t>04</a:t>
            </a:r>
          </a:p>
        </p:txBody>
      </p:sp>
      <p:sp>
        <p:nvSpPr>
          <p:cNvPr id="27" name="">
            <a:extLst xmlns:a="http://schemas.openxmlformats.org/drawingml/2006/main">
              <a:ext uri="{FF2B5EF4-FFF2-40B4-BE49-F238E27FC236}">
                <a16:creationId xmlns:a16="http://schemas.microsoft.com/office/drawing/2014/main" id="{A41B3BAE-1D95-4B99-85ED-08E8E81EFDAF}"/>
              </a:ext>
            </a:extLst>
          </p:cNvPr>
          <p:cNvSpPr>
            <a:spLocks xmlns:a="http://schemas.openxmlformats.org/drawingml/2006/main" noGrp="1"/>
          </p:cNvSpPr>
          <p:nvPr/>
        </p:nvSpPr>
        <p:spPr>
          <a:xfrm xmlns:a="http://schemas.openxmlformats.org/drawingml/2006/main">
            <a:off x="7058025" y="3676650"/>
            <a:ext cx="3286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2D3142"/>
                </a:solidFill>
                <a:latin typeface="Arial"/>
                <a:ea typeface="Arial"/>
                <a:cs typeface="Arial"/>
              </a:defRPr>
            </a:pPr>
            <a:r>
              <a:rPr sz="1575" b="1">
                <a:solidFill>
                  <a:srgbClr val="2D3142"/>
                </a:solidFill>
                <a:latin typeface="Arial"/>
                <a:ea typeface="Arial"/>
                <a:cs typeface="Arial"/>
              </a:rPr>
              <a:t>Limited audit visibility</a:t>
            </a:r>
          </a:p>
        </p:txBody>
      </p:sp>
      <p:sp>
        <p:nvSpPr>
          <p:cNvPr id="28" name="">
            <a:extLst xmlns:a="http://schemas.openxmlformats.org/drawingml/2006/main">
              <a:ext uri="{FF2B5EF4-FFF2-40B4-BE49-F238E27FC236}">
                <a16:creationId xmlns:a16="http://schemas.microsoft.com/office/drawing/2014/main" id="{86F7F4AA-A013-4A36-99B1-9309EE05CB67}"/>
              </a:ext>
            </a:extLst>
          </p:cNvPr>
          <p:cNvSpPr>
            <a:spLocks xmlns:a="http://schemas.openxmlformats.org/drawingml/2006/main" noGrp="1"/>
          </p:cNvSpPr>
          <p:nvPr/>
        </p:nvSpPr>
        <p:spPr>
          <a:xfrm xmlns:a="http://schemas.openxmlformats.org/drawingml/2006/main">
            <a:off x="7058025" y="4086225"/>
            <a:ext cx="328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4F5D75"/>
                </a:solidFill>
                <a:latin typeface="Arial"/>
                <a:ea typeface="Arial"/>
                <a:cs typeface="Arial"/>
              </a:defRPr>
            </a:pPr>
            <a:r>
              <a:rPr sz="1200" b="0">
                <a:solidFill>
                  <a:srgbClr val="4F5D75"/>
                </a:solidFill>
                <a:latin typeface="Arial"/>
                <a:ea typeface="Arial"/>
                <a:cs typeface="Arial"/>
              </a:rPr>
              <a:t>Approvals spread across channels</a:t>
            </a:r>
          </a:p>
        </p:txBody>
      </p:sp>
      <p:sp>
        <p:nvSpPr>
          <p:cNvPr id="29" name="">
            <a:extLst xmlns:a="http://schemas.openxmlformats.org/drawingml/2006/main">
              <a:ext uri="{FF2B5EF4-FFF2-40B4-BE49-F238E27FC236}">
                <a16:creationId xmlns:a16="http://schemas.microsoft.com/office/drawing/2014/main" id="{DD65929D-178B-4031-83AF-FEAB429EDF94}"/>
              </a:ext>
            </a:extLst>
          </p:cNvPr>
          <p:cNvSpPr>
            <a:spLocks xmlns:a="http://schemas.openxmlformats.org/drawingml/2006/main" noGrp="1"/>
          </p:cNvSpPr>
          <p:nvPr/>
        </p:nvSpPr>
        <p:spPr>
          <a:xfrm xmlns:a="http://schemas.openxmlformats.org/drawingml/2006/main">
            <a:off x="1200150" y="5448300"/>
            <a:ext cx="9477375" cy="28575"/>
          </a:xfrm>
          <a:prstGeom xmlns:a="http://schemas.openxmlformats.org/drawingml/2006/main" prst="rect">
            <a:avLst/>
          </a:prstGeom>
          <a:solidFill xmlns:a="http://schemas.openxmlformats.org/drawingml/2006/main">
            <a:srgbClr val="EF8354"/>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CD1C0E3D-78E9-48A4-8378-DF9E0A15A92B}"/>
              </a:ext>
            </a:extLst>
          </p:cNvPr>
          <p:cNvSpPr>
            <a:spLocks xmlns:a="http://schemas.openxmlformats.org/drawingml/2006/main" noGrp="1"/>
          </p:cNvSpPr>
          <p:nvPr/>
        </p:nvSpPr>
        <p:spPr>
          <a:xfrm xmlns:a="http://schemas.openxmlformats.org/drawingml/2006/main">
            <a:off x="1200150" y="5648325"/>
            <a:ext cx="819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EF8354"/>
                </a:solidFill>
                <a:latin typeface="Arial"/>
                <a:ea typeface="Arial"/>
                <a:cs typeface="Arial"/>
              </a:defRPr>
            </a:pPr>
            <a:r>
              <a:rPr sz="1200" b="1">
                <a:solidFill>
                  <a:srgbClr val="EF8354"/>
                </a:solidFill>
                <a:latin typeface="Arial"/>
                <a:ea typeface="Arial"/>
                <a:cs typeface="Arial"/>
              </a:rPr>
              <a:t>Need</a:t>
            </a:r>
          </a:p>
        </p:txBody>
      </p:sp>
      <p:sp>
        <p:nvSpPr>
          <p:cNvPr id="31" name="">
            <a:extLst xmlns:a="http://schemas.openxmlformats.org/drawingml/2006/main">
              <a:ext uri="{FF2B5EF4-FFF2-40B4-BE49-F238E27FC236}">
                <a16:creationId xmlns:a16="http://schemas.microsoft.com/office/drawing/2014/main" id="{3847517F-300C-469C-BFB8-6D8D150BC008}"/>
              </a:ext>
            </a:extLst>
          </p:cNvPr>
          <p:cNvSpPr>
            <a:spLocks xmlns:a="http://schemas.openxmlformats.org/drawingml/2006/main" noGrp="1"/>
          </p:cNvSpPr>
          <p:nvPr/>
        </p:nvSpPr>
        <p:spPr>
          <a:xfrm xmlns:a="http://schemas.openxmlformats.org/drawingml/2006/main">
            <a:off x="2095500" y="5572125"/>
            <a:ext cx="666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2D3142"/>
                </a:solidFill>
                <a:latin typeface="Arial"/>
                <a:ea typeface="Arial"/>
                <a:cs typeface="Arial"/>
              </a:defRPr>
            </a:pPr>
            <a:r>
              <a:rPr sz="1725" b="1">
                <a:solidFill>
                  <a:srgbClr val="2D3142"/>
                </a:solidFill>
                <a:latin typeface="Arial"/>
                <a:ea typeface="Arial"/>
                <a:cs typeface="Arial"/>
              </a:rPr>
              <a:t>One controlled and traceable payroll workflow</a:t>
            </a:r>
          </a:p>
        </p:txBody>
      </p:sp>
    </p:spTree>
    <p:extLst>
      <p:ext uri="{BB962C8B-B14F-4D97-AF65-F5344CB8AC3E}">
        <p14:creationId xmlns:p14="http://schemas.microsoft.com/office/powerpoint/2010/main" val="1078252051"/>
      </p:ext>
    </p:extLst>
  </p:cSld>
</p:sld>
</file>

<file path=ppt/slides/slide5.xml><?xml version="1.0" encoding="utf-8"?>
<p:sld xmlns:p="http://schemas.openxmlformats.org/presentationml/2006/main">
  <p:cSld>
    <p:bg>
      <p:bgPr>
        <a:solidFill xmlns:a="http://schemas.openxmlformats.org/drawingml/2006/main">
          <a:srgbClr val="F7F9F6"/>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B7FD3E0-AF98-431A-BCC5-53A05E6E48B2}"/>
              </a:ext>
            </a:extLst>
          </p:cNvPr>
          <p:cNvSpPr>
            <a:spLocks xmlns:a="http://schemas.openxmlformats.org/drawingml/2006/main" noGrp="1"/>
          </p:cNvSpPr>
          <p:nvPr/>
        </p:nvSpPr>
        <p:spPr>
          <a:xfrm xmlns:a="http://schemas.openxmlformats.org/drawingml/2006/main">
            <a:off x="0" y="0"/>
            <a:ext cx="819150" cy="6858000"/>
          </a:xfrm>
          <a:prstGeom xmlns:a="http://schemas.openxmlformats.org/drawingml/2006/main" prst="rect">
            <a:avLst/>
          </a:prstGeom>
          <a:solidFill xmlns:a="http://schemas.openxmlformats.org/drawingml/2006/main">
            <a:srgbClr val="2D314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FD78F0-3458-440D-B126-3F5D450B4696}"/>
              </a:ext>
            </a:extLst>
          </p:cNvPr>
          <p:cNvSpPr>
            <a:spLocks xmlns:a="http://schemas.openxmlformats.org/drawingml/2006/main" noGrp="1"/>
          </p:cNvSpPr>
          <p:nvPr/>
        </p:nvSpPr>
        <p:spPr>
          <a:xfrm xmlns:a="http://schemas.openxmlformats.org/drawingml/2006/main">
            <a:off x="0" y="0"/>
            <a:ext cx="819150" cy="114300"/>
          </a:xfrm>
          <a:prstGeom xmlns:a="http://schemas.openxmlformats.org/drawingml/2006/main" prst="rect">
            <a:avLst/>
          </a:prstGeom>
          <a:solidFill xmlns:a="http://schemas.openxmlformats.org/drawingml/2006/main">
            <a:srgbClr val="EF835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925C000-C63C-45DC-A6D9-DFAA92F9962C}"/>
              </a:ext>
            </a:extLst>
          </p:cNvPr>
          <p:cNvSpPr>
            <a:spLocks xmlns:a="http://schemas.openxmlformats.org/drawingml/2006/main" noGrp="1"/>
          </p:cNvSpPr>
          <p:nvPr/>
        </p:nvSpPr>
        <p:spPr>
          <a:xfrm xmlns:a="http://schemas.openxmlformats.org/drawingml/2006/main">
            <a:off x="266700" y="400050"/>
            <a:ext cx="285750" cy="285750"/>
          </a:xfrm>
          <a:prstGeom xmlns:a="http://schemas.openxmlformats.org/drawingml/2006/main" prst="roundRect">
            <a:avLst>
              <a:gd name="adj" fmla="val 26667"/>
            </a:avLst>
          </a:prstGeom>
          <a:solidFill xmlns:a="http://schemas.openxmlformats.org/drawingml/2006/main">
            <a:srgbClr val="EF835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4DAD759-42CF-43C2-951F-BC986E048FD4}"/>
              </a:ext>
            </a:extLst>
          </p:cNvPr>
          <p:cNvSpPr>
            <a:spLocks xmlns:a="http://schemas.openxmlformats.org/drawingml/2006/main" noGrp="1"/>
          </p:cNvSpPr>
          <p:nvPr/>
        </p:nvSpPr>
        <p:spPr>
          <a:xfrm xmlns:a="http://schemas.openxmlformats.org/drawingml/2006/main">
            <a:off x="266700" y="39052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u</a:t>
            </a:r>
          </a:p>
        </p:txBody>
      </p:sp>
      <p:sp>
        <p:nvSpPr>
          <p:cNvPr id="5" name="">
            <a:extLst xmlns:a="http://schemas.openxmlformats.org/drawingml/2006/main">
              <a:ext uri="{FF2B5EF4-FFF2-40B4-BE49-F238E27FC236}">
                <a16:creationId xmlns:a16="http://schemas.microsoft.com/office/drawing/2014/main" id="{0E6CF50D-2A31-45BD-B59A-83407968520C}"/>
              </a:ext>
            </a:extLst>
          </p:cNvPr>
          <p:cNvSpPr>
            <a:spLocks xmlns:a="http://schemas.openxmlformats.org/drawingml/2006/main" noGrp="1"/>
          </p:cNvSpPr>
          <p:nvPr/>
        </p:nvSpPr>
        <p:spPr>
          <a:xfrm xmlns:a="http://schemas.openxmlformats.org/drawingml/2006/main">
            <a:off x="266700" y="62293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096"/>
          </a:bodyPr>
          <a:lstStyle xmlns:a="http://schemas.openxmlformats.org/drawingml/2006/main"/>
          <a:p xmlns:a="http://schemas.openxmlformats.org/drawingml/2006/main">
            <a:pPr algn="ctr">
              <a:defRPr sz="900" b="1">
                <a:solidFill>
                  <a:srgbClr val="BFC0C0"/>
                </a:solidFill>
                <a:latin typeface="Arial"/>
                <a:ea typeface="Arial"/>
                <a:cs typeface="Arial"/>
              </a:defRPr>
            </a:pPr>
            <a:r>
              <a:rPr sz="900" b="1">
                <a:solidFill>
                  <a:srgbClr val="BFC0C0"/>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872EAB63-83F9-434B-817D-D08D2EF80CAA}"/>
              </a:ext>
            </a:extLst>
          </p:cNvPr>
          <p:cNvSpPr>
            <a:spLocks xmlns:a="http://schemas.openxmlformats.org/drawingml/2006/main" noGrp="1"/>
          </p:cNvSpPr>
          <p:nvPr/>
        </p:nvSpPr>
        <p:spPr>
          <a:xfrm xmlns:a="http://schemas.openxmlformats.org/drawingml/2006/main">
            <a:off x="1200150" y="428625"/>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118"/>
          </a:bodyPr>
          <a:lstStyle xmlns:a="http://schemas.openxmlformats.org/drawingml/2006/main"/>
          <a:p xmlns:a="http://schemas.openxmlformats.org/drawingml/2006/main">
            <a:pPr algn="l">
              <a:defRPr sz="2550" b="1">
                <a:solidFill>
                  <a:srgbClr val="2D3142"/>
                </a:solidFill>
                <a:latin typeface="Arial"/>
                <a:ea typeface="Arial"/>
                <a:cs typeface="Arial"/>
              </a:defRPr>
            </a:pPr>
            <a:r>
              <a:rPr sz="2550" b="1">
                <a:solidFill>
                  <a:srgbClr val="2D3142"/>
                </a:solidFill>
                <a:latin typeface="Arial"/>
                <a:ea typeface="Arial"/>
                <a:cs typeface="Arial"/>
              </a:rPr>
              <a:t>Project proposal</a:t>
            </a:r>
          </a:p>
        </p:txBody>
      </p:sp>
      <p:sp>
        <p:nvSpPr>
          <p:cNvPr id="7" name="">
            <a:extLst xmlns:a="http://schemas.openxmlformats.org/drawingml/2006/main">
              <a:ext uri="{FF2B5EF4-FFF2-40B4-BE49-F238E27FC236}">
                <a16:creationId xmlns:a16="http://schemas.microsoft.com/office/drawing/2014/main" id="{A06D62ED-08E9-42EC-B33F-B31875C9743A}"/>
              </a:ext>
            </a:extLst>
          </p:cNvPr>
          <p:cNvSpPr>
            <a:spLocks xmlns:a="http://schemas.openxmlformats.org/drawingml/2006/main" noGrp="1"/>
          </p:cNvSpPr>
          <p:nvPr/>
        </p:nvSpPr>
        <p:spPr>
          <a:xfrm xmlns:a="http://schemas.openxmlformats.org/drawingml/2006/main">
            <a:off x="1200150" y="9144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0">
                <a:solidFill>
                  <a:srgbClr val="4F5D75"/>
                </a:solidFill>
                <a:latin typeface="Arial"/>
                <a:ea typeface="Arial"/>
                <a:cs typeface="Arial"/>
              </a:defRPr>
            </a:pPr>
            <a:r>
              <a:rPr sz="1200" b="0">
                <a:solidFill>
                  <a:srgbClr val="4F5D75"/>
                </a:solidFill>
                <a:latin typeface="Arial"/>
                <a:ea typeface="Arial"/>
                <a:cs typeface="Arial"/>
              </a:rPr>
              <a:t>One platform with clear roles and shared controls</a:t>
            </a:r>
          </a:p>
        </p:txBody>
      </p:sp>
      <p:sp>
        <p:nvSpPr>
          <p:cNvPr id="8" name="">
            <a:extLst xmlns:a="http://schemas.openxmlformats.org/drawingml/2006/main">
              <a:ext uri="{FF2B5EF4-FFF2-40B4-BE49-F238E27FC236}">
                <a16:creationId xmlns:a16="http://schemas.microsoft.com/office/drawing/2014/main" id="{E217F89F-0809-42CF-8041-F8815A9A30D5}"/>
              </a:ext>
            </a:extLst>
          </p:cNvPr>
          <p:cNvSpPr>
            <a:spLocks xmlns:a="http://schemas.openxmlformats.org/drawingml/2006/main" noGrp="1"/>
          </p:cNvSpPr>
          <p:nvPr/>
        </p:nvSpPr>
        <p:spPr>
          <a:xfrm xmlns:a="http://schemas.openxmlformats.org/drawingml/2006/main">
            <a:off x="1200150" y="1333500"/>
            <a:ext cx="9563100" cy="19050"/>
          </a:xfrm>
          <a:prstGeom xmlns:a="http://schemas.openxmlformats.org/drawingml/2006/main" prst="rect">
            <a:avLst/>
          </a:prstGeom>
          <a:solidFill xmlns:a="http://schemas.openxmlformats.org/drawingml/2006/main">
            <a:srgbClr val="DCE7D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178882C-215C-4B91-B0F3-684EDBB3A0CA}"/>
              </a:ext>
            </a:extLst>
          </p:cNvPr>
          <p:cNvSpPr>
            <a:spLocks xmlns:a="http://schemas.openxmlformats.org/drawingml/2006/main" noGrp="1"/>
          </p:cNvSpPr>
          <p:nvPr/>
        </p:nvSpPr>
        <p:spPr>
          <a:xfrm xmlns:a="http://schemas.openxmlformats.org/drawingml/2006/main">
            <a:off x="1200150" y="1752600"/>
            <a:ext cx="2876550" cy="3143250"/>
          </a:xfrm>
          <a:prstGeom xmlns:a="http://schemas.openxmlformats.org/drawingml/2006/main" prst="roundRect">
            <a:avLst>
              <a:gd name="adj" fmla="val 2649"/>
            </a:avLst>
          </a:prstGeom>
          <a:solidFill xmlns:a="http://schemas.openxmlformats.org/drawingml/2006/main">
            <a:srgbClr val="FFFFFF"/>
          </a:solidFill>
          <a:ln xmlns:a="http://schemas.openxmlformats.org/drawingml/2006/main" w="9525">
            <a:solidFill>
              <a:srgbClr val="DCE7DD"/>
            </a:solidFill>
          </a:ln>
        </p:spPr>
      </p:sp>
      <p:sp>
        <p:nvSpPr>
          <p:cNvPr id="10" name="">
            <a:extLst xmlns:a="http://schemas.openxmlformats.org/drawingml/2006/main">
              <a:ext uri="{FF2B5EF4-FFF2-40B4-BE49-F238E27FC236}">
                <a16:creationId xmlns:a16="http://schemas.microsoft.com/office/drawing/2014/main" id="{4DBB8CCB-9603-430B-878F-BB0C7C790072}"/>
              </a:ext>
            </a:extLst>
          </p:cNvPr>
          <p:cNvSpPr>
            <a:spLocks xmlns:a="http://schemas.openxmlformats.org/drawingml/2006/main" noGrp="1"/>
          </p:cNvSpPr>
          <p:nvPr/>
        </p:nvSpPr>
        <p:spPr>
          <a:xfrm xmlns:a="http://schemas.openxmlformats.org/drawingml/2006/main">
            <a:off x="1200150" y="1752600"/>
            <a:ext cx="2876550" cy="685800"/>
          </a:xfrm>
          <a:prstGeom xmlns:a="http://schemas.openxmlformats.org/drawingml/2006/main" prst="roundRect">
            <a:avLst>
              <a:gd name="adj" fmla="val 11111"/>
            </a:avLst>
          </a:prstGeom>
          <a:solidFill xmlns:a="http://schemas.openxmlformats.org/drawingml/2006/main">
            <a:srgbClr val="2D314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BD19E65-175F-4825-92B4-293BF5544F4B}"/>
              </a:ext>
            </a:extLst>
          </p:cNvPr>
          <p:cNvSpPr>
            <a:spLocks xmlns:a="http://schemas.openxmlformats.org/drawingml/2006/main" noGrp="1"/>
          </p:cNvSpPr>
          <p:nvPr/>
        </p:nvSpPr>
        <p:spPr>
          <a:xfrm xmlns:a="http://schemas.openxmlformats.org/drawingml/2006/main">
            <a:off x="1409700" y="1885950"/>
            <a:ext cx="2457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HR Maker</a:t>
            </a:r>
          </a:p>
        </p:txBody>
      </p:sp>
      <p:sp>
        <p:nvSpPr>
          <p:cNvPr id="12" name="">
            <a:extLst xmlns:a="http://schemas.openxmlformats.org/drawingml/2006/main">
              <a:ext uri="{FF2B5EF4-FFF2-40B4-BE49-F238E27FC236}">
                <a16:creationId xmlns:a16="http://schemas.microsoft.com/office/drawing/2014/main" id="{5D83A99B-F30D-4427-8FEF-67DD6E6703FC}"/>
              </a:ext>
            </a:extLst>
          </p:cNvPr>
          <p:cNvSpPr>
            <a:spLocks xmlns:a="http://schemas.openxmlformats.org/drawingml/2006/main" noGrp="1"/>
          </p:cNvSpPr>
          <p:nvPr/>
        </p:nvSpPr>
        <p:spPr>
          <a:xfrm xmlns:a="http://schemas.openxmlformats.org/drawingml/2006/main">
            <a:off x="1409700" y="25717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EF8354"/>
                </a:solidFill>
                <a:latin typeface="Arial"/>
                <a:ea typeface="Arial"/>
                <a:cs typeface="Arial"/>
              </a:defRPr>
            </a:pPr>
            <a:r>
              <a:rPr sz="975" b="1">
                <a:solidFill>
                  <a:srgbClr val="EF8354"/>
                </a:solidFill>
                <a:latin typeface="Arial"/>
                <a:ea typeface="Arial"/>
                <a:cs typeface="Arial"/>
              </a:rPr>
              <a:t>PREPARE</a:t>
            </a:r>
          </a:p>
        </p:txBody>
      </p:sp>
      <p:sp>
        <p:nvSpPr>
          <p:cNvPr id="13" name="">
            <a:extLst xmlns:a="http://schemas.openxmlformats.org/drawingml/2006/main">
              <a:ext uri="{FF2B5EF4-FFF2-40B4-BE49-F238E27FC236}">
                <a16:creationId xmlns:a16="http://schemas.microsoft.com/office/drawing/2014/main" id="{F0008E04-517A-492F-9AA2-A0E5A5D0FD90}"/>
              </a:ext>
            </a:extLst>
          </p:cNvPr>
          <p:cNvSpPr>
            <a:spLocks xmlns:a="http://schemas.openxmlformats.org/drawingml/2006/main" noGrp="1"/>
          </p:cNvSpPr>
          <p:nvPr/>
        </p:nvSpPr>
        <p:spPr>
          <a:xfrm xmlns:a="http://schemas.openxmlformats.org/drawingml/2006/main">
            <a:off x="1409700" y="3000375"/>
            <a:ext cx="238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4F5D75"/>
                </a:solidFill>
                <a:latin typeface="Arial"/>
                <a:ea typeface="Arial"/>
                <a:cs typeface="Arial"/>
              </a:defRPr>
            </a:pPr>
            <a:r>
              <a:rPr sz="1350" b="0">
                <a:solidFill>
                  <a:srgbClr val="4F5D75"/>
                </a:solidFill>
                <a:latin typeface="Arial"/>
                <a:ea typeface="Arial"/>
                <a:cs typeface="Arial"/>
              </a:rPr>
              <a:t>Employee registration</a:t>
            </a:r>
          </a:p>
          <a:p xmlns:a="http://schemas.openxmlformats.org/drawingml/2006/main">
            <a:pPr algn="l">
              <a:defRPr sz="1350" b="0">
                <a:solidFill>
                  <a:srgbClr val="4F5D75"/>
                </a:solidFill>
                <a:latin typeface="Arial"/>
                <a:ea typeface="Arial"/>
                <a:cs typeface="Arial"/>
              </a:defRPr>
            </a:pPr>
            <a:r>
              <a:rPr sz="1350" b="0">
                <a:solidFill>
                  <a:srgbClr val="4F5D75"/>
                </a:solidFill>
                <a:latin typeface="Arial"/>
                <a:ea typeface="Arial"/>
                <a:cs typeface="Arial"/>
              </a:rPr>
              <a:t>Payroll upload</a:t>
            </a:r>
          </a:p>
          <a:p xmlns:a="http://schemas.openxmlformats.org/drawingml/2006/main">
            <a:pPr algn="l">
              <a:defRPr sz="1350" b="0">
                <a:solidFill>
                  <a:srgbClr val="4F5D75"/>
                </a:solidFill>
                <a:latin typeface="Arial"/>
                <a:ea typeface="Arial"/>
                <a:cs typeface="Arial"/>
              </a:defRPr>
            </a:pPr>
            <a:r>
              <a:rPr sz="1350" b="0">
                <a:solidFill>
                  <a:srgbClr val="4F5D75"/>
                </a:solidFill>
                <a:latin typeface="Arial"/>
                <a:ea typeface="Arial"/>
                <a:cs typeface="Arial"/>
              </a:rPr>
              <a:t>Corrections</a:t>
            </a:r>
          </a:p>
        </p:txBody>
      </p:sp>
      <p:sp>
        <p:nvSpPr>
          <p:cNvPr id="14" name="">
            <a:extLst xmlns:a="http://schemas.openxmlformats.org/drawingml/2006/main">
              <a:ext uri="{FF2B5EF4-FFF2-40B4-BE49-F238E27FC236}">
                <a16:creationId xmlns:a16="http://schemas.microsoft.com/office/drawing/2014/main" id="{37DE0244-2D1C-4DE7-A834-7F645BA845EA}"/>
              </a:ext>
            </a:extLst>
          </p:cNvPr>
          <p:cNvSpPr>
            <a:spLocks xmlns:a="http://schemas.openxmlformats.org/drawingml/2006/main" noGrp="1"/>
          </p:cNvSpPr>
          <p:nvPr/>
        </p:nvSpPr>
        <p:spPr>
          <a:xfrm xmlns:a="http://schemas.openxmlformats.org/drawingml/2006/main">
            <a:off x="4552950" y="1752600"/>
            <a:ext cx="2876550" cy="3143250"/>
          </a:xfrm>
          <a:prstGeom xmlns:a="http://schemas.openxmlformats.org/drawingml/2006/main" prst="roundRect">
            <a:avLst>
              <a:gd name="adj" fmla="val 2649"/>
            </a:avLst>
          </a:prstGeom>
          <a:solidFill xmlns:a="http://schemas.openxmlformats.org/drawingml/2006/main">
            <a:srgbClr val="FFFFFF"/>
          </a:solidFill>
          <a:ln xmlns:a="http://schemas.openxmlformats.org/drawingml/2006/main" w="9525">
            <a:solidFill>
              <a:srgbClr val="DCE7DD"/>
            </a:solidFill>
          </a:ln>
        </p:spPr>
      </p:sp>
      <p:sp>
        <p:nvSpPr>
          <p:cNvPr id="15" name="">
            <a:extLst xmlns:a="http://schemas.openxmlformats.org/drawingml/2006/main">
              <a:ext uri="{FF2B5EF4-FFF2-40B4-BE49-F238E27FC236}">
                <a16:creationId xmlns:a16="http://schemas.microsoft.com/office/drawing/2014/main" id="{95D772C8-0B6E-4032-A426-B075D1AE0932}"/>
              </a:ext>
            </a:extLst>
          </p:cNvPr>
          <p:cNvSpPr>
            <a:spLocks xmlns:a="http://schemas.openxmlformats.org/drawingml/2006/main" noGrp="1"/>
          </p:cNvSpPr>
          <p:nvPr/>
        </p:nvSpPr>
        <p:spPr>
          <a:xfrm xmlns:a="http://schemas.openxmlformats.org/drawingml/2006/main">
            <a:off x="4552950" y="1752600"/>
            <a:ext cx="2876550" cy="685800"/>
          </a:xfrm>
          <a:prstGeom xmlns:a="http://schemas.openxmlformats.org/drawingml/2006/main" prst="roundRect">
            <a:avLst>
              <a:gd name="adj" fmla="val 11111"/>
            </a:avLst>
          </a:prstGeom>
          <a:solidFill xmlns:a="http://schemas.openxmlformats.org/drawingml/2006/main">
            <a:srgbClr val="EF835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E36247B-4E13-452C-BE24-2F483E820075}"/>
              </a:ext>
            </a:extLst>
          </p:cNvPr>
          <p:cNvSpPr>
            <a:spLocks xmlns:a="http://schemas.openxmlformats.org/drawingml/2006/main" noGrp="1"/>
          </p:cNvSpPr>
          <p:nvPr/>
        </p:nvSpPr>
        <p:spPr>
          <a:xfrm xmlns:a="http://schemas.openxmlformats.org/drawingml/2006/main">
            <a:off x="4762500" y="1885950"/>
            <a:ext cx="2457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Finance Checker</a:t>
            </a:r>
          </a:p>
        </p:txBody>
      </p:sp>
      <p:sp>
        <p:nvSpPr>
          <p:cNvPr id="17" name="">
            <a:extLst xmlns:a="http://schemas.openxmlformats.org/drawingml/2006/main">
              <a:ext uri="{FF2B5EF4-FFF2-40B4-BE49-F238E27FC236}">
                <a16:creationId xmlns:a16="http://schemas.microsoft.com/office/drawing/2014/main" id="{BDA8A69C-04FA-4EEE-AF2B-8FD0933DF22E}"/>
              </a:ext>
            </a:extLst>
          </p:cNvPr>
          <p:cNvSpPr>
            <a:spLocks xmlns:a="http://schemas.openxmlformats.org/drawingml/2006/main" noGrp="1"/>
          </p:cNvSpPr>
          <p:nvPr/>
        </p:nvSpPr>
        <p:spPr>
          <a:xfrm xmlns:a="http://schemas.openxmlformats.org/drawingml/2006/main">
            <a:off x="4762500" y="25717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EF8354"/>
                </a:solidFill>
                <a:latin typeface="Arial"/>
                <a:ea typeface="Arial"/>
                <a:cs typeface="Arial"/>
              </a:defRPr>
            </a:pPr>
            <a:r>
              <a:rPr sz="975" b="1">
                <a:solidFill>
                  <a:srgbClr val="EF8354"/>
                </a:solidFill>
                <a:latin typeface="Arial"/>
                <a:ea typeface="Arial"/>
                <a:cs typeface="Arial"/>
              </a:rPr>
              <a:t>APPROVE</a:t>
            </a:r>
          </a:p>
        </p:txBody>
      </p:sp>
      <p:sp>
        <p:nvSpPr>
          <p:cNvPr id="18" name="">
            <a:extLst xmlns:a="http://schemas.openxmlformats.org/drawingml/2006/main">
              <a:ext uri="{FF2B5EF4-FFF2-40B4-BE49-F238E27FC236}">
                <a16:creationId xmlns:a16="http://schemas.microsoft.com/office/drawing/2014/main" id="{B2661FE9-9DD5-4057-8DCE-829610BD2C4D}"/>
              </a:ext>
            </a:extLst>
          </p:cNvPr>
          <p:cNvSpPr>
            <a:spLocks xmlns:a="http://schemas.openxmlformats.org/drawingml/2006/main" noGrp="1"/>
          </p:cNvSpPr>
          <p:nvPr/>
        </p:nvSpPr>
        <p:spPr>
          <a:xfrm xmlns:a="http://schemas.openxmlformats.org/drawingml/2006/main">
            <a:off x="4762500" y="3000375"/>
            <a:ext cx="238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4F5D75"/>
                </a:solidFill>
                <a:latin typeface="Arial"/>
                <a:ea typeface="Arial"/>
                <a:cs typeface="Arial"/>
              </a:defRPr>
            </a:pPr>
            <a:r>
              <a:rPr sz="1350" b="0">
                <a:solidFill>
                  <a:srgbClr val="4F5D75"/>
                </a:solidFill>
                <a:latin typeface="Arial"/>
                <a:ea typeface="Arial"/>
                <a:cs typeface="Arial"/>
              </a:rPr>
              <a:t>Exception review</a:t>
            </a:r>
          </a:p>
          <a:p xmlns:a="http://schemas.openxmlformats.org/drawingml/2006/main">
            <a:pPr algn="l">
              <a:defRPr sz="1350" b="0">
                <a:solidFill>
                  <a:srgbClr val="4F5D75"/>
                </a:solidFill>
                <a:latin typeface="Arial"/>
                <a:ea typeface="Arial"/>
                <a:cs typeface="Arial"/>
              </a:defRPr>
            </a:pPr>
            <a:r>
              <a:rPr sz="1350" b="0">
                <a:solidFill>
                  <a:srgbClr val="4F5D75"/>
                </a:solidFill>
                <a:latin typeface="Arial"/>
                <a:ea typeface="Arial"/>
                <a:cs typeface="Arial"/>
              </a:rPr>
              <a:t>Approve or reject</a:t>
            </a:r>
          </a:p>
          <a:p xmlns:a="http://schemas.openxmlformats.org/drawingml/2006/main">
            <a:pPr algn="l">
              <a:defRPr sz="1350" b="0">
                <a:solidFill>
                  <a:srgbClr val="4F5D75"/>
                </a:solidFill>
                <a:latin typeface="Arial"/>
                <a:ea typeface="Arial"/>
                <a:cs typeface="Arial"/>
              </a:defRPr>
            </a:pPr>
            <a:r>
              <a:rPr sz="1350" b="0">
                <a:solidFill>
                  <a:srgbClr val="4F5D75"/>
                </a:solidFill>
                <a:latin typeface="Arial"/>
                <a:ea typeface="Arial"/>
                <a:cs typeface="Arial"/>
              </a:rPr>
              <a:t>Review notes</a:t>
            </a:r>
          </a:p>
        </p:txBody>
      </p:sp>
      <p:sp>
        <p:nvSpPr>
          <p:cNvPr id="19" name="">
            <a:extLst xmlns:a="http://schemas.openxmlformats.org/drawingml/2006/main">
              <a:ext uri="{FF2B5EF4-FFF2-40B4-BE49-F238E27FC236}">
                <a16:creationId xmlns:a16="http://schemas.microsoft.com/office/drawing/2014/main" id="{2E0BA5CD-FF8B-4C25-B187-8688A5CF81D9}"/>
              </a:ext>
            </a:extLst>
          </p:cNvPr>
          <p:cNvSpPr>
            <a:spLocks xmlns:a="http://schemas.openxmlformats.org/drawingml/2006/main" noGrp="1"/>
          </p:cNvSpPr>
          <p:nvPr/>
        </p:nvSpPr>
        <p:spPr>
          <a:xfrm xmlns:a="http://schemas.openxmlformats.org/drawingml/2006/main">
            <a:off x="7905750" y="1752600"/>
            <a:ext cx="2876550" cy="3143250"/>
          </a:xfrm>
          <a:prstGeom xmlns:a="http://schemas.openxmlformats.org/drawingml/2006/main" prst="roundRect">
            <a:avLst>
              <a:gd name="adj" fmla="val 2649"/>
            </a:avLst>
          </a:prstGeom>
          <a:solidFill xmlns:a="http://schemas.openxmlformats.org/drawingml/2006/main">
            <a:srgbClr val="FFFFFF"/>
          </a:solidFill>
          <a:ln xmlns:a="http://schemas.openxmlformats.org/drawingml/2006/main" w="9525">
            <a:solidFill>
              <a:srgbClr val="DCE7DD"/>
            </a:solidFill>
          </a:ln>
        </p:spPr>
      </p:sp>
      <p:sp>
        <p:nvSpPr>
          <p:cNvPr id="20" name="">
            <a:extLst xmlns:a="http://schemas.openxmlformats.org/drawingml/2006/main">
              <a:ext uri="{FF2B5EF4-FFF2-40B4-BE49-F238E27FC236}">
                <a16:creationId xmlns:a16="http://schemas.microsoft.com/office/drawing/2014/main" id="{6903A1F7-688A-4D21-8882-9E3C235AFA15}"/>
              </a:ext>
            </a:extLst>
          </p:cNvPr>
          <p:cNvSpPr>
            <a:spLocks xmlns:a="http://schemas.openxmlformats.org/drawingml/2006/main" noGrp="1"/>
          </p:cNvSpPr>
          <p:nvPr/>
        </p:nvSpPr>
        <p:spPr>
          <a:xfrm xmlns:a="http://schemas.openxmlformats.org/drawingml/2006/main">
            <a:off x="7905750" y="1752600"/>
            <a:ext cx="2876550" cy="685800"/>
          </a:xfrm>
          <a:prstGeom xmlns:a="http://schemas.openxmlformats.org/drawingml/2006/main" prst="roundRect">
            <a:avLst>
              <a:gd name="adj" fmla="val 11111"/>
            </a:avLst>
          </a:prstGeom>
          <a:solidFill xmlns:a="http://schemas.openxmlformats.org/drawingml/2006/main">
            <a:srgbClr val="2D314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14F7861-1622-4A33-B919-CD34BB795860}"/>
              </a:ext>
            </a:extLst>
          </p:cNvPr>
          <p:cNvSpPr>
            <a:spLocks xmlns:a="http://schemas.openxmlformats.org/drawingml/2006/main" noGrp="1"/>
          </p:cNvSpPr>
          <p:nvPr/>
        </p:nvSpPr>
        <p:spPr>
          <a:xfrm xmlns:a="http://schemas.openxmlformats.org/drawingml/2006/main">
            <a:off x="8115300" y="1885950"/>
            <a:ext cx="2457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upay Admin</a:t>
            </a:r>
          </a:p>
        </p:txBody>
      </p:sp>
      <p:sp>
        <p:nvSpPr>
          <p:cNvPr id="22" name="">
            <a:extLst xmlns:a="http://schemas.openxmlformats.org/drawingml/2006/main">
              <a:ext uri="{FF2B5EF4-FFF2-40B4-BE49-F238E27FC236}">
                <a16:creationId xmlns:a16="http://schemas.microsoft.com/office/drawing/2014/main" id="{0EB9B428-8F04-4045-93BE-DE35DB8A529F}"/>
              </a:ext>
            </a:extLst>
          </p:cNvPr>
          <p:cNvSpPr>
            <a:spLocks xmlns:a="http://schemas.openxmlformats.org/drawingml/2006/main" noGrp="1"/>
          </p:cNvSpPr>
          <p:nvPr/>
        </p:nvSpPr>
        <p:spPr>
          <a:xfrm xmlns:a="http://schemas.openxmlformats.org/drawingml/2006/main">
            <a:off x="8115300" y="25717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975" b="1">
                <a:solidFill>
                  <a:srgbClr val="EF8354"/>
                </a:solidFill>
                <a:latin typeface="Arial"/>
                <a:ea typeface="Arial"/>
                <a:cs typeface="Arial"/>
              </a:defRPr>
            </a:pPr>
            <a:r>
              <a:rPr sz="975" b="1">
                <a:solidFill>
                  <a:srgbClr val="EF8354"/>
                </a:solidFill>
                <a:latin typeface="Arial"/>
                <a:ea typeface="Arial"/>
                <a:cs typeface="Arial"/>
              </a:rPr>
              <a:t>OPERATE</a:t>
            </a:r>
          </a:p>
        </p:txBody>
      </p:sp>
      <p:sp>
        <p:nvSpPr>
          <p:cNvPr id="23" name="">
            <a:extLst xmlns:a="http://schemas.openxmlformats.org/drawingml/2006/main">
              <a:ext uri="{FF2B5EF4-FFF2-40B4-BE49-F238E27FC236}">
                <a16:creationId xmlns:a16="http://schemas.microsoft.com/office/drawing/2014/main" id="{808308A9-7F3C-4025-9B8F-E557B9D7D3E1}"/>
              </a:ext>
            </a:extLst>
          </p:cNvPr>
          <p:cNvSpPr>
            <a:spLocks xmlns:a="http://schemas.openxmlformats.org/drawingml/2006/main" noGrp="1"/>
          </p:cNvSpPr>
          <p:nvPr/>
        </p:nvSpPr>
        <p:spPr>
          <a:xfrm xmlns:a="http://schemas.openxmlformats.org/drawingml/2006/main">
            <a:off x="8115300" y="3000375"/>
            <a:ext cx="238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4F5D75"/>
                </a:solidFill>
                <a:latin typeface="Arial"/>
                <a:ea typeface="Arial"/>
                <a:cs typeface="Arial"/>
              </a:defRPr>
            </a:pPr>
            <a:r>
              <a:rPr sz="1350" b="0">
                <a:solidFill>
                  <a:srgbClr val="4F5D75"/>
                </a:solidFill>
                <a:latin typeface="Arial"/>
                <a:ea typeface="Arial"/>
                <a:cs typeface="Arial"/>
              </a:rPr>
              <a:t>Company onboarding</a:t>
            </a:r>
          </a:p>
          <a:p xmlns:a="http://schemas.openxmlformats.org/drawingml/2006/main">
            <a:pPr algn="l">
              <a:defRPr sz="1350" b="0">
                <a:solidFill>
                  <a:srgbClr val="4F5D75"/>
                </a:solidFill>
                <a:latin typeface="Arial"/>
                <a:ea typeface="Arial"/>
                <a:cs typeface="Arial"/>
              </a:defRPr>
            </a:pPr>
            <a:r>
              <a:rPr sz="1350" b="0">
                <a:solidFill>
                  <a:srgbClr val="4F5D75"/>
                </a:solidFill>
                <a:latin typeface="Arial"/>
                <a:ea typeface="Arial"/>
                <a:cs typeface="Arial"/>
              </a:rPr>
              <a:t>Wallet management</a:t>
            </a:r>
          </a:p>
          <a:p xmlns:a="http://schemas.openxmlformats.org/drawingml/2006/main">
            <a:pPr algn="l">
              <a:defRPr sz="1350" b="0">
                <a:solidFill>
                  <a:srgbClr val="4F5D75"/>
                </a:solidFill>
                <a:latin typeface="Arial"/>
                <a:ea typeface="Arial"/>
                <a:cs typeface="Arial"/>
              </a:defRPr>
            </a:pPr>
            <a:r>
              <a:rPr sz="1350" b="0">
                <a:solidFill>
                  <a:srgbClr val="4F5D75"/>
                </a:solidFill>
                <a:latin typeface="Arial"/>
                <a:ea typeface="Arial"/>
                <a:cs typeface="Arial"/>
              </a:rPr>
              <a:t>Activity monitoring</a:t>
            </a:r>
          </a:p>
        </p:txBody>
      </p:sp>
      <p:sp>
        <p:nvSpPr>
          <p:cNvPr id="24" name="">
            <a:extLst xmlns:a="http://schemas.openxmlformats.org/drawingml/2006/main">
              <a:ext uri="{FF2B5EF4-FFF2-40B4-BE49-F238E27FC236}">
                <a16:creationId xmlns:a16="http://schemas.microsoft.com/office/drawing/2014/main" id="{6D0691D8-5694-47C4-B779-C11E19BBD227}"/>
              </a:ext>
            </a:extLst>
          </p:cNvPr>
          <p:cNvSpPr>
            <a:spLocks xmlns:a="http://schemas.openxmlformats.org/drawingml/2006/main" noGrp="1"/>
          </p:cNvSpPr>
          <p:nvPr/>
        </p:nvSpPr>
        <p:spPr>
          <a:xfrm xmlns:a="http://schemas.openxmlformats.org/drawingml/2006/main">
            <a:off x="1200150" y="5286375"/>
            <a:ext cx="9582150" cy="685800"/>
          </a:xfrm>
          <a:prstGeom xmlns:a="http://schemas.openxmlformats.org/drawingml/2006/main" prst="roundRect">
            <a:avLst>
              <a:gd name="adj" fmla="val 11111"/>
            </a:avLst>
          </a:prstGeom>
          <a:solidFill xmlns:a="http://schemas.openxmlformats.org/drawingml/2006/main">
            <a:srgbClr val="2D314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AE25727-B9DD-4609-B499-BCECECEFDFA5}"/>
              </a:ext>
            </a:extLst>
          </p:cNvPr>
          <p:cNvSpPr>
            <a:spLocks xmlns:a="http://schemas.openxmlformats.org/drawingml/2006/main" noGrp="1"/>
          </p:cNvSpPr>
          <p:nvPr/>
        </p:nvSpPr>
        <p:spPr>
          <a:xfrm xmlns:a="http://schemas.openxmlformats.org/drawingml/2006/main">
            <a:off x="1447800" y="5429250"/>
            <a:ext cx="224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EF8354"/>
                </a:solidFill>
                <a:latin typeface="Arial"/>
                <a:ea typeface="Arial"/>
                <a:cs typeface="Arial"/>
              </a:defRPr>
            </a:pPr>
            <a:r>
              <a:rPr sz="1275" b="1">
                <a:solidFill>
                  <a:srgbClr val="EF8354"/>
                </a:solidFill>
                <a:latin typeface="Arial"/>
                <a:ea typeface="Arial"/>
                <a:cs typeface="Arial"/>
              </a:rPr>
              <a:t>Shared control layer</a:t>
            </a:r>
          </a:p>
        </p:txBody>
      </p:sp>
      <p:sp>
        <p:nvSpPr>
          <p:cNvPr id="26" name="">
            <a:extLst xmlns:a="http://schemas.openxmlformats.org/drawingml/2006/main">
              <a:ext uri="{FF2B5EF4-FFF2-40B4-BE49-F238E27FC236}">
                <a16:creationId xmlns:a16="http://schemas.microsoft.com/office/drawing/2014/main" id="{82B28B7F-8E81-4B6D-ACD8-611C8F886EE5}"/>
              </a:ext>
            </a:extLst>
          </p:cNvPr>
          <p:cNvSpPr>
            <a:spLocks xmlns:a="http://schemas.openxmlformats.org/drawingml/2006/main" noGrp="1"/>
          </p:cNvSpPr>
          <p:nvPr/>
        </p:nvSpPr>
        <p:spPr>
          <a:xfrm xmlns:a="http://schemas.openxmlformats.org/drawingml/2006/main">
            <a:off x="3762375" y="5410200"/>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FFFFFF"/>
                </a:solidFill>
                <a:latin typeface="Arial"/>
                <a:ea typeface="Arial"/>
                <a:cs typeface="Arial"/>
              </a:defRPr>
            </a:pPr>
            <a:r>
              <a:rPr sz="1350" b="1">
                <a:solidFill>
                  <a:srgbClr val="FFFFFF"/>
                </a:solidFill>
                <a:latin typeface="Arial"/>
                <a:ea typeface="Arial"/>
                <a:cs typeface="Arial"/>
              </a:rPr>
              <a:t>Authentication  •  tenant isolation  •  workflow rules  •  audit records</a:t>
            </a:r>
          </a:p>
        </p:txBody>
      </p:sp>
    </p:spTree>
    <p:extLst>
      <p:ext uri="{BB962C8B-B14F-4D97-AF65-F5344CB8AC3E}">
        <p14:creationId xmlns:p14="http://schemas.microsoft.com/office/powerpoint/2010/main" val="746215993"/>
      </p:ext>
    </p:extLst>
  </p:cSld>
</p:sld>
</file>

<file path=ppt/slides/slide6.xml><?xml version="1.0" encoding="utf-8"?>
<p:sld xmlns:p="http://schemas.openxmlformats.org/presentationml/2006/main">
  <p:cSld>
    <p:bg>
      <p:bgPr>
        <a:solidFill xmlns:a="http://schemas.openxmlformats.org/drawingml/2006/main">
          <a:srgbClr val="F7F9F6"/>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4AEA99B7-4C6C-4697-A50A-7E14B8CCE3F6}"/>
              </a:ext>
            </a:extLst>
          </p:cNvPr>
          <p:cNvSpPr>
            <a:spLocks xmlns:a="http://schemas.openxmlformats.org/drawingml/2006/main" noGrp="1"/>
          </p:cNvSpPr>
          <p:nvPr/>
        </p:nvSpPr>
        <p:spPr>
          <a:xfrm xmlns:a="http://schemas.openxmlformats.org/drawingml/2006/main">
            <a:off x="0" y="0"/>
            <a:ext cx="819150" cy="6858000"/>
          </a:xfrm>
          <a:prstGeom xmlns:a="http://schemas.openxmlformats.org/drawingml/2006/main" prst="rect">
            <a:avLst/>
          </a:prstGeom>
          <a:solidFill xmlns:a="http://schemas.openxmlformats.org/drawingml/2006/main">
            <a:srgbClr val="2D314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8D32BA-79FC-4616-ACA4-0B4FCAB5C0D0}"/>
              </a:ext>
            </a:extLst>
          </p:cNvPr>
          <p:cNvSpPr>
            <a:spLocks xmlns:a="http://schemas.openxmlformats.org/drawingml/2006/main" noGrp="1"/>
          </p:cNvSpPr>
          <p:nvPr/>
        </p:nvSpPr>
        <p:spPr>
          <a:xfrm xmlns:a="http://schemas.openxmlformats.org/drawingml/2006/main">
            <a:off x="0" y="0"/>
            <a:ext cx="819150" cy="114300"/>
          </a:xfrm>
          <a:prstGeom xmlns:a="http://schemas.openxmlformats.org/drawingml/2006/main" prst="rect">
            <a:avLst/>
          </a:prstGeom>
          <a:solidFill xmlns:a="http://schemas.openxmlformats.org/drawingml/2006/main">
            <a:srgbClr val="EF835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1A65174-8C65-478F-AD89-9CC8B3277BF3}"/>
              </a:ext>
            </a:extLst>
          </p:cNvPr>
          <p:cNvSpPr>
            <a:spLocks xmlns:a="http://schemas.openxmlformats.org/drawingml/2006/main" noGrp="1"/>
          </p:cNvSpPr>
          <p:nvPr/>
        </p:nvSpPr>
        <p:spPr>
          <a:xfrm xmlns:a="http://schemas.openxmlformats.org/drawingml/2006/main">
            <a:off x="266700" y="400050"/>
            <a:ext cx="285750" cy="285750"/>
          </a:xfrm>
          <a:prstGeom xmlns:a="http://schemas.openxmlformats.org/drawingml/2006/main" prst="roundRect">
            <a:avLst>
              <a:gd name="adj" fmla="val 26667"/>
            </a:avLst>
          </a:prstGeom>
          <a:solidFill xmlns:a="http://schemas.openxmlformats.org/drawingml/2006/main">
            <a:srgbClr val="EF835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0DB0E84-E3E2-4A2A-A45B-837EE9E3A455}"/>
              </a:ext>
            </a:extLst>
          </p:cNvPr>
          <p:cNvSpPr>
            <a:spLocks xmlns:a="http://schemas.openxmlformats.org/drawingml/2006/main" noGrp="1"/>
          </p:cNvSpPr>
          <p:nvPr/>
        </p:nvSpPr>
        <p:spPr>
          <a:xfrm xmlns:a="http://schemas.openxmlformats.org/drawingml/2006/main">
            <a:off x="266700" y="390525"/>
            <a:ext cx="28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u</a:t>
            </a:r>
          </a:p>
        </p:txBody>
      </p:sp>
      <p:sp>
        <p:nvSpPr>
          <p:cNvPr id="5" name="">
            <a:extLst xmlns:a="http://schemas.openxmlformats.org/drawingml/2006/main">
              <a:ext uri="{FF2B5EF4-FFF2-40B4-BE49-F238E27FC236}">
                <a16:creationId xmlns:a16="http://schemas.microsoft.com/office/drawing/2014/main" id="{D058E29F-E760-4073-87BB-A4BFFDA5A22B}"/>
              </a:ext>
            </a:extLst>
          </p:cNvPr>
          <p:cNvSpPr>
            <a:spLocks xmlns:a="http://schemas.openxmlformats.org/drawingml/2006/main" noGrp="1"/>
          </p:cNvSpPr>
          <p:nvPr/>
        </p:nvSpPr>
        <p:spPr>
          <a:xfrm xmlns:a="http://schemas.openxmlformats.org/drawingml/2006/main">
            <a:off x="266700" y="622935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096"/>
          </a:bodyPr>
          <a:lstStyle xmlns:a="http://schemas.openxmlformats.org/drawingml/2006/main"/>
          <a:p xmlns:a="http://schemas.openxmlformats.org/drawingml/2006/main">
            <a:pPr algn="ctr">
              <a:defRPr sz="900" b="1">
                <a:solidFill>
                  <a:srgbClr val="BFC0C0"/>
                </a:solidFill>
                <a:latin typeface="Arial"/>
                <a:ea typeface="Arial"/>
                <a:cs typeface="Arial"/>
              </a:defRPr>
            </a:pPr>
            <a:r>
              <a:rPr sz="900" b="1">
                <a:solidFill>
                  <a:srgbClr val="BFC0C0"/>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F66B5891-C1B6-4F79-980E-472FDF348CFA}"/>
              </a:ext>
            </a:extLst>
          </p:cNvPr>
          <p:cNvSpPr>
            <a:spLocks xmlns:a="http://schemas.openxmlformats.org/drawingml/2006/main" noGrp="1"/>
          </p:cNvSpPr>
          <p:nvPr/>
        </p:nvSpPr>
        <p:spPr>
          <a:xfrm xmlns:a="http://schemas.openxmlformats.org/drawingml/2006/main">
            <a:off x="1200150" y="428625"/>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118"/>
          </a:bodyPr>
          <a:lstStyle xmlns:a="http://schemas.openxmlformats.org/drawingml/2006/main"/>
          <a:p xmlns:a="http://schemas.openxmlformats.org/drawingml/2006/main">
            <a:pPr algn="l">
              <a:defRPr sz="2550" b="1">
                <a:solidFill>
                  <a:srgbClr val="2D3142"/>
                </a:solidFill>
                <a:latin typeface="Arial"/>
                <a:ea typeface="Arial"/>
                <a:cs typeface="Arial"/>
              </a:defRPr>
            </a:pPr>
            <a:r>
              <a:rPr sz="2550" b="1">
                <a:solidFill>
                  <a:srgbClr val="2D3142"/>
                </a:solidFill>
                <a:latin typeface="Arial"/>
                <a:ea typeface="Arial"/>
                <a:cs typeface="Arial"/>
              </a:rPr>
              <a:t>Main features</a:t>
            </a:r>
          </a:p>
        </p:txBody>
      </p:sp>
      <p:sp>
        <p:nvSpPr>
          <p:cNvPr id="7" name="">
            <a:extLst xmlns:a="http://schemas.openxmlformats.org/drawingml/2006/main">
              <a:ext uri="{FF2B5EF4-FFF2-40B4-BE49-F238E27FC236}">
                <a16:creationId xmlns:a16="http://schemas.microsoft.com/office/drawing/2014/main" id="{8FBC00CE-FD9B-44A7-8AE8-9002C2A0A703}"/>
              </a:ext>
            </a:extLst>
          </p:cNvPr>
          <p:cNvSpPr>
            <a:spLocks xmlns:a="http://schemas.openxmlformats.org/drawingml/2006/main" noGrp="1"/>
          </p:cNvSpPr>
          <p:nvPr/>
        </p:nvSpPr>
        <p:spPr>
          <a:xfrm xmlns:a="http://schemas.openxmlformats.org/drawingml/2006/main">
            <a:off x="1200150" y="91440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l">
              <a:defRPr sz="1200" b="0">
                <a:solidFill>
                  <a:srgbClr val="4F5D75"/>
                </a:solidFill>
                <a:latin typeface="Arial"/>
                <a:ea typeface="Arial"/>
                <a:cs typeface="Arial"/>
              </a:defRPr>
            </a:pPr>
            <a:r>
              <a:rPr sz="1200" b="0">
                <a:solidFill>
                  <a:srgbClr val="4F5D75"/>
                </a:solidFill>
                <a:latin typeface="Arial"/>
                <a:ea typeface="Arial"/>
                <a:cs typeface="Arial"/>
              </a:rPr>
              <a:t>Controls from employee onboarding through disbursement</a:t>
            </a:r>
          </a:p>
        </p:txBody>
      </p:sp>
      <p:sp>
        <p:nvSpPr>
          <p:cNvPr id="8" name="">
            <a:extLst xmlns:a="http://schemas.openxmlformats.org/drawingml/2006/main">
              <a:ext uri="{FF2B5EF4-FFF2-40B4-BE49-F238E27FC236}">
                <a16:creationId xmlns:a16="http://schemas.microsoft.com/office/drawing/2014/main" id="{167EBFFA-2731-4150-95E8-33EB91D9397B}"/>
              </a:ext>
            </a:extLst>
          </p:cNvPr>
          <p:cNvSpPr>
            <a:spLocks xmlns:a="http://schemas.openxmlformats.org/drawingml/2006/main" noGrp="1"/>
          </p:cNvSpPr>
          <p:nvPr/>
        </p:nvSpPr>
        <p:spPr>
          <a:xfrm xmlns:a="http://schemas.openxmlformats.org/drawingml/2006/main">
            <a:off x="1200150" y="1333500"/>
            <a:ext cx="9563100" cy="19050"/>
          </a:xfrm>
          <a:prstGeom xmlns:a="http://schemas.openxmlformats.org/drawingml/2006/main" prst="rect">
            <a:avLst/>
          </a:prstGeom>
          <a:solidFill xmlns:a="http://schemas.openxmlformats.org/drawingml/2006/main">
            <a:srgbClr val="DCE7D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3E55623-3CC0-46E2-8DDF-3C1DE30F1070}"/>
              </a:ext>
            </a:extLst>
          </p:cNvPr>
          <p:cNvSpPr>
            <a:spLocks xmlns:a="http://schemas.openxmlformats.org/drawingml/2006/main" noGrp="1"/>
          </p:cNvSpPr>
          <p:nvPr/>
        </p:nvSpPr>
        <p:spPr>
          <a:xfrm xmlns:a="http://schemas.openxmlformats.org/drawingml/2006/main">
            <a:off x="1200150" y="1647825"/>
            <a:ext cx="451485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DCE7DD"/>
            </a:solidFill>
          </a:ln>
        </p:spPr>
      </p:sp>
      <p:sp>
        <p:nvSpPr>
          <p:cNvPr id="10" name="">
            <a:extLst xmlns:a="http://schemas.openxmlformats.org/drawingml/2006/main">
              <a:ext uri="{FF2B5EF4-FFF2-40B4-BE49-F238E27FC236}">
                <a16:creationId xmlns:a16="http://schemas.microsoft.com/office/drawing/2014/main" id="{576F7753-3222-4FBA-A9D5-D3BC76038C30}"/>
              </a:ext>
            </a:extLst>
          </p:cNvPr>
          <p:cNvSpPr>
            <a:spLocks xmlns:a="http://schemas.openxmlformats.org/drawingml/2006/main" noGrp="1"/>
          </p:cNvSpPr>
          <p:nvPr/>
        </p:nvSpPr>
        <p:spPr>
          <a:xfrm xmlns:a="http://schemas.openxmlformats.org/drawingml/2006/main">
            <a:off x="1390650" y="1885950"/>
            <a:ext cx="323850" cy="323850"/>
          </a:xfrm>
          <a:prstGeom xmlns:a="http://schemas.openxmlformats.org/drawingml/2006/main" prst="roundRect">
            <a:avLst>
              <a:gd name="adj" fmla="val 23529"/>
            </a:avLst>
          </a:prstGeom>
          <a:solidFill xmlns:a="http://schemas.openxmlformats.org/drawingml/2006/main">
            <a:srgbClr val="FFF1E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D44D79A-EB50-492B-914F-FE5758627258}"/>
              </a:ext>
            </a:extLst>
          </p:cNvPr>
          <p:cNvSpPr>
            <a:spLocks xmlns:a="http://schemas.openxmlformats.org/drawingml/2006/main" noGrp="1"/>
          </p:cNvSpPr>
          <p:nvPr/>
        </p:nvSpPr>
        <p:spPr>
          <a:xfrm xmlns:a="http://schemas.openxmlformats.org/drawingml/2006/main">
            <a:off x="1390650" y="188595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EF8354"/>
                </a:solidFill>
                <a:latin typeface="Arial"/>
                <a:ea typeface="Arial"/>
                <a:cs typeface="Arial"/>
              </a:defRPr>
            </a:pPr>
            <a:r>
              <a:rPr sz="1050" b="1">
                <a:solidFill>
                  <a:srgbClr val="EF8354"/>
                </a:solidFill>
                <a:latin typeface="Arial"/>
                <a:ea typeface="Arial"/>
                <a:cs typeface="Arial"/>
              </a:rPr>
              <a:t>1</a:t>
            </a:r>
          </a:p>
        </p:txBody>
      </p:sp>
      <p:sp>
        <p:nvSpPr>
          <p:cNvPr id="12" name="">
            <a:extLst xmlns:a="http://schemas.openxmlformats.org/drawingml/2006/main">
              <a:ext uri="{FF2B5EF4-FFF2-40B4-BE49-F238E27FC236}">
                <a16:creationId xmlns:a16="http://schemas.microsoft.com/office/drawing/2014/main" id="{DDE26C1E-1FC7-4480-B113-F7EB8A0174D0}"/>
              </a:ext>
            </a:extLst>
          </p:cNvPr>
          <p:cNvSpPr>
            <a:spLocks xmlns:a="http://schemas.openxmlformats.org/drawingml/2006/main" noGrp="1"/>
          </p:cNvSpPr>
          <p:nvPr/>
        </p:nvSpPr>
        <p:spPr>
          <a:xfrm xmlns:a="http://schemas.openxmlformats.org/drawingml/2006/main">
            <a:off x="1885950" y="17907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a:solidFill>
                  <a:srgbClr val="2D3142"/>
                </a:solidFill>
                <a:latin typeface="Arial"/>
                <a:ea typeface="Arial"/>
                <a:cs typeface="Arial"/>
              </a:defRPr>
            </a:pPr>
            <a:r>
              <a:rPr sz="1425" b="1">
                <a:solidFill>
                  <a:srgbClr val="2D3142"/>
                </a:solidFill>
                <a:latin typeface="Arial"/>
                <a:ea typeface="Arial"/>
                <a:cs typeface="Arial"/>
              </a:rPr>
              <a:t>Payroll upload</a:t>
            </a:r>
          </a:p>
        </p:txBody>
      </p:sp>
      <p:sp>
        <p:nvSpPr>
          <p:cNvPr id="13" name="">
            <a:extLst xmlns:a="http://schemas.openxmlformats.org/drawingml/2006/main">
              <a:ext uri="{FF2B5EF4-FFF2-40B4-BE49-F238E27FC236}">
                <a16:creationId xmlns:a16="http://schemas.microsoft.com/office/drawing/2014/main" id="{F7151B20-06EB-487E-96A8-BC67F784203A}"/>
              </a:ext>
            </a:extLst>
          </p:cNvPr>
          <p:cNvSpPr>
            <a:spLocks xmlns:a="http://schemas.openxmlformats.org/drawingml/2006/main" noGrp="1"/>
          </p:cNvSpPr>
          <p:nvPr/>
        </p:nvSpPr>
        <p:spPr>
          <a:xfrm xmlns:a="http://schemas.openxmlformats.org/drawingml/2006/main">
            <a:off x="1885950" y="2095500"/>
            <a:ext cx="333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762"/>
          </a:bodyPr>
          <a:lstStyle xmlns:a="http://schemas.openxmlformats.org/drawingml/2006/main"/>
          <a:p xmlns:a="http://schemas.openxmlformats.org/drawingml/2006/main">
            <a:pPr algn="l">
              <a:defRPr sz="1050" b="0">
                <a:solidFill>
                  <a:srgbClr val="4F5D75"/>
                </a:solidFill>
                <a:latin typeface="Arial"/>
                <a:ea typeface="Arial"/>
                <a:cs typeface="Arial"/>
              </a:defRPr>
            </a:pPr>
            <a:r>
              <a:rPr sz="1050" b="0">
                <a:solidFill>
                  <a:srgbClr val="4F5D75"/>
                </a:solidFill>
                <a:latin typeface="Arial"/>
                <a:ea typeface="Arial"/>
                <a:cs typeface="Arial"/>
              </a:rPr>
              <a:t>Excel and CSV</a:t>
            </a:r>
          </a:p>
        </p:txBody>
      </p:sp>
      <p:sp>
        <p:nvSpPr>
          <p:cNvPr id="14" name="">
            <a:extLst xmlns:a="http://schemas.openxmlformats.org/drawingml/2006/main">
              <a:ext uri="{FF2B5EF4-FFF2-40B4-BE49-F238E27FC236}">
                <a16:creationId xmlns:a16="http://schemas.microsoft.com/office/drawing/2014/main" id="{262582AD-B949-4E91-8491-DBB64A8836CF}"/>
              </a:ext>
            </a:extLst>
          </p:cNvPr>
          <p:cNvSpPr>
            <a:spLocks xmlns:a="http://schemas.openxmlformats.org/drawingml/2006/main" noGrp="1"/>
          </p:cNvSpPr>
          <p:nvPr/>
        </p:nvSpPr>
        <p:spPr>
          <a:xfrm xmlns:a="http://schemas.openxmlformats.org/drawingml/2006/main">
            <a:off x="6115050" y="1647825"/>
            <a:ext cx="451485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DCE7DD"/>
            </a:solidFill>
          </a:ln>
        </p:spPr>
      </p:sp>
      <p:sp>
        <p:nvSpPr>
          <p:cNvPr id="15" name="">
            <a:extLst xmlns:a="http://schemas.openxmlformats.org/drawingml/2006/main">
              <a:ext uri="{FF2B5EF4-FFF2-40B4-BE49-F238E27FC236}">
                <a16:creationId xmlns:a16="http://schemas.microsoft.com/office/drawing/2014/main" id="{927E8947-F6CE-44C9-8855-2F73057DD684}"/>
              </a:ext>
            </a:extLst>
          </p:cNvPr>
          <p:cNvSpPr>
            <a:spLocks xmlns:a="http://schemas.openxmlformats.org/drawingml/2006/main" noGrp="1"/>
          </p:cNvSpPr>
          <p:nvPr/>
        </p:nvSpPr>
        <p:spPr>
          <a:xfrm xmlns:a="http://schemas.openxmlformats.org/drawingml/2006/main">
            <a:off x="6305550" y="1885950"/>
            <a:ext cx="323850" cy="323850"/>
          </a:xfrm>
          <a:prstGeom xmlns:a="http://schemas.openxmlformats.org/drawingml/2006/main" prst="roundRect">
            <a:avLst>
              <a:gd name="adj" fmla="val 23529"/>
            </a:avLst>
          </a:prstGeom>
          <a:solidFill xmlns:a="http://schemas.openxmlformats.org/drawingml/2006/main">
            <a:srgbClr val="FFF1E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22AC603-1939-4421-BDD5-57C979841FC0}"/>
              </a:ext>
            </a:extLst>
          </p:cNvPr>
          <p:cNvSpPr>
            <a:spLocks xmlns:a="http://schemas.openxmlformats.org/drawingml/2006/main" noGrp="1"/>
          </p:cNvSpPr>
          <p:nvPr/>
        </p:nvSpPr>
        <p:spPr>
          <a:xfrm xmlns:a="http://schemas.openxmlformats.org/drawingml/2006/main">
            <a:off x="6305550" y="188595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EF8354"/>
                </a:solidFill>
                <a:latin typeface="Arial"/>
                <a:ea typeface="Arial"/>
                <a:cs typeface="Arial"/>
              </a:defRPr>
            </a:pPr>
            <a:r>
              <a:rPr sz="1050" b="1">
                <a:solidFill>
                  <a:srgbClr val="EF8354"/>
                </a:solidFill>
                <a:latin typeface="Arial"/>
                <a:ea typeface="Arial"/>
                <a:cs typeface="Arial"/>
              </a:rPr>
              <a:t>2</a:t>
            </a:r>
          </a:p>
        </p:txBody>
      </p:sp>
      <p:sp>
        <p:nvSpPr>
          <p:cNvPr id="17" name="">
            <a:extLst xmlns:a="http://schemas.openxmlformats.org/drawingml/2006/main">
              <a:ext uri="{FF2B5EF4-FFF2-40B4-BE49-F238E27FC236}">
                <a16:creationId xmlns:a16="http://schemas.microsoft.com/office/drawing/2014/main" id="{F5A6528B-4793-40BD-9183-554B54423F05}"/>
              </a:ext>
            </a:extLst>
          </p:cNvPr>
          <p:cNvSpPr>
            <a:spLocks xmlns:a="http://schemas.openxmlformats.org/drawingml/2006/main" noGrp="1"/>
          </p:cNvSpPr>
          <p:nvPr/>
        </p:nvSpPr>
        <p:spPr>
          <a:xfrm xmlns:a="http://schemas.openxmlformats.org/drawingml/2006/main">
            <a:off x="6800850" y="17907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a:solidFill>
                  <a:srgbClr val="2D3142"/>
                </a:solidFill>
                <a:latin typeface="Arial"/>
                <a:ea typeface="Arial"/>
                <a:cs typeface="Arial"/>
              </a:defRPr>
            </a:pPr>
            <a:r>
              <a:rPr sz="1425" b="1">
                <a:solidFill>
                  <a:srgbClr val="2D3142"/>
                </a:solidFill>
                <a:latin typeface="Arial"/>
                <a:ea typeface="Arial"/>
                <a:cs typeface="Arial"/>
              </a:rPr>
              <a:t>Data validation</a:t>
            </a:r>
          </a:p>
        </p:txBody>
      </p:sp>
      <p:sp>
        <p:nvSpPr>
          <p:cNvPr id="18" name="">
            <a:extLst xmlns:a="http://schemas.openxmlformats.org/drawingml/2006/main">
              <a:ext uri="{FF2B5EF4-FFF2-40B4-BE49-F238E27FC236}">
                <a16:creationId xmlns:a16="http://schemas.microsoft.com/office/drawing/2014/main" id="{00C6C017-F484-4032-80EC-39013B0D38FB}"/>
              </a:ext>
            </a:extLst>
          </p:cNvPr>
          <p:cNvSpPr>
            <a:spLocks xmlns:a="http://schemas.openxmlformats.org/drawingml/2006/main" noGrp="1"/>
          </p:cNvSpPr>
          <p:nvPr/>
        </p:nvSpPr>
        <p:spPr>
          <a:xfrm xmlns:a="http://schemas.openxmlformats.org/drawingml/2006/main">
            <a:off x="6800850" y="2095500"/>
            <a:ext cx="333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762"/>
          </a:bodyPr>
          <a:lstStyle xmlns:a="http://schemas.openxmlformats.org/drawingml/2006/main"/>
          <a:p xmlns:a="http://schemas.openxmlformats.org/drawingml/2006/main">
            <a:pPr algn="l">
              <a:defRPr sz="1050" b="0">
                <a:solidFill>
                  <a:srgbClr val="4F5D75"/>
                </a:solidFill>
                <a:latin typeface="Arial"/>
                <a:ea typeface="Arial"/>
                <a:cs typeface="Arial"/>
              </a:defRPr>
            </a:pPr>
            <a:r>
              <a:rPr sz="1050" b="0">
                <a:solidFill>
                  <a:srgbClr val="4F5D75"/>
                </a:solidFill>
                <a:latin typeface="Arial"/>
                <a:ea typeface="Arial"/>
                <a:cs typeface="Arial"/>
              </a:rPr>
              <a:t>Roster and account checks</a:t>
            </a:r>
          </a:p>
        </p:txBody>
      </p:sp>
      <p:sp>
        <p:nvSpPr>
          <p:cNvPr id="19" name="">
            <a:extLst xmlns:a="http://schemas.openxmlformats.org/drawingml/2006/main">
              <a:ext uri="{FF2B5EF4-FFF2-40B4-BE49-F238E27FC236}">
                <a16:creationId xmlns:a16="http://schemas.microsoft.com/office/drawing/2014/main" id="{DFB20FDC-52B0-4705-AC0A-96324C061E92}"/>
              </a:ext>
            </a:extLst>
          </p:cNvPr>
          <p:cNvSpPr>
            <a:spLocks xmlns:a="http://schemas.openxmlformats.org/drawingml/2006/main" noGrp="1"/>
          </p:cNvSpPr>
          <p:nvPr/>
        </p:nvSpPr>
        <p:spPr>
          <a:xfrm xmlns:a="http://schemas.openxmlformats.org/drawingml/2006/main">
            <a:off x="1200150" y="2714625"/>
            <a:ext cx="451485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DCE7DD"/>
            </a:solidFill>
          </a:ln>
        </p:spPr>
      </p:sp>
      <p:sp>
        <p:nvSpPr>
          <p:cNvPr id="20" name="">
            <a:extLst xmlns:a="http://schemas.openxmlformats.org/drawingml/2006/main">
              <a:ext uri="{FF2B5EF4-FFF2-40B4-BE49-F238E27FC236}">
                <a16:creationId xmlns:a16="http://schemas.microsoft.com/office/drawing/2014/main" id="{249786CA-50A7-438C-815A-407D549EE2DF}"/>
              </a:ext>
            </a:extLst>
          </p:cNvPr>
          <p:cNvSpPr>
            <a:spLocks xmlns:a="http://schemas.openxmlformats.org/drawingml/2006/main" noGrp="1"/>
          </p:cNvSpPr>
          <p:nvPr/>
        </p:nvSpPr>
        <p:spPr>
          <a:xfrm xmlns:a="http://schemas.openxmlformats.org/drawingml/2006/main">
            <a:off x="1390650" y="2952750"/>
            <a:ext cx="323850" cy="323850"/>
          </a:xfrm>
          <a:prstGeom xmlns:a="http://schemas.openxmlformats.org/drawingml/2006/main" prst="roundRect">
            <a:avLst>
              <a:gd name="adj" fmla="val 23529"/>
            </a:avLst>
          </a:prstGeom>
          <a:solidFill xmlns:a="http://schemas.openxmlformats.org/drawingml/2006/main">
            <a:srgbClr val="FFF1E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801A7DD-11CB-4E8E-B600-6AA12A3499BA}"/>
              </a:ext>
            </a:extLst>
          </p:cNvPr>
          <p:cNvSpPr>
            <a:spLocks xmlns:a="http://schemas.openxmlformats.org/drawingml/2006/main" noGrp="1"/>
          </p:cNvSpPr>
          <p:nvPr/>
        </p:nvSpPr>
        <p:spPr>
          <a:xfrm xmlns:a="http://schemas.openxmlformats.org/drawingml/2006/main">
            <a:off x="1390650" y="295275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EF8354"/>
                </a:solidFill>
                <a:latin typeface="Arial"/>
                <a:ea typeface="Arial"/>
                <a:cs typeface="Arial"/>
              </a:defRPr>
            </a:pPr>
            <a:r>
              <a:rPr sz="1050" b="1">
                <a:solidFill>
                  <a:srgbClr val="EF8354"/>
                </a:solidFill>
                <a:latin typeface="Arial"/>
                <a:ea typeface="Arial"/>
                <a:cs typeface="Arial"/>
              </a:rPr>
              <a:t>3</a:t>
            </a:r>
          </a:p>
        </p:txBody>
      </p:sp>
      <p:sp>
        <p:nvSpPr>
          <p:cNvPr id="22" name="">
            <a:extLst xmlns:a="http://schemas.openxmlformats.org/drawingml/2006/main">
              <a:ext uri="{FF2B5EF4-FFF2-40B4-BE49-F238E27FC236}">
                <a16:creationId xmlns:a16="http://schemas.microsoft.com/office/drawing/2014/main" id="{7331C23F-23E3-41E2-BFD6-B224BB205E36}"/>
              </a:ext>
            </a:extLst>
          </p:cNvPr>
          <p:cNvSpPr>
            <a:spLocks xmlns:a="http://schemas.openxmlformats.org/drawingml/2006/main" noGrp="1"/>
          </p:cNvSpPr>
          <p:nvPr/>
        </p:nvSpPr>
        <p:spPr>
          <a:xfrm xmlns:a="http://schemas.openxmlformats.org/drawingml/2006/main">
            <a:off x="1885950" y="28575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a:solidFill>
                  <a:srgbClr val="2D3142"/>
                </a:solidFill>
                <a:latin typeface="Arial"/>
                <a:ea typeface="Arial"/>
                <a:cs typeface="Arial"/>
              </a:defRPr>
            </a:pPr>
            <a:r>
              <a:rPr sz="1425" b="1">
                <a:solidFill>
                  <a:srgbClr val="2D3142"/>
                </a:solidFill>
                <a:latin typeface="Arial"/>
                <a:ea typeface="Arial"/>
                <a:cs typeface="Arial"/>
              </a:rPr>
              <a:t>Maker-checker</a:t>
            </a:r>
          </a:p>
        </p:txBody>
      </p:sp>
      <p:sp>
        <p:nvSpPr>
          <p:cNvPr id="23" name="">
            <a:extLst xmlns:a="http://schemas.openxmlformats.org/drawingml/2006/main">
              <a:ext uri="{FF2B5EF4-FFF2-40B4-BE49-F238E27FC236}">
                <a16:creationId xmlns:a16="http://schemas.microsoft.com/office/drawing/2014/main" id="{C7B0E9BA-AAC4-4C4B-87C9-421CFDB56746}"/>
              </a:ext>
            </a:extLst>
          </p:cNvPr>
          <p:cNvSpPr>
            <a:spLocks xmlns:a="http://schemas.openxmlformats.org/drawingml/2006/main" noGrp="1"/>
          </p:cNvSpPr>
          <p:nvPr/>
        </p:nvSpPr>
        <p:spPr>
          <a:xfrm xmlns:a="http://schemas.openxmlformats.org/drawingml/2006/main">
            <a:off x="1885950" y="3162300"/>
            <a:ext cx="333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762"/>
          </a:bodyPr>
          <a:lstStyle xmlns:a="http://schemas.openxmlformats.org/drawingml/2006/main"/>
          <a:p xmlns:a="http://schemas.openxmlformats.org/drawingml/2006/main">
            <a:pPr algn="l">
              <a:defRPr sz="1050" b="0">
                <a:solidFill>
                  <a:srgbClr val="4F5D75"/>
                </a:solidFill>
                <a:latin typeface="Arial"/>
                <a:ea typeface="Arial"/>
                <a:cs typeface="Arial"/>
              </a:defRPr>
            </a:pPr>
            <a:r>
              <a:rPr sz="1050" b="0">
                <a:solidFill>
                  <a:srgbClr val="4F5D75"/>
                </a:solidFill>
                <a:latin typeface="Arial"/>
                <a:ea typeface="Arial"/>
                <a:cs typeface="Arial"/>
              </a:rPr>
              <a:t>Independent approval</a:t>
            </a:r>
          </a:p>
        </p:txBody>
      </p:sp>
      <p:sp>
        <p:nvSpPr>
          <p:cNvPr id="24" name="">
            <a:extLst xmlns:a="http://schemas.openxmlformats.org/drawingml/2006/main">
              <a:ext uri="{FF2B5EF4-FFF2-40B4-BE49-F238E27FC236}">
                <a16:creationId xmlns:a16="http://schemas.microsoft.com/office/drawing/2014/main" id="{FD397D4C-A967-4BDC-9FE3-58C19BFC28CB}"/>
              </a:ext>
            </a:extLst>
          </p:cNvPr>
          <p:cNvSpPr>
            <a:spLocks xmlns:a="http://schemas.openxmlformats.org/drawingml/2006/main" noGrp="1"/>
          </p:cNvSpPr>
          <p:nvPr/>
        </p:nvSpPr>
        <p:spPr>
          <a:xfrm xmlns:a="http://schemas.openxmlformats.org/drawingml/2006/main">
            <a:off x="6115050" y="2714625"/>
            <a:ext cx="451485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DCE7DD"/>
            </a:solidFill>
          </a:ln>
        </p:spPr>
      </p:sp>
      <p:sp>
        <p:nvSpPr>
          <p:cNvPr id="25" name="">
            <a:extLst xmlns:a="http://schemas.openxmlformats.org/drawingml/2006/main">
              <a:ext uri="{FF2B5EF4-FFF2-40B4-BE49-F238E27FC236}">
                <a16:creationId xmlns:a16="http://schemas.microsoft.com/office/drawing/2014/main" id="{965FBBD5-6980-4547-B16D-5FC2F41B0D88}"/>
              </a:ext>
            </a:extLst>
          </p:cNvPr>
          <p:cNvSpPr>
            <a:spLocks xmlns:a="http://schemas.openxmlformats.org/drawingml/2006/main" noGrp="1"/>
          </p:cNvSpPr>
          <p:nvPr/>
        </p:nvSpPr>
        <p:spPr>
          <a:xfrm xmlns:a="http://schemas.openxmlformats.org/drawingml/2006/main">
            <a:off x="6305550" y="2952750"/>
            <a:ext cx="323850" cy="323850"/>
          </a:xfrm>
          <a:prstGeom xmlns:a="http://schemas.openxmlformats.org/drawingml/2006/main" prst="roundRect">
            <a:avLst>
              <a:gd name="adj" fmla="val 23529"/>
            </a:avLst>
          </a:prstGeom>
          <a:solidFill xmlns:a="http://schemas.openxmlformats.org/drawingml/2006/main">
            <a:srgbClr val="FFF1E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E11B6E8-942A-442E-8C7F-D8A0E36B4EA1}"/>
              </a:ext>
            </a:extLst>
          </p:cNvPr>
          <p:cNvSpPr>
            <a:spLocks xmlns:a="http://schemas.openxmlformats.org/drawingml/2006/main" noGrp="1"/>
          </p:cNvSpPr>
          <p:nvPr/>
        </p:nvSpPr>
        <p:spPr>
          <a:xfrm xmlns:a="http://schemas.openxmlformats.org/drawingml/2006/main">
            <a:off x="6305550" y="295275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EF8354"/>
                </a:solidFill>
                <a:latin typeface="Arial"/>
                <a:ea typeface="Arial"/>
                <a:cs typeface="Arial"/>
              </a:defRPr>
            </a:pPr>
            <a:r>
              <a:rPr sz="1050" b="1">
                <a:solidFill>
                  <a:srgbClr val="EF8354"/>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72A12832-D32C-4E4A-9C9C-5F525DDC40EE}"/>
              </a:ext>
            </a:extLst>
          </p:cNvPr>
          <p:cNvSpPr>
            <a:spLocks xmlns:a="http://schemas.openxmlformats.org/drawingml/2006/main" noGrp="1"/>
          </p:cNvSpPr>
          <p:nvPr/>
        </p:nvSpPr>
        <p:spPr>
          <a:xfrm xmlns:a="http://schemas.openxmlformats.org/drawingml/2006/main">
            <a:off x="6800850" y="28575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a:solidFill>
                  <a:srgbClr val="2D3142"/>
                </a:solidFill>
                <a:latin typeface="Arial"/>
                <a:ea typeface="Arial"/>
                <a:cs typeface="Arial"/>
              </a:defRPr>
            </a:pPr>
            <a:r>
              <a:rPr sz="1425" b="1">
                <a:solidFill>
                  <a:srgbClr val="2D3142"/>
                </a:solidFill>
                <a:latin typeface="Arial"/>
                <a:ea typeface="Arial"/>
                <a:cs typeface="Arial"/>
              </a:rPr>
              <a:t>Risk review</a:t>
            </a:r>
          </a:p>
        </p:txBody>
      </p:sp>
      <p:sp>
        <p:nvSpPr>
          <p:cNvPr id="28" name="">
            <a:extLst xmlns:a="http://schemas.openxmlformats.org/drawingml/2006/main">
              <a:ext uri="{FF2B5EF4-FFF2-40B4-BE49-F238E27FC236}">
                <a16:creationId xmlns:a16="http://schemas.microsoft.com/office/drawing/2014/main" id="{1417CD34-A05B-4F1B-8446-D62B560D5652}"/>
              </a:ext>
            </a:extLst>
          </p:cNvPr>
          <p:cNvSpPr>
            <a:spLocks xmlns:a="http://schemas.openxmlformats.org/drawingml/2006/main" noGrp="1"/>
          </p:cNvSpPr>
          <p:nvPr/>
        </p:nvSpPr>
        <p:spPr>
          <a:xfrm xmlns:a="http://schemas.openxmlformats.org/drawingml/2006/main">
            <a:off x="6800850" y="3162300"/>
            <a:ext cx="333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762"/>
          </a:bodyPr>
          <a:lstStyle xmlns:a="http://schemas.openxmlformats.org/drawingml/2006/main"/>
          <a:p xmlns:a="http://schemas.openxmlformats.org/drawingml/2006/main">
            <a:pPr algn="l">
              <a:defRPr sz="1050" b="0">
                <a:solidFill>
                  <a:srgbClr val="4F5D75"/>
                </a:solidFill>
                <a:latin typeface="Arial"/>
                <a:ea typeface="Arial"/>
                <a:cs typeface="Arial"/>
              </a:defRPr>
            </a:pPr>
            <a:r>
              <a:rPr sz="1050" b="0">
                <a:solidFill>
                  <a:srgbClr val="4F5D75"/>
                </a:solidFill>
                <a:latin typeface="Arial"/>
                <a:ea typeface="Arial"/>
                <a:cs typeface="Arial"/>
              </a:rPr>
              <a:t>Exception flags</a:t>
            </a:r>
          </a:p>
        </p:txBody>
      </p:sp>
      <p:sp>
        <p:nvSpPr>
          <p:cNvPr id="29" name="">
            <a:extLst xmlns:a="http://schemas.openxmlformats.org/drawingml/2006/main">
              <a:ext uri="{FF2B5EF4-FFF2-40B4-BE49-F238E27FC236}">
                <a16:creationId xmlns:a16="http://schemas.microsoft.com/office/drawing/2014/main" id="{37B9EE4F-1302-4CFB-97D3-9CCE6270A941}"/>
              </a:ext>
            </a:extLst>
          </p:cNvPr>
          <p:cNvSpPr>
            <a:spLocks xmlns:a="http://schemas.openxmlformats.org/drawingml/2006/main" noGrp="1"/>
          </p:cNvSpPr>
          <p:nvPr/>
        </p:nvSpPr>
        <p:spPr>
          <a:xfrm xmlns:a="http://schemas.openxmlformats.org/drawingml/2006/main">
            <a:off x="1200150" y="3781425"/>
            <a:ext cx="451485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DCE7DD"/>
            </a:solidFill>
          </a:ln>
        </p:spPr>
      </p:sp>
      <p:sp>
        <p:nvSpPr>
          <p:cNvPr id="30" name="">
            <a:extLst xmlns:a="http://schemas.openxmlformats.org/drawingml/2006/main">
              <a:ext uri="{FF2B5EF4-FFF2-40B4-BE49-F238E27FC236}">
                <a16:creationId xmlns:a16="http://schemas.microsoft.com/office/drawing/2014/main" id="{FCCFF057-9360-4BFE-9AB8-95B434DA8762}"/>
              </a:ext>
            </a:extLst>
          </p:cNvPr>
          <p:cNvSpPr>
            <a:spLocks xmlns:a="http://schemas.openxmlformats.org/drawingml/2006/main" noGrp="1"/>
          </p:cNvSpPr>
          <p:nvPr/>
        </p:nvSpPr>
        <p:spPr>
          <a:xfrm xmlns:a="http://schemas.openxmlformats.org/drawingml/2006/main">
            <a:off x="1390650" y="4019550"/>
            <a:ext cx="323850" cy="323850"/>
          </a:xfrm>
          <a:prstGeom xmlns:a="http://schemas.openxmlformats.org/drawingml/2006/main" prst="roundRect">
            <a:avLst>
              <a:gd name="adj" fmla="val 23529"/>
            </a:avLst>
          </a:prstGeom>
          <a:solidFill xmlns:a="http://schemas.openxmlformats.org/drawingml/2006/main">
            <a:srgbClr val="FFF1E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91E65571-6C51-40A7-BCFB-1DBAB56BA933}"/>
              </a:ext>
            </a:extLst>
          </p:cNvPr>
          <p:cNvSpPr>
            <a:spLocks xmlns:a="http://schemas.openxmlformats.org/drawingml/2006/main" noGrp="1"/>
          </p:cNvSpPr>
          <p:nvPr/>
        </p:nvSpPr>
        <p:spPr>
          <a:xfrm xmlns:a="http://schemas.openxmlformats.org/drawingml/2006/main">
            <a:off x="1390650" y="401955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EF8354"/>
                </a:solidFill>
                <a:latin typeface="Arial"/>
                <a:ea typeface="Arial"/>
                <a:cs typeface="Arial"/>
              </a:defRPr>
            </a:pPr>
            <a:r>
              <a:rPr sz="1050" b="1">
                <a:solidFill>
                  <a:srgbClr val="EF8354"/>
                </a:solidFill>
                <a:latin typeface="Arial"/>
                <a:ea typeface="Arial"/>
                <a:cs typeface="Arial"/>
              </a:rPr>
              <a:t>5</a:t>
            </a:r>
          </a:p>
        </p:txBody>
      </p:sp>
      <p:sp>
        <p:nvSpPr>
          <p:cNvPr id="32" name="">
            <a:extLst xmlns:a="http://schemas.openxmlformats.org/drawingml/2006/main">
              <a:ext uri="{FF2B5EF4-FFF2-40B4-BE49-F238E27FC236}">
                <a16:creationId xmlns:a16="http://schemas.microsoft.com/office/drawing/2014/main" id="{9FFB631B-F234-4A03-AB06-537B00C7582A}"/>
              </a:ext>
            </a:extLst>
          </p:cNvPr>
          <p:cNvSpPr>
            <a:spLocks xmlns:a="http://schemas.openxmlformats.org/drawingml/2006/main" noGrp="1"/>
          </p:cNvSpPr>
          <p:nvPr/>
        </p:nvSpPr>
        <p:spPr>
          <a:xfrm xmlns:a="http://schemas.openxmlformats.org/drawingml/2006/main">
            <a:off x="1885950" y="39243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a:solidFill>
                  <a:srgbClr val="2D3142"/>
                </a:solidFill>
                <a:latin typeface="Arial"/>
                <a:ea typeface="Arial"/>
                <a:cs typeface="Arial"/>
              </a:defRPr>
            </a:pPr>
            <a:r>
              <a:rPr sz="1425" b="1">
                <a:solidFill>
                  <a:srgbClr val="2D3142"/>
                </a:solidFill>
                <a:latin typeface="Arial"/>
                <a:ea typeface="Arial"/>
                <a:cs typeface="Arial"/>
              </a:rPr>
              <a:t>Wallet control</a:t>
            </a:r>
          </a:p>
        </p:txBody>
      </p:sp>
      <p:sp>
        <p:nvSpPr>
          <p:cNvPr id="33" name="">
            <a:extLst xmlns:a="http://schemas.openxmlformats.org/drawingml/2006/main">
              <a:ext uri="{FF2B5EF4-FFF2-40B4-BE49-F238E27FC236}">
                <a16:creationId xmlns:a16="http://schemas.microsoft.com/office/drawing/2014/main" id="{62BDF3E9-7F8B-45AD-BCB8-70B4559C0F80}"/>
              </a:ext>
            </a:extLst>
          </p:cNvPr>
          <p:cNvSpPr>
            <a:spLocks xmlns:a="http://schemas.openxmlformats.org/drawingml/2006/main" noGrp="1"/>
          </p:cNvSpPr>
          <p:nvPr/>
        </p:nvSpPr>
        <p:spPr>
          <a:xfrm xmlns:a="http://schemas.openxmlformats.org/drawingml/2006/main">
            <a:off x="1885950" y="4229100"/>
            <a:ext cx="333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762"/>
          </a:bodyPr>
          <a:lstStyle xmlns:a="http://schemas.openxmlformats.org/drawingml/2006/main"/>
          <a:p xmlns:a="http://schemas.openxmlformats.org/drawingml/2006/main">
            <a:pPr algn="l">
              <a:defRPr sz="1050" b="0">
                <a:solidFill>
                  <a:srgbClr val="4F5D75"/>
                </a:solidFill>
                <a:latin typeface="Arial"/>
                <a:ea typeface="Arial"/>
                <a:cs typeface="Arial"/>
              </a:defRPr>
            </a:pPr>
            <a:r>
              <a:rPr sz="1050" b="0">
                <a:solidFill>
                  <a:srgbClr val="4F5D75"/>
                </a:solidFill>
                <a:latin typeface="Arial"/>
                <a:ea typeface="Arial"/>
                <a:cs typeface="Arial"/>
              </a:rPr>
              <a:t>Balance and execution</a:t>
            </a:r>
          </a:p>
        </p:txBody>
      </p:sp>
      <p:sp>
        <p:nvSpPr>
          <p:cNvPr id="34" name="">
            <a:extLst xmlns:a="http://schemas.openxmlformats.org/drawingml/2006/main">
              <a:ext uri="{FF2B5EF4-FFF2-40B4-BE49-F238E27FC236}">
                <a16:creationId xmlns:a16="http://schemas.microsoft.com/office/drawing/2014/main" id="{96254FCC-64AE-45DF-BFE6-C920C979B749}"/>
              </a:ext>
            </a:extLst>
          </p:cNvPr>
          <p:cNvSpPr>
            <a:spLocks xmlns:a="http://schemas.openxmlformats.org/drawingml/2006/main" noGrp="1"/>
          </p:cNvSpPr>
          <p:nvPr/>
        </p:nvSpPr>
        <p:spPr>
          <a:xfrm xmlns:a="http://schemas.openxmlformats.org/drawingml/2006/main">
            <a:off x="6115050" y="3781425"/>
            <a:ext cx="4514850" cy="819150"/>
          </a:xfrm>
          <a:prstGeom xmlns:a="http://schemas.openxmlformats.org/drawingml/2006/main" prst="roundRect">
            <a:avLst>
              <a:gd name="adj" fmla="val 9302"/>
            </a:avLst>
          </a:prstGeom>
          <a:solidFill xmlns:a="http://schemas.openxmlformats.org/drawingml/2006/main">
            <a:srgbClr val="FFFFFF"/>
          </a:solidFill>
          <a:ln xmlns:a="http://schemas.openxmlformats.org/drawingml/2006/main" w="9525">
            <a:solidFill>
              <a:srgbClr val="DCE7DD"/>
            </a:solidFill>
          </a:ln>
        </p:spPr>
      </p:sp>
      <p:sp>
        <p:nvSpPr>
          <p:cNvPr id="35" name="">
            <a:extLst xmlns:a="http://schemas.openxmlformats.org/drawingml/2006/main">
              <a:ext uri="{FF2B5EF4-FFF2-40B4-BE49-F238E27FC236}">
                <a16:creationId xmlns:a16="http://schemas.microsoft.com/office/drawing/2014/main" id="{F8E36D5A-1E16-4E49-9151-AC7E48BECFDB}"/>
              </a:ext>
            </a:extLst>
          </p:cNvPr>
          <p:cNvSpPr>
            <a:spLocks xmlns:a="http://schemas.openxmlformats.org/drawingml/2006/main" noGrp="1"/>
          </p:cNvSpPr>
          <p:nvPr/>
        </p:nvSpPr>
        <p:spPr>
          <a:xfrm xmlns:a="http://schemas.openxmlformats.org/drawingml/2006/main">
            <a:off x="6305550" y="4019550"/>
            <a:ext cx="323850" cy="323850"/>
          </a:xfrm>
          <a:prstGeom xmlns:a="http://schemas.openxmlformats.org/drawingml/2006/main" prst="roundRect">
            <a:avLst>
              <a:gd name="adj" fmla="val 23529"/>
            </a:avLst>
          </a:prstGeom>
          <a:solidFill xmlns:a="http://schemas.openxmlformats.org/drawingml/2006/main">
            <a:srgbClr val="FFF1EB"/>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FFAA7D5E-AECC-4894-86F0-45524D6E3042}"/>
              </a:ext>
            </a:extLst>
          </p:cNvPr>
          <p:cNvSpPr>
            <a:spLocks xmlns:a="http://schemas.openxmlformats.org/drawingml/2006/main" noGrp="1"/>
          </p:cNvSpPr>
          <p:nvPr/>
        </p:nvSpPr>
        <p:spPr>
          <a:xfrm xmlns:a="http://schemas.openxmlformats.org/drawingml/2006/main">
            <a:off x="6305550" y="401955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EF8354"/>
                </a:solidFill>
                <a:latin typeface="Arial"/>
                <a:ea typeface="Arial"/>
                <a:cs typeface="Arial"/>
              </a:defRPr>
            </a:pPr>
            <a:r>
              <a:rPr sz="1050" b="1">
                <a:solidFill>
                  <a:srgbClr val="EF8354"/>
                </a:solidFill>
                <a:latin typeface="Arial"/>
                <a:ea typeface="Arial"/>
                <a:cs typeface="Arial"/>
              </a:rPr>
              <a:t>6</a:t>
            </a:r>
          </a:p>
        </p:txBody>
      </p:sp>
      <p:sp>
        <p:nvSpPr>
          <p:cNvPr id="37" name="">
            <a:extLst xmlns:a="http://schemas.openxmlformats.org/drawingml/2006/main">
              <a:ext uri="{FF2B5EF4-FFF2-40B4-BE49-F238E27FC236}">
                <a16:creationId xmlns:a16="http://schemas.microsoft.com/office/drawing/2014/main" id="{99BFF91D-84A9-4AFC-88AB-73F0EBD512D5}"/>
              </a:ext>
            </a:extLst>
          </p:cNvPr>
          <p:cNvSpPr>
            <a:spLocks xmlns:a="http://schemas.openxmlformats.org/drawingml/2006/main" noGrp="1"/>
          </p:cNvSpPr>
          <p:nvPr/>
        </p:nvSpPr>
        <p:spPr>
          <a:xfrm xmlns:a="http://schemas.openxmlformats.org/drawingml/2006/main">
            <a:off x="6800850" y="39243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a:solidFill>
                  <a:srgbClr val="2D3142"/>
                </a:solidFill>
                <a:latin typeface="Arial"/>
                <a:ea typeface="Arial"/>
                <a:cs typeface="Arial"/>
              </a:defRPr>
            </a:pPr>
            <a:r>
              <a:rPr sz="1425" b="1">
                <a:solidFill>
                  <a:srgbClr val="2D3142"/>
                </a:solidFill>
                <a:latin typeface="Arial"/>
                <a:ea typeface="Arial"/>
                <a:cs typeface="Arial"/>
              </a:rPr>
              <a:t>Forecasting</a:t>
            </a:r>
          </a:p>
        </p:txBody>
      </p:sp>
      <p:sp>
        <p:nvSpPr>
          <p:cNvPr id="38" name="">
            <a:extLst xmlns:a="http://schemas.openxmlformats.org/drawingml/2006/main">
              <a:ext uri="{FF2B5EF4-FFF2-40B4-BE49-F238E27FC236}">
                <a16:creationId xmlns:a16="http://schemas.microsoft.com/office/drawing/2014/main" id="{9F8FDB65-D508-4A05-B922-DB892A52036C}"/>
              </a:ext>
            </a:extLst>
          </p:cNvPr>
          <p:cNvSpPr>
            <a:spLocks xmlns:a="http://schemas.openxmlformats.org/drawingml/2006/main" noGrp="1"/>
          </p:cNvSpPr>
          <p:nvPr/>
        </p:nvSpPr>
        <p:spPr>
          <a:xfrm xmlns:a="http://schemas.openxmlformats.org/drawingml/2006/main">
            <a:off x="6800850" y="4229100"/>
            <a:ext cx="333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762"/>
          </a:bodyPr>
          <a:lstStyle xmlns:a="http://schemas.openxmlformats.org/drawingml/2006/main"/>
          <a:p xmlns:a="http://schemas.openxmlformats.org/drawingml/2006/main">
            <a:pPr algn="l">
              <a:defRPr sz="1050" b="0">
                <a:solidFill>
                  <a:srgbClr val="4F5D75"/>
                </a:solidFill>
                <a:latin typeface="Arial"/>
                <a:ea typeface="Arial"/>
                <a:cs typeface="Arial"/>
              </a:defRPr>
            </a:pPr>
            <a:r>
              <a:rPr sz="1050" b="0">
                <a:solidFill>
                  <a:srgbClr val="4F5D75"/>
                </a:solidFill>
                <a:latin typeface="Arial"/>
                <a:ea typeface="Arial"/>
                <a:cs typeface="Arial"/>
              </a:rPr>
              <a:t>Funding estimates</a:t>
            </a:r>
          </a:p>
        </p:txBody>
      </p:sp>
      <p:sp>
        <p:nvSpPr>
          <p:cNvPr id="39" name="">
            <a:extLst xmlns:a="http://schemas.openxmlformats.org/drawingml/2006/main">
              <a:ext uri="{FF2B5EF4-FFF2-40B4-BE49-F238E27FC236}">
                <a16:creationId xmlns:a16="http://schemas.microsoft.com/office/drawing/2014/main" id="{77F1A300-A925-4342-8626-A2A57878759F}"/>
              </a:ext>
            </a:extLst>
          </p:cNvPr>
          <p:cNvSpPr>
            <a:spLocks xmlns:a="http://schemas.openxmlformats.org/drawingml/2006/main" noGrp="1"/>
          </p:cNvSpPr>
          <p:nvPr/>
        </p:nvSpPr>
        <p:spPr>
          <a:xfrm xmlns:a="http://schemas.openxmlformats.org/drawingml/2006/main">
            <a:off x="1200150" y="4848225"/>
            <a:ext cx="4514850" cy="819150"/>
          </a:xfrm>
          <a:prstGeom xmlns:a="http://schemas.openxmlformats.org/drawingml/2006/main" prst="roundRect">
            <a:avLst>
              <a:gd name="adj" fmla="val 9302"/>
            </a:avLst>
          </a:prstGeom>
          <a:solidFill xmlns:a="http://schemas.openxmlformats.org/drawingml/2006/main">
            <a:srgbClr val="2D3142"/>
          </a:solidFill>
          <a:ln xmlns:a="http://schemas.openxmlformats.org/drawingml/2006/main" w="9525">
            <a:solidFill>
              <a:srgbClr val="2D3142"/>
            </a:solidFill>
          </a:ln>
        </p:spPr>
      </p:sp>
      <p:sp>
        <p:nvSpPr>
          <p:cNvPr id="40" name="">
            <a:extLst xmlns:a="http://schemas.openxmlformats.org/drawingml/2006/main">
              <a:ext uri="{FF2B5EF4-FFF2-40B4-BE49-F238E27FC236}">
                <a16:creationId xmlns:a16="http://schemas.microsoft.com/office/drawing/2014/main" id="{CEAB16E6-BD57-4FF4-9373-362DD37B7E3C}"/>
              </a:ext>
            </a:extLst>
          </p:cNvPr>
          <p:cNvSpPr>
            <a:spLocks xmlns:a="http://schemas.openxmlformats.org/drawingml/2006/main" noGrp="1"/>
          </p:cNvSpPr>
          <p:nvPr/>
        </p:nvSpPr>
        <p:spPr>
          <a:xfrm xmlns:a="http://schemas.openxmlformats.org/drawingml/2006/main">
            <a:off x="1390650" y="5086350"/>
            <a:ext cx="323850" cy="323850"/>
          </a:xfrm>
          <a:prstGeom xmlns:a="http://schemas.openxmlformats.org/drawingml/2006/main" prst="roundRect">
            <a:avLst>
              <a:gd name="adj" fmla="val 23529"/>
            </a:avLst>
          </a:prstGeom>
          <a:solidFill xmlns:a="http://schemas.openxmlformats.org/drawingml/2006/main">
            <a:srgbClr val="EF8354"/>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50922613-B429-4162-BB37-56FFC42CF7A2}"/>
              </a:ext>
            </a:extLst>
          </p:cNvPr>
          <p:cNvSpPr>
            <a:spLocks xmlns:a="http://schemas.openxmlformats.org/drawingml/2006/main" noGrp="1"/>
          </p:cNvSpPr>
          <p:nvPr/>
        </p:nvSpPr>
        <p:spPr>
          <a:xfrm xmlns:a="http://schemas.openxmlformats.org/drawingml/2006/main">
            <a:off x="1390650" y="508635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7</a:t>
            </a:r>
          </a:p>
        </p:txBody>
      </p:sp>
      <p:sp>
        <p:nvSpPr>
          <p:cNvPr id="42" name="">
            <a:extLst xmlns:a="http://schemas.openxmlformats.org/drawingml/2006/main">
              <a:ext uri="{FF2B5EF4-FFF2-40B4-BE49-F238E27FC236}">
                <a16:creationId xmlns:a16="http://schemas.microsoft.com/office/drawing/2014/main" id="{4CE23389-8B8B-4EB1-A5BE-B85BC4193350}"/>
              </a:ext>
            </a:extLst>
          </p:cNvPr>
          <p:cNvSpPr>
            <a:spLocks xmlns:a="http://schemas.openxmlformats.org/drawingml/2006/main" noGrp="1"/>
          </p:cNvSpPr>
          <p:nvPr/>
        </p:nvSpPr>
        <p:spPr>
          <a:xfrm xmlns:a="http://schemas.openxmlformats.org/drawingml/2006/main">
            <a:off x="1885950" y="49911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Audit trail</a:t>
            </a:r>
          </a:p>
        </p:txBody>
      </p:sp>
      <p:sp>
        <p:nvSpPr>
          <p:cNvPr id="43" name="">
            <a:extLst xmlns:a="http://schemas.openxmlformats.org/drawingml/2006/main">
              <a:ext uri="{FF2B5EF4-FFF2-40B4-BE49-F238E27FC236}">
                <a16:creationId xmlns:a16="http://schemas.microsoft.com/office/drawing/2014/main" id="{73A5BD4D-4645-43B4-8622-2867E69535D1}"/>
              </a:ext>
            </a:extLst>
          </p:cNvPr>
          <p:cNvSpPr>
            <a:spLocks xmlns:a="http://schemas.openxmlformats.org/drawingml/2006/main" noGrp="1"/>
          </p:cNvSpPr>
          <p:nvPr/>
        </p:nvSpPr>
        <p:spPr>
          <a:xfrm xmlns:a="http://schemas.openxmlformats.org/drawingml/2006/main">
            <a:off x="1885950" y="5295900"/>
            <a:ext cx="3333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762"/>
          </a:bodyPr>
          <a:lstStyle xmlns:a="http://schemas.openxmlformats.org/drawingml/2006/main"/>
          <a:p xmlns:a="http://schemas.openxmlformats.org/drawingml/2006/main">
            <a:pPr algn="l">
              <a:defRPr sz="1050" b="0">
                <a:solidFill>
                  <a:srgbClr val="BFC0C0"/>
                </a:solidFill>
                <a:latin typeface="Arial"/>
                <a:ea typeface="Arial"/>
                <a:cs typeface="Arial"/>
              </a:defRPr>
            </a:pPr>
            <a:r>
              <a:rPr sz="1050" b="0">
                <a:solidFill>
                  <a:srgbClr val="BFC0C0"/>
                </a:solidFill>
                <a:latin typeface="Arial"/>
                <a:ea typeface="Arial"/>
                <a:cs typeface="Arial"/>
              </a:rPr>
              <a:t>Recorded actions</a:t>
            </a:r>
          </a:p>
        </p:txBody>
      </p:sp>
    </p:spTree>
    <p:extLst>
      <p:ext uri="{BB962C8B-B14F-4D97-AF65-F5344CB8AC3E}">
        <p14:creationId xmlns:p14="http://schemas.microsoft.com/office/powerpoint/2010/main" val="862166206"/>
      </p:ext>
    </p:extLst>
  </p:cSld>
</p:sld>
</file>

<file path=ppt/slides/slide7.xml><?xml version="1.0" encoding="utf-8"?>
<p:sld xmlns:p="http://schemas.openxmlformats.org/presentationml/2006/main">
  <p:cSld>
    <p:bg>
      <p:bgPr>
        <a:solidFill xmlns:a="http://schemas.openxmlformats.org/drawingml/2006/main">
          <a:srgbClr val="2D314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081E8F3-FFDA-41D1-9CBF-BDA04E7255FF}"/>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EF835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AE694C4-8DD6-49AC-87FB-98829E9217F5}"/>
              </a:ext>
            </a:extLst>
          </p:cNvPr>
          <p:cNvSpPr>
            <a:spLocks xmlns:a="http://schemas.openxmlformats.org/drawingml/2006/main" noGrp="1"/>
          </p:cNvSpPr>
          <p:nvPr/>
        </p:nvSpPr>
        <p:spPr>
          <a:xfrm xmlns:a="http://schemas.openxmlformats.org/drawingml/2006/main">
            <a:off x="762000" y="552450"/>
            <a:ext cx="419100" cy="419100"/>
          </a:xfrm>
          <a:prstGeom xmlns:a="http://schemas.openxmlformats.org/drawingml/2006/main" prst="roundRect">
            <a:avLst>
              <a:gd name="adj" fmla="val 18182"/>
            </a:avLst>
          </a:prstGeom>
          <a:solidFill xmlns:a="http://schemas.openxmlformats.org/drawingml/2006/main">
            <a:srgbClr val="EF835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567D45C-492B-410B-82E1-FF99C6F8F2F7}"/>
              </a:ext>
            </a:extLst>
          </p:cNvPr>
          <p:cNvSpPr>
            <a:spLocks xmlns:a="http://schemas.openxmlformats.org/drawingml/2006/main" noGrp="1"/>
          </p:cNvSpPr>
          <p:nvPr/>
        </p:nvSpPr>
        <p:spPr>
          <a:xfrm xmlns:a="http://schemas.openxmlformats.org/drawingml/2006/main">
            <a:off x="762000" y="542925"/>
            <a:ext cx="41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FFFFFF"/>
                </a:solidFill>
                <a:latin typeface="Arial"/>
                <a:ea typeface="Arial"/>
                <a:cs typeface="Arial"/>
              </a:defRPr>
            </a:pPr>
            <a:r>
              <a:rPr sz="1800" b="1">
                <a:solidFill>
                  <a:srgbClr val="FFFFFF"/>
                </a:solidFill>
                <a:latin typeface="Arial"/>
                <a:ea typeface="Arial"/>
                <a:cs typeface="Arial"/>
              </a:rPr>
              <a:t>u</a:t>
            </a:r>
          </a:p>
        </p:txBody>
      </p:sp>
      <p:sp>
        <p:nvSpPr>
          <p:cNvPr id="4" name="">
            <a:extLst xmlns:a="http://schemas.openxmlformats.org/drawingml/2006/main">
              <a:ext uri="{FF2B5EF4-FFF2-40B4-BE49-F238E27FC236}">
                <a16:creationId xmlns:a16="http://schemas.microsoft.com/office/drawing/2014/main" id="{C5336A9F-5544-4AF5-9B01-17019AC6C26D}"/>
              </a:ext>
            </a:extLst>
          </p:cNvPr>
          <p:cNvSpPr>
            <a:spLocks xmlns:a="http://schemas.openxmlformats.org/drawingml/2006/main" noGrp="1"/>
          </p:cNvSpPr>
          <p:nvPr/>
        </p:nvSpPr>
        <p:spPr>
          <a:xfrm xmlns:a="http://schemas.openxmlformats.org/drawingml/2006/main">
            <a:off x="762000" y="1504950"/>
            <a:ext cx="657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Expected value</a:t>
            </a:r>
          </a:p>
        </p:txBody>
      </p:sp>
      <p:sp>
        <p:nvSpPr>
          <p:cNvPr id="5" name="">
            <a:extLst xmlns:a="http://schemas.openxmlformats.org/drawingml/2006/main">
              <a:ext uri="{FF2B5EF4-FFF2-40B4-BE49-F238E27FC236}">
                <a16:creationId xmlns:a16="http://schemas.microsoft.com/office/drawing/2014/main" id="{0D3154E5-FE0D-4EC3-83C0-EDB9E2CE2E99}"/>
              </a:ext>
            </a:extLst>
          </p:cNvPr>
          <p:cNvSpPr>
            <a:spLocks xmlns:a="http://schemas.openxmlformats.org/drawingml/2006/main" noGrp="1"/>
          </p:cNvSpPr>
          <p:nvPr/>
        </p:nvSpPr>
        <p:spPr>
          <a:xfrm xmlns:a="http://schemas.openxmlformats.org/drawingml/2006/main">
            <a:off x="781050" y="257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EF8354"/>
                </a:solidFill>
                <a:latin typeface="Arial"/>
                <a:ea typeface="Arial"/>
                <a:cs typeface="Arial"/>
              </a:defRPr>
            </a:pPr>
            <a:r>
              <a:rPr sz="1050" b="1">
                <a:solidFill>
                  <a:srgbClr val="EF8354"/>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7E1D52C6-E5BE-4078-BBDE-62AC7834DC37}"/>
              </a:ext>
            </a:extLst>
          </p:cNvPr>
          <p:cNvSpPr>
            <a:spLocks xmlns:a="http://schemas.openxmlformats.org/drawingml/2006/main" noGrp="1"/>
          </p:cNvSpPr>
          <p:nvPr/>
        </p:nvSpPr>
        <p:spPr>
          <a:xfrm xmlns:a="http://schemas.openxmlformats.org/drawingml/2006/main">
            <a:off x="1371600" y="25241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Fewer payroll errors</a:t>
            </a:r>
          </a:p>
        </p:txBody>
      </p:sp>
      <p:sp>
        <p:nvSpPr>
          <p:cNvPr id="7" name="">
            <a:extLst xmlns:a="http://schemas.openxmlformats.org/drawingml/2006/main">
              <a:ext uri="{FF2B5EF4-FFF2-40B4-BE49-F238E27FC236}">
                <a16:creationId xmlns:a16="http://schemas.microsoft.com/office/drawing/2014/main" id="{7BB53A84-27DF-42F9-871B-FE17C0AAEB37}"/>
              </a:ext>
            </a:extLst>
          </p:cNvPr>
          <p:cNvSpPr>
            <a:spLocks xmlns:a="http://schemas.openxmlformats.org/drawingml/2006/main" noGrp="1"/>
          </p:cNvSpPr>
          <p:nvPr/>
        </p:nvSpPr>
        <p:spPr>
          <a:xfrm xmlns:a="http://schemas.openxmlformats.org/drawingml/2006/main">
            <a:off x="1371600" y="3038475"/>
            <a:ext cx="2857500" cy="9525"/>
          </a:xfrm>
          <a:prstGeom xmlns:a="http://schemas.openxmlformats.org/drawingml/2006/main" prst="rect">
            <a:avLst/>
          </a:prstGeom>
          <a:solidFill xmlns:a="http://schemas.openxmlformats.org/drawingml/2006/main">
            <a:srgbClr val="4F5D7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EC7E34D-266E-438C-8888-EF3A25C40B81}"/>
              </a:ext>
            </a:extLst>
          </p:cNvPr>
          <p:cNvSpPr>
            <a:spLocks xmlns:a="http://schemas.openxmlformats.org/drawingml/2006/main" noGrp="1"/>
          </p:cNvSpPr>
          <p:nvPr/>
        </p:nvSpPr>
        <p:spPr>
          <a:xfrm xmlns:a="http://schemas.openxmlformats.org/drawingml/2006/main">
            <a:off x="4876800" y="25717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EF8354"/>
                </a:solidFill>
                <a:latin typeface="Arial"/>
                <a:ea typeface="Arial"/>
                <a:cs typeface="Arial"/>
              </a:defRPr>
            </a:pPr>
            <a:r>
              <a:rPr sz="1050" b="1">
                <a:solidFill>
                  <a:srgbClr val="EF8354"/>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18B91424-3858-4719-9E72-9F52D558F701}"/>
              </a:ext>
            </a:extLst>
          </p:cNvPr>
          <p:cNvSpPr>
            <a:spLocks xmlns:a="http://schemas.openxmlformats.org/drawingml/2006/main" noGrp="1"/>
          </p:cNvSpPr>
          <p:nvPr/>
        </p:nvSpPr>
        <p:spPr>
          <a:xfrm xmlns:a="http://schemas.openxmlformats.org/drawingml/2006/main">
            <a:off x="5467350" y="25241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Stronger payment control</a:t>
            </a:r>
          </a:p>
        </p:txBody>
      </p:sp>
      <p:sp>
        <p:nvSpPr>
          <p:cNvPr id="10" name="">
            <a:extLst xmlns:a="http://schemas.openxmlformats.org/drawingml/2006/main">
              <a:ext uri="{FF2B5EF4-FFF2-40B4-BE49-F238E27FC236}">
                <a16:creationId xmlns:a16="http://schemas.microsoft.com/office/drawing/2014/main" id="{778225DC-0460-4707-A662-AEAE222F2878}"/>
              </a:ext>
            </a:extLst>
          </p:cNvPr>
          <p:cNvSpPr>
            <a:spLocks xmlns:a="http://schemas.openxmlformats.org/drawingml/2006/main" noGrp="1"/>
          </p:cNvSpPr>
          <p:nvPr/>
        </p:nvSpPr>
        <p:spPr>
          <a:xfrm xmlns:a="http://schemas.openxmlformats.org/drawingml/2006/main">
            <a:off x="5467350" y="3038475"/>
            <a:ext cx="2857500" cy="9525"/>
          </a:xfrm>
          <a:prstGeom xmlns:a="http://schemas.openxmlformats.org/drawingml/2006/main" prst="rect">
            <a:avLst/>
          </a:prstGeom>
          <a:solidFill xmlns:a="http://schemas.openxmlformats.org/drawingml/2006/main">
            <a:srgbClr val="4F5D7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9B5D962-7E6E-4AF5-BC97-349247A741C5}"/>
              </a:ext>
            </a:extLst>
          </p:cNvPr>
          <p:cNvSpPr>
            <a:spLocks xmlns:a="http://schemas.openxmlformats.org/drawingml/2006/main" noGrp="1"/>
          </p:cNvSpPr>
          <p:nvPr/>
        </p:nvSpPr>
        <p:spPr>
          <a:xfrm xmlns:a="http://schemas.openxmlformats.org/drawingml/2006/main">
            <a:off x="781050" y="3638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EF8354"/>
                </a:solidFill>
                <a:latin typeface="Arial"/>
                <a:ea typeface="Arial"/>
                <a:cs typeface="Arial"/>
              </a:defRPr>
            </a:pPr>
            <a:r>
              <a:rPr sz="1050" b="1">
                <a:solidFill>
                  <a:srgbClr val="EF8354"/>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704906AB-BA33-4826-8AD1-76E8ED576FA3}"/>
              </a:ext>
            </a:extLst>
          </p:cNvPr>
          <p:cNvSpPr>
            <a:spLocks xmlns:a="http://schemas.openxmlformats.org/drawingml/2006/main" noGrp="1"/>
          </p:cNvSpPr>
          <p:nvPr/>
        </p:nvSpPr>
        <p:spPr>
          <a:xfrm xmlns:a="http://schemas.openxmlformats.org/drawingml/2006/main">
            <a:off x="1371600" y="3590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Better funding visibility</a:t>
            </a:r>
          </a:p>
        </p:txBody>
      </p:sp>
      <p:sp>
        <p:nvSpPr>
          <p:cNvPr id="13" name="">
            <a:extLst xmlns:a="http://schemas.openxmlformats.org/drawingml/2006/main">
              <a:ext uri="{FF2B5EF4-FFF2-40B4-BE49-F238E27FC236}">
                <a16:creationId xmlns:a16="http://schemas.microsoft.com/office/drawing/2014/main" id="{31EC6EA2-9EEE-482C-AF73-16E2074C5FF3}"/>
              </a:ext>
            </a:extLst>
          </p:cNvPr>
          <p:cNvSpPr>
            <a:spLocks xmlns:a="http://schemas.openxmlformats.org/drawingml/2006/main" noGrp="1"/>
          </p:cNvSpPr>
          <p:nvPr/>
        </p:nvSpPr>
        <p:spPr>
          <a:xfrm xmlns:a="http://schemas.openxmlformats.org/drawingml/2006/main">
            <a:off x="1371600" y="4105275"/>
            <a:ext cx="2857500" cy="9525"/>
          </a:xfrm>
          <a:prstGeom xmlns:a="http://schemas.openxmlformats.org/drawingml/2006/main" prst="rect">
            <a:avLst/>
          </a:prstGeom>
          <a:solidFill xmlns:a="http://schemas.openxmlformats.org/drawingml/2006/main">
            <a:srgbClr val="4F5D7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AC885F3-4846-45C2-B3F3-C0FB6969A670}"/>
              </a:ext>
            </a:extLst>
          </p:cNvPr>
          <p:cNvSpPr>
            <a:spLocks xmlns:a="http://schemas.openxmlformats.org/drawingml/2006/main" noGrp="1"/>
          </p:cNvSpPr>
          <p:nvPr/>
        </p:nvSpPr>
        <p:spPr>
          <a:xfrm xmlns:a="http://schemas.openxmlformats.org/drawingml/2006/main">
            <a:off x="4876800" y="3638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EF8354"/>
                </a:solidFill>
                <a:latin typeface="Arial"/>
                <a:ea typeface="Arial"/>
                <a:cs typeface="Arial"/>
              </a:defRPr>
            </a:pPr>
            <a:r>
              <a:rPr sz="1050" b="1">
                <a:solidFill>
                  <a:srgbClr val="EF8354"/>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370221E6-A125-40EC-91A4-551B71D15CF6}"/>
              </a:ext>
            </a:extLst>
          </p:cNvPr>
          <p:cNvSpPr>
            <a:spLocks xmlns:a="http://schemas.openxmlformats.org/drawingml/2006/main" noGrp="1"/>
          </p:cNvSpPr>
          <p:nvPr/>
        </p:nvSpPr>
        <p:spPr>
          <a:xfrm xmlns:a="http://schemas.openxmlformats.org/drawingml/2006/main">
            <a:off x="5467350" y="359092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Clear audit records</a:t>
            </a:r>
          </a:p>
        </p:txBody>
      </p:sp>
      <p:sp>
        <p:nvSpPr>
          <p:cNvPr id="16" name="">
            <a:extLst xmlns:a="http://schemas.openxmlformats.org/drawingml/2006/main">
              <a:ext uri="{FF2B5EF4-FFF2-40B4-BE49-F238E27FC236}">
                <a16:creationId xmlns:a16="http://schemas.microsoft.com/office/drawing/2014/main" id="{8FC52ADB-4743-4D2E-8B14-08D0067783EB}"/>
              </a:ext>
            </a:extLst>
          </p:cNvPr>
          <p:cNvSpPr>
            <a:spLocks xmlns:a="http://schemas.openxmlformats.org/drawingml/2006/main" noGrp="1"/>
          </p:cNvSpPr>
          <p:nvPr/>
        </p:nvSpPr>
        <p:spPr>
          <a:xfrm xmlns:a="http://schemas.openxmlformats.org/drawingml/2006/main">
            <a:off x="5467350" y="4105275"/>
            <a:ext cx="2857500" cy="9525"/>
          </a:xfrm>
          <a:prstGeom xmlns:a="http://schemas.openxmlformats.org/drawingml/2006/main" prst="rect">
            <a:avLst/>
          </a:prstGeom>
          <a:solidFill xmlns:a="http://schemas.openxmlformats.org/drawingml/2006/main">
            <a:srgbClr val="4F5D7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90B493F-7138-4714-B321-804549166614}"/>
              </a:ext>
            </a:extLst>
          </p:cNvPr>
          <p:cNvSpPr>
            <a:spLocks xmlns:a="http://schemas.openxmlformats.org/drawingml/2006/main" noGrp="1"/>
          </p:cNvSpPr>
          <p:nvPr/>
        </p:nvSpPr>
        <p:spPr>
          <a:xfrm xmlns:a="http://schemas.openxmlformats.org/drawingml/2006/main">
            <a:off x="762000" y="5219700"/>
            <a:ext cx="10668000" cy="876300"/>
          </a:xfrm>
          <a:prstGeom xmlns:a="http://schemas.openxmlformats.org/drawingml/2006/main" prst="roundRect">
            <a:avLst>
              <a:gd name="adj" fmla="val 8696"/>
            </a:avLst>
          </a:prstGeom>
          <a:solidFill xmlns:a="http://schemas.openxmlformats.org/drawingml/2006/main">
            <a:srgbClr val="EF8354"/>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3511493-8676-48AC-B334-B34FC8351ADF}"/>
              </a:ext>
            </a:extLst>
          </p:cNvPr>
          <p:cNvSpPr>
            <a:spLocks xmlns:a="http://schemas.openxmlformats.org/drawingml/2006/main" noGrp="1"/>
          </p:cNvSpPr>
          <p:nvPr/>
        </p:nvSpPr>
        <p:spPr>
          <a:xfrm xmlns:a="http://schemas.openxmlformats.org/drawingml/2006/main">
            <a:off x="1028700" y="5410200"/>
            <a:ext cx="138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2D3142"/>
                </a:solidFill>
                <a:latin typeface="Arial"/>
                <a:ea typeface="Arial"/>
                <a:cs typeface="Arial"/>
              </a:defRPr>
            </a:pPr>
            <a:r>
              <a:rPr sz="1050" b="1">
                <a:solidFill>
                  <a:srgbClr val="2D3142"/>
                </a:solidFill>
                <a:latin typeface="Arial"/>
                <a:ea typeface="Arial"/>
                <a:cs typeface="Arial"/>
              </a:rPr>
              <a:t>NEXT STEP</a:t>
            </a:r>
          </a:p>
        </p:txBody>
      </p:sp>
      <p:sp>
        <p:nvSpPr>
          <p:cNvPr id="19" name="">
            <a:extLst xmlns:a="http://schemas.openxmlformats.org/drawingml/2006/main">
              <a:ext uri="{FF2B5EF4-FFF2-40B4-BE49-F238E27FC236}">
                <a16:creationId xmlns:a16="http://schemas.microsoft.com/office/drawing/2014/main" id="{6AD2FB4E-F845-4C30-83B1-E62FAB5DF333}"/>
              </a:ext>
            </a:extLst>
          </p:cNvPr>
          <p:cNvSpPr>
            <a:spLocks xmlns:a="http://schemas.openxmlformats.org/drawingml/2006/main" noGrp="1"/>
          </p:cNvSpPr>
          <p:nvPr/>
        </p:nvSpPr>
        <p:spPr>
          <a:xfrm xmlns:a="http://schemas.openxmlformats.org/drawingml/2006/main">
            <a:off x="2524125" y="5314950"/>
            <a:ext cx="809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2D3142"/>
                </a:solidFill>
                <a:latin typeface="Arial"/>
                <a:ea typeface="Arial"/>
                <a:cs typeface="Arial"/>
              </a:defRPr>
            </a:pPr>
            <a:r>
              <a:rPr sz="1950" b="1">
                <a:solidFill>
                  <a:srgbClr val="2D3142"/>
                </a:solidFill>
                <a:latin typeface="Arial"/>
                <a:ea typeface="Arial"/>
                <a:cs typeface="Arial"/>
              </a:rPr>
              <a:t>Approve a pilot with one corporate client</a:t>
            </a:r>
          </a:p>
        </p:txBody>
      </p:sp>
      <p:sp>
        <p:nvSpPr>
          <p:cNvPr id="20" name="">
            <a:extLst xmlns:a="http://schemas.openxmlformats.org/drawingml/2006/main">
              <a:ext uri="{FF2B5EF4-FFF2-40B4-BE49-F238E27FC236}">
                <a16:creationId xmlns:a16="http://schemas.microsoft.com/office/drawing/2014/main" id="{9EBE5CCF-57D1-4938-B0FB-353247DE036D}"/>
              </a:ext>
            </a:extLst>
          </p:cNvPr>
          <p:cNvSpPr>
            <a:spLocks xmlns:a="http://schemas.openxmlformats.org/drawingml/2006/main" noGrp="1"/>
          </p:cNvSpPr>
          <p:nvPr/>
        </p:nvSpPr>
        <p:spPr>
          <a:xfrm xmlns:a="http://schemas.openxmlformats.org/drawingml/2006/main">
            <a:off x="9810750" y="628650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r">
              <a:defRPr sz="975" b="1">
                <a:solidFill>
                  <a:srgbClr val="BFC0C0"/>
                </a:solidFill>
                <a:latin typeface="Arial"/>
                <a:ea typeface="Arial"/>
                <a:cs typeface="Arial"/>
              </a:defRPr>
            </a:pPr>
            <a:r>
              <a:rPr sz="975" b="1">
                <a:solidFill>
                  <a:srgbClr val="BFC0C0"/>
                </a:solidFill>
                <a:latin typeface="Arial"/>
                <a:ea typeface="Arial"/>
                <a:cs typeface="Arial"/>
              </a:rPr>
              <a:t>Thank you</a:t>
            </a:r>
          </a:p>
        </p:txBody>
      </p:sp>
    </p:spTree>
    <p:extLst>
      <p:ext uri="{BB962C8B-B14F-4D97-AF65-F5344CB8AC3E}">
        <p14:creationId xmlns:p14="http://schemas.microsoft.com/office/powerpoint/2010/main" val="8054121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2026-09-10T13:28:41.3630000Z</dcterms:created>
  <dcterms:modified xsi:type="dcterms:W3CDTF">2026-09-10T13:28:41.3630000Z</dcterms:modified>
</coreProperties>
</file>